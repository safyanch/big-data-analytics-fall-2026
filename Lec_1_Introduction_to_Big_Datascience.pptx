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5" r:id="rId2"/>
    <p:sldId id="32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150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344" y="1085189"/>
            <a:ext cx="4377410" cy="715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6905" y="3351784"/>
            <a:ext cx="106235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03" y="3351784"/>
            <a:ext cx="27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6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slide" Target="slide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44" y="1085189"/>
            <a:ext cx="4377410" cy="31547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1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44" y="1085189"/>
            <a:ext cx="3788906" cy="630942"/>
          </a:xfrm>
        </p:spPr>
        <p:txBody>
          <a:bodyPr/>
          <a:lstStyle/>
          <a:p>
            <a:r>
              <a:rPr lang="en-US" dirty="0" smtClean="0"/>
              <a:t>Thank you to Dr. </a:t>
            </a:r>
            <a:r>
              <a:rPr lang="en-US" dirty="0" err="1" smtClean="0"/>
              <a:t>Imadullah</a:t>
            </a:r>
            <a:r>
              <a:rPr lang="en-US" dirty="0" smtClean="0"/>
              <a:t> Khan(LUMS) for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75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235" dirty="0">
                <a:latin typeface="Calibri"/>
                <a:cs typeface="Calibri"/>
              </a:rPr>
              <a:t>B</a:t>
            </a:r>
            <a:r>
              <a:rPr cap="small" spc="235" dirty="0">
                <a:latin typeface="Calibri"/>
                <a:cs typeface="Calibri"/>
              </a:rPr>
              <a:t>ig</a:t>
            </a:r>
            <a:r>
              <a:rPr cap="small" spc="160" dirty="0">
                <a:latin typeface="Calibri"/>
                <a:cs typeface="Calibri"/>
              </a:rPr>
              <a:t> </a:t>
            </a:r>
            <a:r>
              <a:rPr spc="210" dirty="0">
                <a:latin typeface="Calibri"/>
                <a:cs typeface="Calibri"/>
              </a:rPr>
              <a:t>D</a:t>
            </a:r>
            <a:r>
              <a:rPr cap="small" spc="210" dirty="0">
                <a:latin typeface="Calibri"/>
                <a:cs typeface="Calibri"/>
              </a:rPr>
              <a:t>ata</a:t>
            </a:r>
            <a:r>
              <a:rPr cap="small" spc="160" dirty="0">
                <a:latin typeface="Calibri"/>
                <a:cs typeface="Calibri"/>
              </a:rPr>
              <a:t> </a:t>
            </a:r>
            <a:r>
              <a:rPr spc="225" dirty="0">
                <a:latin typeface="Calibri"/>
                <a:cs typeface="Calibri"/>
              </a:rPr>
              <a:t>A</a:t>
            </a:r>
            <a:r>
              <a:rPr cap="small" spc="225" dirty="0">
                <a:latin typeface="Calibri"/>
                <a:cs typeface="Calibri"/>
              </a:rPr>
              <a:t>nalytics</a:t>
            </a:r>
            <a:r>
              <a:rPr cap="small" dirty="0">
                <a:latin typeface="Calibri"/>
                <a:cs typeface="Calibri"/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5579" y="92753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5579" y="116793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579" y="140832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5579" y="16487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579" y="188912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5579" y="212952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5579" y="236992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579" y="261031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305" y="447240"/>
            <a:ext cx="3804920" cy="25241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25550">
              <a:lnSpc>
                <a:spcPct val="100000"/>
              </a:lnSpc>
              <a:spcBef>
                <a:spcPts val="135"/>
              </a:spcBef>
            </a:pPr>
            <a:r>
              <a:rPr sz="1400" spc="235" dirty="0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sz="1400" cap="small" spc="235" dirty="0">
                <a:solidFill>
                  <a:srgbClr val="0000FF"/>
                </a:solidFill>
                <a:latin typeface="Calibri"/>
                <a:cs typeface="Calibri"/>
              </a:rPr>
              <a:t>ig</a:t>
            </a:r>
            <a:r>
              <a:rPr sz="1400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400" cap="small" spc="210" dirty="0">
                <a:solidFill>
                  <a:srgbClr val="0000FF"/>
                </a:solidFill>
                <a:latin typeface="Calibri"/>
                <a:cs typeface="Calibri"/>
              </a:rPr>
              <a:t>ata</a:t>
            </a:r>
            <a:r>
              <a:rPr sz="1400" spc="225" dirty="0">
                <a:solidFill>
                  <a:srgbClr val="0000FF"/>
                </a:solidFill>
                <a:latin typeface="Calibri"/>
                <a:cs typeface="Calibri"/>
              </a:rPr>
              <a:t> A</a:t>
            </a:r>
            <a:r>
              <a:rPr sz="1400" cap="small" spc="225" dirty="0">
                <a:solidFill>
                  <a:srgbClr val="0000FF"/>
                </a:solidFill>
                <a:latin typeface="Calibri"/>
                <a:cs typeface="Calibri"/>
              </a:rPr>
              <a:t>nalytics</a:t>
            </a:r>
            <a:endParaRPr sz="1400" dirty="0">
              <a:latin typeface="Calibri"/>
              <a:cs typeface="Calibri"/>
            </a:endParaRPr>
          </a:p>
          <a:p>
            <a:pPr marL="289560" marR="1753870">
              <a:lnSpc>
                <a:spcPct val="157700"/>
              </a:lnSpc>
              <a:spcBef>
                <a:spcPts val="715"/>
              </a:spcBef>
            </a:pPr>
            <a:r>
              <a:rPr sz="1000" dirty="0">
                <a:latin typeface="Tahoma"/>
                <a:cs typeface="Tahoma"/>
              </a:rPr>
              <a:t>Big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Generation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Growth </a:t>
            </a:r>
            <a:r>
              <a:rPr sz="1000" dirty="0">
                <a:latin typeface="Tahoma"/>
                <a:cs typeface="Tahoma"/>
              </a:rPr>
              <a:t>What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Big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 dirty="0">
              <a:latin typeface="Tahoma"/>
              <a:cs typeface="Tahoma"/>
            </a:endParaRPr>
          </a:p>
          <a:p>
            <a:pPr marL="289560" marR="1332230">
              <a:lnSpc>
                <a:spcPct val="157700"/>
              </a:lnSpc>
            </a:pPr>
            <a:r>
              <a:rPr sz="1000" spc="-45" dirty="0">
                <a:latin typeface="Tahoma"/>
                <a:cs typeface="Tahoma"/>
              </a:rPr>
              <a:t>Importance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 Big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 </a:t>
            </a:r>
            <a:r>
              <a:rPr sz="1000" spc="-40" dirty="0">
                <a:latin typeface="Tahoma"/>
                <a:cs typeface="Tahoma"/>
              </a:rPr>
              <a:t>Industries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benefiting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</a:t>
            </a:r>
            <a:endParaRPr sz="1000" dirty="0">
              <a:latin typeface="Tahoma"/>
              <a:cs typeface="Tahoma"/>
            </a:endParaRPr>
          </a:p>
          <a:p>
            <a:pPr marL="289560" marR="848994">
              <a:lnSpc>
                <a:spcPct val="157700"/>
              </a:lnSpc>
            </a:pPr>
            <a:r>
              <a:rPr sz="1000" spc="-40" dirty="0">
                <a:latin typeface="Tahoma"/>
                <a:cs typeface="Tahoma"/>
              </a:rPr>
              <a:t>Sources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(people,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machines,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organizations) </a:t>
            </a:r>
            <a:r>
              <a:rPr sz="1000" spc="-20" dirty="0">
                <a:latin typeface="Tahoma"/>
                <a:cs typeface="Tahoma"/>
              </a:rPr>
              <a:t>Aspects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Bigness </a:t>
            </a:r>
            <a:r>
              <a:rPr sz="1000" dirty="0">
                <a:latin typeface="Tahoma"/>
                <a:cs typeface="Tahoma"/>
              </a:rPr>
              <a:t>(The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80" dirty="0">
                <a:latin typeface="Calibri"/>
                <a:cs typeface="Calibri"/>
              </a:rPr>
              <a:t>V</a:t>
            </a:r>
            <a:r>
              <a:rPr sz="1000" spc="80" dirty="0">
                <a:latin typeface="Tahoma"/>
                <a:cs typeface="Tahoma"/>
              </a:rPr>
              <a:t>’s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big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data)</a:t>
            </a:r>
            <a:endParaRPr sz="1000" dirty="0">
              <a:latin typeface="Tahoma"/>
              <a:cs typeface="Tahoma"/>
            </a:endParaRPr>
          </a:p>
          <a:p>
            <a:pPr marL="289560" marR="5080">
              <a:lnSpc>
                <a:spcPct val="157700"/>
              </a:lnSpc>
            </a:pPr>
            <a:r>
              <a:rPr sz="1000" spc="-30" dirty="0">
                <a:latin typeface="Tahoma"/>
                <a:cs typeface="Tahoma"/>
              </a:rPr>
              <a:t>Types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(table,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text,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multimedia, </a:t>
            </a:r>
            <a:r>
              <a:rPr sz="1000" spc="-35" dirty="0">
                <a:latin typeface="Tahoma"/>
                <a:cs typeface="Tahoma"/>
              </a:rPr>
              <a:t>stream,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sequence,</a:t>
            </a:r>
            <a:r>
              <a:rPr sz="1000" spc="-20" dirty="0">
                <a:latin typeface="Tahoma"/>
                <a:cs typeface="Tahoma"/>
              </a:rPr>
              <a:t> graphs)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-10" dirty="0">
                <a:latin typeface="Tahoma"/>
                <a:cs typeface="Tahoma"/>
              </a:rPr>
              <a:t> Analytics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Process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(preprocessing,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analytics,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visualization)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40" dirty="0"/>
              <a:t>Generation</a:t>
            </a:r>
            <a:r>
              <a:rPr spc="-15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spc="-10" dirty="0"/>
              <a:t>Growth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869054" cy="1642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exploding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recent </a:t>
            </a:r>
            <a:r>
              <a:rPr sz="1100" spc="-10" dirty="0">
                <a:latin typeface="Tahoma"/>
                <a:cs typeface="Tahoma"/>
              </a:rPr>
              <a:t>years</a:t>
            </a:r>
            <a:endParaRPr sz="1100">
              <a:latin typeface="Tahoma"/>
              <a:cs typeface="Tahoma"/>
            </a:endParaRPr>
          </a:p>
          <a:p>
            <a:pPr marL="12700" marR="114935">
              <a:lnSpc>
                <a:spcPct val="102600"/>
              </a:lnSpc>
              <a:spcBef>
                <a:spcPts val="1095"/>
              </a:spcBef>
            </a:pPr>
            <a:r>
              <a:rPr sz="1100" spc="-30" dirty="0">
                <a:latin typeface="Tahoma"/>
                <a:cs typeface="Tahoma"/>
              </a:rPr>
              <a:t>Organizations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collect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trillions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bytes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their </a:t>
            </a:r>
            <a:r>
              <a:rPr sz="1100" spc="-45" dirty="0">
                <a:latin typeface="Tahoma"/>
                <a:cs typeface="Tahoma"/>
              </a:rPr>
              <a:t>customers,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suppliers,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day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095"/>
              </a:spcBef>
            </a:pPr>
            <a:r>
              <a:rPr sz="1100" spc="-40" dirty="0">
                <a:latin typeface="Tahoma"/>
                <a:cs typeface="Tahoma"/>
              </a:rPr>
              <a:t>Large </a:t>
            </a:r>
            <a:r>
              <a:rPr sz="1100" spc="-20" dirty="0">
                <a:latin typeface="Tahoma"/>
                <a:cs typeface="Tahoma"/>
              </a:rPr>
              <a:t>pools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captured, </a:t>
            </a:r>
            <a:r>
              <a:rPr sz="1100" spc="-40" dirty="0">
                <a:latin typeface="Tahoma"/>
                <a:cs typeface="Tahoma"/>
              </a:rPr>
              <a:t>communicated,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aggregated, </a:t>
            </a:r>
            <a:r>
              <a:rPr sz="1100" spc="-50" dirty="0">
                <a:latin typeface="Tahoma"/>
                <a:cs typeface="Tahoma"/>
              </a:rPr>
              <a:t>stored,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analyzed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businesses,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academia,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governments</a:t>
            </a:r>
            <a:endParaRPr sz="1100">
              <a:latin typeface="Tahoma"/>
              <a:cs typeface="Tahoma"/>
            </a:endParaRPr>
          </a:p>
          <a:p>
            <a:pPr marL="12700" marR="176530">
              <a:lnSpc>
                <a:spcPct val="102600"/>
              </a:lnSpc>
              <a:spcBef>
                <a:spcPts val="1100"/>
              </a:spcBef>
            </a:pPr>
            <a:r>
              <a:rPr sz="1100" spc="-40" dirty="0">
                <a:latin typeface="Tahoma"/>
                <a:cs typeface="Tahoma"/>
              </a:rPr>
              <a:t>Individuals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smartphones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social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30" dirty="0">
                <a:latin typeface="Tahoma"/>
                <a:cs typeface="Tahoma"/>
              </a:rPr>
              <a:t> sites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35" dirty="0">
                <a:latin typeface="Tahoma"/>
                <a:cs typeface="Tahoma"/>
              </a:rPr>
              <a:t>continuously</a:t>
            </a:r>
            <a:r>
              <a:rPr sz="1100" spc="-30" dirty="0">
                <a:latin typeface="Tahoma"/>
                <a:cs typeface="Tahoma"/>
              </a:rPr>
              <a:t> fueling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exponential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growth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multimedia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9140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39741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88075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Generation</a:t>
            </a:r>
            <a:r>
              <a:rPr sz="1400" u="sng" spc="-1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Growth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6494" y="473236"/>
            <a:ext cx="923928" cy="9584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938" y="1752491"/>
            <a:ext cx="1982008" cy="11017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90831" y="1691127"/>
            <a:ext cx="400050" cy="68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" spc="-10" dirty="0">
                <a:solidFill>
                  <a:srgbClr val="FF0000"/>
                </a:solidFill>
                <a:latin typeface="Calibri"/>
                <a:cs typeface="Calibri"/>
              </a:rPr>
              <a:t>expandedramblings.com</a:t>
            </a:r>
            <a:endParaRPr sz="2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6568" y="1694834"/>
            <a:ext cx="1784142" cy="118565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40" dirty="0"/>
              <a:t>Generation</a:t>
            </a:r>
            <a:r>
              <a:rPr spc="-15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spc="-10" dirty="0"/>
              <a:t>Growth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52285" y="8206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2285" y="107495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28485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2285" y="153384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2285" y="178816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285" y="20424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2285" y="229678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2285" y="25510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5905" y="385709"/>
            <a:ext cx="4262755" cy="22675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795"/>
              </a:spcBef>
            </a:pPr>
            <a:r>
              <a:rPr sz="1100" spc="-30" dirty="0">
                <a:latin typeface="Tahoma"/>
                <a:cs typeface="Tahoma"/>
              </a:rPr>
              <a:t>Where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from?</a:t>
            </a:r>
            <a:endParaRPr sz="1100">
              <a:latin typeface="Tahoma"/>
              <a:cs typeface="Tahoma"/>
            </a:endParaRPr>
          </a:p>
          <a:p>
            <a:pPr marL="276860" marR="30480" algn="just">
              <a:lnSpc>
                <a:spcPct val="151700"/>
              </a:lnSpc>
              <a:spcBef>
                <a:spcPts val="10"/>
              </a:spcBef>
            </a:pPr>
            <a:r>
              <a:rPr sz="1100" spc="-45" dirty="0">
                <a:latin typeface="Tahoma"/>
                <a:cs typeface="Tahoma"/>
              </a:rPr>
              <a:t>Internet </a:t>
            </a:r>
            <a:r>
              <a:rPr sz="1100" spc="-65" dirty="0">
                <a:latin typeface="Tahoma"/>
                <a:cs typeface="Tahoma"/>
              </a:rPr>
              <a:t>users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generate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quintillion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bytes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day</a:t>
            </a:r>
            <a:r>
              <a:rPr sz="1200" spc="-52" baseline="27777" dirty="0">
                <a:latin typeface="Arial MT"/>
                <a:cs typeface="Arial MT"/>
              </a:rPr>
              <a:t>1</a:t>
            </a:r>
            <a:r>
              <a:rPr sz="1200" spc="750" baseline="27777" dirty="0">
                <a:latin typeface="Arial MT"/>
                <a:cs typeface="Arial MT"/>
              </a:rPr>
              <a:t>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2018,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internet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spent</a:t>
            </a:r>
            <a:r>
              <a:rPr sz="1100" spc="-25" dirty="0">
                <a:latin typeface="Tahoma"/>
                <a:cs typeface="Tahoma"/>
              </a:rPr>
              <a:t> 2.8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million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years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online</a:t>
            </a:r>
            <a:r>
              <a:rPr sz="1200" spc="-15" baseline="27777" dirty="0">
                <a:latin typeface="Arial MT"/>
                <a:cs typeface="Arial MT"/>
              </a:rPr>
              <a:t>2</a:t>
            </a:r>
            <a:endParaRPr sz="1200" baseline="27777">
              <a:latin typeface="Arial MT"/>
              <a:cs typeface="Arial MT"/>
            </a:endParaRPr>
          </a:p>
          <a:p>
            <a:pPr marL="591820" algn="just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latin typeface="Tahoma"/>
                <a:cs typeface="Tahoma"/>
              </a:rPr>
              <a:t>Social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media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accounts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33%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total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time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spent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online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50" spc="-75" baseline="27777" dirty="0">
                <a:latin typeface="Arial MT"/>
                <a:cs typeface="Arial MT"/>
                <a:hlinkClick r:id="rId2" action="ppaction://hlinksldjump"/>
              </a:rPr>
              <a:t>2</a:t>
            </a:r>
            <a:endParaRPr sz="1050" baseline="27777">
              <a:latin typeface="Arial MT"/>
              <a:cs typeface="Arial MT"/>
            </a:endParaRPr>
          </a:p>
          <a:p>
            <a:pPr marL="276860" marR="469265" algn="just">
              <a:lnSpc>
                <a:spcPct val="151700"/>
              </a:lnSpc>
              <a:spcBef>
                <a:spcPts val="2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2019,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billion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active</a:t>
            </a:r>
            <a:r>
              <a:rPr sz="1100" spc="-30" dirty="0">
                <a:latin typeface="Tahoma"/>
                <a:cs typeface="Tahoma"/>
              </a:rPr>
              <a:t> Facebook </a:t>
            </a:r>
            <a:r>
              <a:rPr sz="1100" spc="-10" dirty="0">
                <a:latin typeface="Tahoma"/>
                <a:cs typeface="Tahoma"/>
              </a:rPr>
              <a:t>users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Twitter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nearly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half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million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tweets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minute</a:t>
            </a:r>
            <a:r>
              <a:rPr sz="1200" spc="-44" baseline="27777" dirty="0">
                <a:latin typeface="Arial MT"/>
                <a:cs typeface="Arial MT"/>
                <a:hlinkClick r:id="rId2" action="ppaction://hlinksldjump"/>
              </a:rPr>
              <a:t>1</a:t>
            </a:r>
            <a:endParaRPr sz="1200" baseline="27777">
              <a:latin typeface="Arial MT"/>
              <a:cs typeface="Arial MT"/>
            </a:endParaRPr>
          </a:p>
          <a:p>
            <a:pPr marL="276860" marR="31115" algn="just">
              <a:lnSpc>
                <a:spcPct val="151700"/>
              </a:lnSpc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2020,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every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person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generate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7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megabytes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just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second</a:t>
            </a:r>
            <a:r>
              <a:rPr sz="1200" spc="-75" baseline="27777" dirty="0">
                <a:solidFill>
                  <a:srgbClr val="FF0000"/>
                </a:solidFill>
                <a:latin typeface="Arial MT"/>
                <a:cs typeface="Arial MT"/>
                <a:hlinkClick r:id="rId2" action="ppaction://hlinksldjump"/>
              </a:rPr>
              <a:t>1</a:t>
            </a:r>
            <a:r>
              <a:rPr sz="1200" baseline="27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2020,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there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sz="1100" spc="2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40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trillion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gigabytes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(40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zettabytes)</a:t>
            </a:r>
            <a:r>
              <a:rPr sz="1200" spc="-44" baseline="27777" dirty="0">
                <a:solidFill>
                  <a:srgbClr val="FF0000"/>
                </a:solidFill>
                <a:latin typeface="Arial MT"/>
                <a:cs typeface="Arial MT"/>
              </a:rPr>
              <a:t>3</a:t>
            </a:r>
            <a:r>
              <a:rPr sz="1200" spc="750" baseline="27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100" dirty="0">
                <a:latin typeface="Tahoma"/>
                <a:cs typeface="Tahoma"/>
              </a:rPr>
              <a:t>90%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created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years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</a:rPr>
              <a:t>4</a:t>
            </a:r>
            <a:endParaRPr sz="1200" baseline="27777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005" y="2787815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9913" y="2799162"/>
            <a:ext cx="2514600" cy="5245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1920" indent="-83820">
              <a:lnSpc>
                <a:spcPct val="100000"/>
              </a:lnSpc>
              <a:spcBef>
                <a:spcPts val="360"/>
              </a:spcBef>
              <a:buAutoNum type="arabicPlain"/>
              <a:tabLst>
                <a:tab pos="121920" algn="l"/>
              </a:tabLst>
            </a:pPr>
            <a:r>
              <a:rPr sz="600" dirty="0">
                <a:latin typeface="Arial MT"/>
                <a:cs typeface="Arial MT"/>
              </a:rPr>
              <a:t>Domo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report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(a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company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with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analytic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platform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for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businesses)</a:t>
            </a:r>
            <a:endParaRPr sz="600">
              <a:latin typeface="Arial MT"/>
              <a:cs typeface="Arial MT"/>
            </a:endParaRPr>
          </a:p>
          <a:p>
            <a:pPr marL="38100" marR="30480" indent="83820">
              <a:lnSpc>
                <a:spcPct val="136400"/>
              </a:lnSpc>
              <a:buAutoNum type="arabicPlain"/>
              <a:tabLst>
                <a:tab pos="121920" algn="l"/>
              </a:tabLst>
            </a:pPr>
            <a:r>
              <a:rPr sz="600" spc="-10" dirty="0">
                <a:latin typeface="Arial MT"/>
                <a:cs typeface="Arial MT"/>
              </a:rPr>
              <a:t>Global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Web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Index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report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(a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company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with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big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analytic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platform)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900" baseline="37037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EMC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(Dell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EMC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provides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big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solutions)</a:t>
            </a:r>
            <a:endParaRPr sz="6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900" spc="-30" baseline="37037" dirty="0">
                <a:latin typeface="Arial MT"/>
                <a:cs typeface="Arial MT"/>
              </a:rPr>
              <a:t>4</a:t>
            </a:r>
            <a:r>
              <a:rPr sz="600" spc="-20" dirty="0">
                <a:latin typeface="Arial MT"/>
                <a:cs typeface="Arial MT"/>
              </a:rPr>
              <a:t>IBM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Generation</a:t>
            </a:r>
            <a:r>
              <a:rPr sz="1400" u="sng" spc="-1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Growth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618" y="403263"/>
            <a:ext cx="2512536" cy="283315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Generation</a:t>
            </a:r>
            <a:r>
              <a:rPr sz="1400" u="sng" spc="-1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Growth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05" y="631517"/>
            <a:ext cx="4248014" cy="197764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90245" y="307608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2993" y="2986405"/>
            <a:ext cx="33007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0" dirty="0">
                <a:latin typeface="Tahoma"/>
                <a:cs typeface="Tahoma"/>
              </a:rPr>
              <a:t>90%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created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years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</a:rPr>
              <a:t>5</a:t>
            </a:r>
            <a:endParaRPr sz="1200" baseline="27777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4005" y="3162109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9913" y="3207123"/>
            <a:ext cx="2698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30" baseline="37037" dirty="0">
                <a:latin typeface="Arial MT"/>
                <a:cs typeface="Arial MT"/>
              </a:rPr>
              <a:t>5</a:t>
            </a:r>
            <a:r>
              <a:rPr sz="600" spc="-20" dirty="0">
                <a:latin typeface="Arial MT"/>
                <a:cs typeface="Arial MT"/>
              </a:rPr>
              <a:t>IBM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57150" y="2677303"/>
            <a:ext cx="50387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2025</a:t>
            </a:r>
            <a:r>
              <a:rPr lang="en-US" sz="1000" dirty="0" smtClean="0"/>
              <a:t>: Approximately </a:t>
            </a:r>
            <a:r>
              <a:rPr lang="en-US" sz="1000" b="1" dirty="0" smtClean="0"/>
              <a:t>15-20x Earth-Moon distance</a:t>
            </a:r>
            <a:r>
              <a:rPr lang="en-US" sz="1000" dirty="0" smtClean="0"/>
              <a:t> (or possibly even higher)</a:t>
            </a:r>
            <a:endParaRPr lang="en-US" sz="10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Big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97325" cy="18522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63525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“Big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data”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whose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beyond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ability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typical </a:t>
            </a:r>
            <a:r>
              <a:rPr sz="1100" spc="-45" dirty="0">
                <a:latin typeface="Tahoma"/>
                <a:cs typeface="Tahoma"/>
              </a:rPr>
              <a:t>database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software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store,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manage,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analyze</a:t>
            </a:r>
            <a:endParaRPr sz="1100">
              <a:latin typeface="Tahoma"/>
              <a:cs typeface="Tahoma"/>
            </a:endParaRPr>
          </a:p>
          <a:p>
            <a:pPr marL="12700" marR="100965">
              <a:lnSpc>
                <a:spcPct val="102699"/>
              </a:lnSpc>
              <a:spcBef>
                <a:spcPts val="1195"/>
              </a:spcBef>
            </a:pPr>
            <a:r>
              <a:rPr sz="110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technology </a:t>
            </a:r>
            <a:r>
              <a:rPr sz="1100" spc="-50" dirty="0">
                <a:latin typeface="Tahoma"/>
                <a:cs typeface="Tahoma"/>
              </a:rPr>
              <a:t>advances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over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datasets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qualify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increase</a:t>
            </a:r>
            <a:endParaRPr sz="1100">
              <a:latin typeface="Tahoma"/>
              <a:cs typeface="Tahoma"/>
            </a:endParaRPr>
          </a:p>
          <a:p>
            <a:pPr marL="12700" marR="104775">
              <a:lnSpc>
                <a:spcPct val="102600"/>
              </a:lnSpc>
              <a:spcBef>
                <a:spcPts val="11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varies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sector, </a:t>
            </a:r>
            <a:r>
              <a:rPr sz="1100" spc="-50" dirty="0">
                <a:latin typeface="Tahoma"/>
                <a:cs typeface="Tahoma"/>
              </a:rPr>
              <a:t>depending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kinds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 </a:t>
            </a:r>
            <a:r>
              <a:rPr sz="1100" spc="-55" dirty="0">
                <a:latin typeface="Tahoma"/>
                <a:cs typeface="Tahoma"/>
              </a:rPr>
              <a:t>software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sizes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particular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industry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9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With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those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caveats,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big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in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many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sectors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today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will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range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from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few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dozen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terabytes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multiple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petabytes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(thousands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terabytes)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109881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9480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0907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67447"/>
            <a:ext cx="3991610" cy="910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Data:</a:t>
            </a:r>
            <a:r>
              <a:rPr sz="1100" spc="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qualitative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quantitative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Information:</a:t>
            </a:r>
            <a:r>
              <a:rPr sz="1100" spc="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Meaningful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organized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80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Analytics: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examining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order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draw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communicate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conclusions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information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contains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304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0370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729" y="1684693"/>
            <a:ext cx="3022599" cy="14479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01429" y="2955001"/>
            <a:ext cx="90678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latin typeface="Calibri"/>
                <a:cs typeface="Calibri"/>
              </a:rPr>
              <a:t>Source:</a:t>
            </a:r>
            <a:r>
              <a:rPr sz="450" spc="350" dirty="0">
                <a:latin typeface="Calibri"/>
                <a:cs typeface="Calibri"/>
              </a:rPr>
              <a:t> </a:t>
            </a:r>
            <a:r>
              <a:rPr sz="450" spc="-10" dirty="0">
                <a:latin typeface="Calibri"/>
                <a:cs typeface="Calibri"/>
              </a:rPr>
              <a:t>https://enablecomp.com/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7305" marR="140970" algn="ctr">
              <a:lnSpc>
                <a:spcPct val="100000"/>
              </a:lnSpc>
              <a:spcBef>
                <a:spcPts val="930"/>
              </a:spcBef>
            </a:pPr>
            <a:r>
              <a:rPr dirty="0"/>
              <a:t>Big</a:t>
            </a:r>
            <a:r>
              <a:rPr spc="-135" dirty="0"/>
              <a:t> </a:t>
            </a:r>
            <a:r>
              <a:rPr spc="-50" dirty="0"/>
              <a:t>Data</a:t>
            </a:r>
            <a:r>
              <a:rPr spc="-105" dirty="0"/>
              <a:t> </a:t>
            </a:r>
            <a:r>
              <a:rPr spc="-65" dirty="0"/>
              <a:t>Analytics:</a:t>
            </a:r>
            <a:r>
              <a:rPr spc="50" dirty="0"/>
              <a:t> </a:t>
            </a:r>
            <a:r>
              <a:rPr spc="-10" dirty="0"/>
              <a:t>Market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Analytics:</a:t>
            </a:r>
            <a:r>
              <a:rPr spc="50" dirty="0"/>
              <a:t> </a:t>
            </a:r>
            <a:r>
              <a:rPr dirty="0"/>
              <a:t>Then</a:t>
            </a:r>
            <a:r>
              <a:rPr spc="-70" dirty="0"/>
              <a:t> </a:t>
            </a:r>
            <a:r>
              <a:rPr spc="-30" dirty="0"/>
              <a:t>and</a:t>
            </a:r>
            <a:r>
              <a:rPr spc="-65" dirty="0"/>
              <a:t> </a:t>
            </a:r>
            <a:r>
              <a:rPr spc="-25" dirty="0"/>
              <a:t>Now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49700" cy="2023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years</a:t>
            </a:r>
            <a:endParaRPr sz="1100">
              <a:latin typeface="Tahoma"/>
              <a:cs typeface="Tahoma"/>
            </a:endParaRPr>
          </a:p>
          <a:p>
            <a:pPr marL="12700" marR="276225">
              <a:lnSpc>
                <a:spcPct val="102600"/>
              </a:lnSpc>
              <a:spcBef>
                <a:spcPts val="894"/>
              </a:spcBef>
            </a:pPr>
            <a:r>
              <a:rPr sz="1100" spc="-20" dirty="0">
                <a:latin typeface="Tahoma"/>
                <a:cs typeface="Tahoma"/>
              </a:rPr>
              <a:t>Even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1950’s,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businesses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spc="-25" dirty="0">
                <a:latin typeface="Tahoma"/>
                <a:cs typeface="Tahoma"/>
              </a:rPr>
              <a:t>basic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(manual </a:t>
            </a:r>
            <a:r>
              <a:rPr sz="1100" spc="-35" dirty="0">
                <a:latin typeface="Tahoma"/>
                <a:cs typeface="Tahoma"/>
              </a:rPr>
              <a:t>examination)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(essentially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spreadsheet)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50" dirty="0">
                <a:latin typeface="Tahoma"/>
                <a:cs typeface="Tahoma"/>
              </a:rPr>
              <a:t>uncover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insights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trends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-20" dirty="0">
                <a:latin typeface="Tahoma"/>
                <a:cs typeface="Tahoma"/>
              </a:rPr>
              <a:t>New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technologies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bring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speed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efficiency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techniques</a:t>
            </a:r>
            <a:endParaRPr sz="1100">
              <a:latin typeface="Tahoma"/>
              <a:cs typeface="Tahoma"/>
            </a:endParaRPr>
          </a:p>
          <a:p>
            <a:pPr marL="12700" marR="490855">
              <a:lnSpc>
                <a:spcPct val="102600"/>
              </a:lnSpc>
              <a:spcBef>
                <a:spcPts val="894"/>
              </a:spcBef>
            </a:pPr>
            <a:r>
              <a:rPr sz="1100" spc="-55" dirty="0">
                <a:latin typeface="Tahoma"/>
                <a:cs typeface="Tahoma"/>
              </a:rPr>
              <a:t>Today,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businesses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analyze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identify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insights</a:t>
            </a:r>
            <a:r>
              <a:rPr sz="1100" spc="-30" dirty="0">
                <a:latin typeface="Tahoma"/>
                <a:cs typeface="Tahoma"/>
              </a:rPr>
              <a:t> for </a:t>
            </a:r>
            <a:r>
              <a:rPr sz="1100" spc="-35" dirty="0">
                <a:latin typeface="Tahoma"/>
                <a:cs typeface="Tahoma"/>
              </a:rPr>
              <a:t>immediate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decisions</a:t>
            </a:r>
            <a:endParaRPr sz="1100">
              <a:latin typeface="Tahoma"/>
              <a:cs typeface="Tahoma"/>
            </a:endParaRPr>
          </a:p>
          <a:p>
            <a:pPr marL="12700" marR="373380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ability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work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faster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stay</a:t>
            </a:r>
            <a:r>
              <a:rPr sz="1100" spc="-25" dirty="0">
                <a:latin typeface="Tahoma"/>
                <a:cs typeface="Tahoma"/>
              </a:rPr>
              <a:t> agile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organizations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30" dirty="0">
                <a:latin typeface="Tahoma"/>
                <a:cs typeface="Tahoma"/>
              </a:rPr>
              <a:t>competitive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before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887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1888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8048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26286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Big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Analytics</a:t>
            </a:r>
            <a:r>
              <a:rPr spc="-30" dirty="0"/>
              <a:t> </a:t>
            </a:r>
            <a:r>
              <a:rPr spc="-10" dirty="0"/>
              <a:t>Important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297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0651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004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357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77112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6242" y="26051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242" y="285314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42" y="31011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7302" y="475207"/>
            <a:ext cx="3489960" cy="2727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Organizations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analyze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  <a:spcBef>
                <a:spcPts val="76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identify </a:t>
            </a:r>
            <a:r>
              <a:rPr sz="1100" spc="-60" dirty="0">
                <a:latin typeface="Tahoma"/>
                <a:cs typeface="Tahoma"/>
              </a:rPr>
              <a:t>new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opportunities</a:t>
            </a:r>
            <a:endParaRPr sz="1100">
              <a:latin typeface="Tahoma"/>
              <a:cs typeface="Tahoma"/>
            </a:endParaRPr>
          </a:p>
          <a:p>
            <a:pPr marL="313690" marR="5080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gain</a:t>
            </a:r>
            <a:r>
              <a:rPr sz="1100" spc="-25" dirty="0">
                <a:latin typeface="Tahoma"/>
                <a:cs typeface="Tahoma"/>
              </a:rPr>
              <a:t> insights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smarter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business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decisions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identify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efficient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operations</a:t>
            </a:r>
            <a:endParaRPr sz="1100">
              <a:latin typeface="Tahoma"/>
              <a:cs typeface="Tahoma"/>
            </a:endParaRPr>
          </a:p>
          <a:p>
            <a:pPr marL="313690" marR="493395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maximize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revenues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higher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profits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keeps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customers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satisfied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100">
              <a:latin typeface="Tahoma"/>
              <a:cs typeface="Tahoma"/>
            </a:endParaRPr>
          </a:p>
          <a:p>
            <a:pPr marL="12700" marR="161036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Top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three</a:t>
            </a:r>
            <a:r>
              <a:rPr sz="1100" spc="-30" dirty="0">
                <a:latin typeface="Tahoma"/>
                <a:cs typeface="Tahoma"/>
              </a:rPr>
              <a:t> factors </a:t>
            </a:r>
            <a:r>
              <a:rPr sz="1100" spc="-60" dirty="0">
                <a:latin typeface="Tahoma"/>
                <a:cs typeface="Tahoma"/>
              </a:rPr>
              <a:t>businesses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got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Cost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reduction</a:t>
            </a:r>
            <a:endParaRPr sz="1100">
              <a:latin typeface="Tahoma"/>
              <a:cs typeface="Tahoma"/>
            </a:endParaRPr>
          </a:p>
          <a:p>
            <a:pPr marL="289560" marR="1441450">
              <a:lnSpc>
                <a:spcPct val="147900"/>
              </a:lnSpc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Faster,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better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decision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making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New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products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services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9730" y="2128189"/>
            <a:ext cx="1327594" cy="115671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Why</a:t>
            </a:r>
            <a:r>
              <a:rPr spc="-20" dirty="0"/>
              <a:t> </a:t>
            </a:r>
            <a:r>
              <a:rPr spc="-55" dirty="0"/>
              <a:t>enterprises</a:t>
            </a:r>
            <a:r>
              <a:rPr spc="-15" dirty="0"/>
              <a:t> </a:t>
            </a:r>
            <a:r>
              <a:rPr spc="-75" dirty="0"/>
              <a:t>use</a:t>
            </a:r>
            <a:r>
              <a:rPr spc="-15" dirty="0"/>
              <a:t>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75207"/>
            <a:ext cx="3717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Companies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types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decisions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756" y="907923"/>
            <a:ext cx="1878177" cy="9985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What</a:t>
            </a:r>
            <a:r>
              <a:rPr spc="-20" dirty="0"/>
              <a:t> </a:t>
            </a:r>
            <a:r>
              <a:rPr spc="-55" dirty="0"/>
              <a:t>enterprises</a:t>
            </a:r>
            <a:r>
              <a:rPr spc="-15" dirty="0"/>
              <a:t> </a:t>
            </a:r>
            <a:r>
              <a:rPr spc="-75" dirty="0"/>
              <a:t>use</a:t>
            </a:r>
            <a:r>
              <a:rPr spc="-20" dirty="0"/>
              <a:t> </a:t>
            </a:r>
            <a:r>
              <a:rPr dirty="0"/>
              <a:t>Big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Analytics</a:t>
            </a:r>
            <a:r>
              <a:rPr spc="-15" dirty="0"/>
              <a:t> </a:t>
            </a:r>
            <a:r>
              <a:rPr spc="-25" dirty="0"/>
              <a:t>for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825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76507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98747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16994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923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157482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79724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197971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35395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253643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0245" y="275883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294130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2993" y="467842"/>
            <a:ext cx="3964304" cy="25679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Competitor</a:t>
            </a:r>
            <a:r>
              <a:rPr sz="1100" spc="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Online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traffic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websites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related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social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media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Market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latin typeface="Tahoma"/>
                <a:cs typeface="Tahoma"/>
              </a:rPr>
              <a:t>Trends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market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segment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analysis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Productivity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Enhancement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Analyze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employees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tracking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Cost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Cutting</a:t>
            </a:r>
            <a:endParaRPr sz="1100">
              <a:latin typeface="Tahoma"/>
              <a:cs typeface="Tahoma"/>
            </a:endParaRPr>
          </a:p>
          <a:p>
            <a:pPr marL="314960" marR="340995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latin typeface="Tahoma"/>
                <a:cs typeface="Tahoma"/>
              </a:rPr>
              <a:t>Reduce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energy</a:t>
            </a:r>
            <a:r>
              <a:rPr sz="1000" spc="-10" dirty="0">
                <a:latin typeface="Tahoma"/>
                <a:cs typeface="Tahoma"/>
              </a:rPr>
              <a:t> bills, </a:t>
            </a:r>
            <a:r>
              <a:rPr sz="1000" spc="-20" dirty="0">
                <a:latin typeface="Tahoma"/>
                <a:cs typeface="Tahoma"/>
              </a:rPr>
              <a:t>optimize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routes,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predict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demands,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process </a:t>
            </a:r>
            <a:r>
              <a:rPr sz="1000" spc="-30" dirty="0">
                <a:latin typeface="Tahoma"/>
                <a:cs typeface="Tahoma"/>
              </a:rPr>
              <a:t>efficiency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automation</a:t>
            </a:r>
            <a:r>
              <a:rPr sz="1050" spc="-15" baseline="27777" dirty="0">
                <a:latin typeface="Arial MT"/>
                <a:cs typeface="Arial MT"/>
              </a:rPr>
              <a:t>6</a:t>
            </a:r>
            <a:endParaRPr sz="1050" baseline="27777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Targeted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Marketing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Analyze</a:t>
            </a:r>
            <a:r>
              <a:rPr sz="1000" spc="-35" dirty="0">
                <a:latin typeface="Tahoma"/>
                <a:cs typeface="Tahoma"/>
              </a:rPr>
              <a:t> purchasing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history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target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right</a:t>
            </a:r>
            <a:r>
              <a:rPr sz="1000" spc="-35" dirty="0">
                <a:latin typeface="Tahoma"/>
                <a:cs typeface="Tahoma"/>
              </a:rPr>
              <a:t> people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product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spc="-70" dirty="0">
                <a:solidFill>
                  <a:srgbClr val="0000FF"/>
                </a:solidFill>
                <a:latin typeface="Tahoma"/>
                <a:cs typeface="Tahoma"/>
              </a:rPr>
              <a:t>Improved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Customer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Relations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0"/>
              </a:spcBef>
            </a:pPr>
            <a:r>
              <a:rPr sz="1000" spc="-20" dirty="0">
                <a:latin typeface="Tahoma"/>
                <a:cs typeface="Tahoma"/>
              </a:rPr>
              <a:t>Analyze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customer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feedback</a:t>
            </a:r>
            <a:r>
              <a:rPr sz="1000" spc="-25" dirty="0">
                <a:latin typeface="Tahoma"/>
                <a:cs typeface="Tahoma"/>
              </a:rPr>
              <a:t> 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make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adjustments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4005" y="3162109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9913" y="3207123"/>
            <a:ext cx="35058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15" baseline="37037" dirty="0">
                <a:latin typeface="Arial MT"/>
                <a:cs typeface="Arial MT"/>
              </a:rPr>
              <a:t>6</a:t>
            </a:r>
            <a:r>
              <a:rPr sz="600" spc="-10" dirty="0">
                <a:latin typeface="Arial MT"/>
                <a:cs typeface="Arial MT"/>
              </a:rPr>
              <a:t>Forbes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(01/08/2016)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Big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Analytics’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Potential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Revolutionize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Manufacturing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Is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Within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Reach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50" dirty="0"/>
              <a:t>Industries</a:t>
            </a:r>
            <a:r>
              <a:rPr spc="-25" dirty="0"/>
              <a:t> Benefiting </a:t>
            </a:r>
            <a:r>
              <a:rPr spc="-20" dirty="0"/>
              <a:t>from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67447"/>
            <a:ext cx="3997325" cy="20440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01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Retail: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Advertising,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Targeted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marketing,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recommendation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system, customer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loyalty,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inventory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management,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demand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prediction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Banking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Financial:</a:t>
            </a:r>
            <a:r>
              <a:rPr sz="1100" spc="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Customer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loyalty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churn,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fraud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detection, </a:t>
            </a:r>
            <a:r>
              <a:rPr sz="1100" spc="-10" dirty="0">
                <a:latin typeface="Tahoma"/>
                <a:cs typeface="Tahoma"/>
              </a:rPr>
              <a:t>risk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assessment</a:t>
            </a:r>
            <a:endParaRPr sz="1100">
              <a:latin typeface="Tahoma"/>
              <a:cs typeface="Tahoma"/>
            </a:endParaRPr>
          </a:p>
          <a:p>
            <a:pPr marL="12700" marR="342265">
              <a:lnSpc>
                <a:spcPct val="102600"/>
              </a:lnSpc>
              <a:spcBef>
                <a:spcPts val="59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Brands:</a:t>
            </a:r>
            <a:r>
              <a:rPr sz="1100" spc="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66%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brands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service </a:t>
            </a:r>
            <a:r>
              <a:rPr sz="1100" spc="-30" dirty="0">
                <a:latin typeface="Tahoma"/>
                <a:cs typeface="Tahoma"/>
              </a:rPr>
              <a:t>launch,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appropriate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timings</a:t>
            </a:r>
            <a:endParaRPr sz="1100">
              <a:latin typeface="Tahoma"/>
              <a:cs typeface="Tahoma"/>
            </a:endParaRPr>
          </a:p>
          <a:p>
            <a:pPr marL="12700" marR="345440">
              <a:lnSpc>
                <a:spcPct val="102600"/>
              </a:lnSpc>
              <a:spcBef>
                <a:spcPts val="60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Logistics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Transportation:</a:t>
            </a:r>
            <a:r>
              <a:rPr sz="1100" spc="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Fleet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management,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maintenance </a:t>
            </a:r>
            <a:r>
              <a:rPr sz="1100" spc="-70" dirty="0">
                <a:latin typeface="Tahoma"/>
                <a:cs typeface="Tahoma"/>
              </a:rPr>
              <a:t>needs,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drivers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risk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assessment,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tracking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Health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Care:</a:t>
            </a:r>
            <a:r>
              <a:rPr sz="11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Efficiency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healthcare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operations,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predictive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analytics, </a:t>
            </a:r>
            <a:r>
              <a:rPr sz="1100" spc="-40" dirty="0">
                <a:latin typeface="Tahoma"/>
                <a:cs typeface="Tahoma"/>
              </a:rPr>
              <a:t>outbreak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prediction,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immunization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strategy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9771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3972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81731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2373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959" y="2548566"/>
            <a:ext cx="3367814" cy="25791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90245" y="29929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8393" y="2903231"/>
            <a:ext cx="39008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Government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0000FF"/>
                </a:solidFill>
                <a:latin typeface="Tahoma"/>
                <a:cs typeface="Tahoma"/>
              </a:rPr>
              <a:t>&amp;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Utility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Companies:</a:t>
            </a:r>
            <a:r>
              <a:rPr sz="1100" spc="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Surveys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census,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development </a:t>
            </a:r>
            <a:r>
              <a:rPr sz="1100" spc="-35" dirty="0">
                <a:latin typeface="Tahoma"/>
                <a:cs typeface="Tahoma"/>
              </a:rPr>
              <a:t>planning,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health,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education,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energy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demand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management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16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017" y="644849"/>
            <a:ext cx="2400643" cy="10669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17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958" y="677238"/>
            <a:ext cx="2957757" cy="5031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18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535" y="673429"/>
            <a:ext cx="2568979" cy="6441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19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884" y="642215"/>
            <a:ext cx="2976153" cy="62524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720" y="646753"/>
            <a:ext cx="2774800" cy="47263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852" y="669625"/>
            <a:ext cx="2629961" cy="47262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44" y="665808"/>
            <a:ext cx="2359344" cy="30110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261" y="631510"/>
            <a:ext cx="3008068" cy="51151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855" y="654555"/>
            <a:ext cx="2805227" cy="4953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021" y="673437"/>
            <a:ext cx="2717628" cy="476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172" y="663575"/>
            <a:ext cx="2477501" cy="4764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496" y="681052"/>
            <a:ext cx="2523240" cy="64795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629" y="669625"/>
            <a:ext cx="2568979" cy="476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Big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Analytics </a:t>
            </a:r>
            <a:r>
              <a:rPr dirty="0"/>
              <a:t>-</a:t>
            </a:r>
            <a:r>
              <a:rPr spc="-10" dirty="0"/>
              <a:t> Market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114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62011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1287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4893" y="513167"/>
            <a:ext cx="4045585" cy="18897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182245">
              <a:lnSpc>
                <a:spcPct val="102600"/>
              </a:lnSpc>
              <a:spcBef>
                <a:spcPts val="55"/>
              </a:spcBef>
            </a:pPr>
            <a:r>
              <a:rPr sz="1100" spc="-100" dirty="0">
                <a:latin typeface="Tahoma"/>
                <a:cs typeface="Tahoma"/>
              </a:rPr>
              <a:t>12%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increase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business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2018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2019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</a:rPr>
              <a:t>7</a:t>
            </a:r>
            <a:endParaRPr sz="1200" baseline="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 MT"/>
              <a:cs typeface="Arial MT"/>
            </a:endParaRPr>
          </a:p>
          <a:p>
            <a:pPr marL="76200" marR="363855">
              <a:lnSpc>
                <a:spcPct val="102600"/>
              </a:lnSpc>
            </a:pPr>
            <a:r>
              <a:rPr sz="1100" spc="-35" dirty="0">
                <a:latin typeface="Tahoma"/>
                <a:cs typeface="Tahoma"/>
              </a:rPr>
              <a:t>$189</a:t>
            </a:r>
            <a:r>
              <a:rPr sz="1100" i="1" spc="-35" dirty="0">
                <a:latin typeface="Calibri"/>
                <a:cs typeface="Calibri"/>
              </a:rPr>
              <a:t>.</a:t>
            </a:r>
            <a:r>
              <a:rPr sz="1100" spc="-3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billion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5" dirty="0">
                <a:latin typeface="Tahoma"/>
                <a:cs typeface="Tahoma"/>
              </a:rPr>
              <a:t> projected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worldwide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revenues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60" dirty="0">
                <a:latin typeface="Tahoma"/>
                <a:cs typeface="Tahoma"/>
              </a:rPr>
              <a:t>business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2019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  <a:hlinkClick r:id="rId2" action="ppaction://hlinksldjump"/>
              </a:rPr>
              <a:t>7</a:t>
            </a:r>
            <a:endParaRPr sz="1200" baseline="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 MT"/>
              <a:cs typeface="Arial MT"/>
            </a:endParaRPr>
          </a:p>
          <a:p>
            <a:pPr marL="76200" marR="363855">
              <a:lnSpc>
                <a:spcPct val="102600"/>
              </a:lnSpc>
            </a:pPr>
            <a:r>
              <a:rPr sz="1100" spc="-35" dirty="0">
                <a:latin typeface="Tahoma"/>
                <a:cs typeface="Tahoma"/>
              </a:rPr>
              <a:t>$274</a:t>
            </a:r>
            <a:r>
              <a:rPr sz="1100" i="1" spc="-35" dirty="0">
                <a:latin typeface="Calibri"/>
                <a:cs typeface="Calibri"/>
              </a:rPr>
              <a:t>.</a:t>
            </a:r>
            <a:r>
              <a:rPr sz="1100" spc="-3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billion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5" dirty="0">
                <a:latin typeface="Tahoma"/>
                <a:cs typeface="Tahoma"/>
              </a:rPr>
              <a:t> projected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worldwide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revenues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60" dirty="0">
                <a:latin typeface="Tahoma"/>
                <a:cs typeface="Tahoma"/>
              </a:rPr>
              <a:t>business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2022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  <a:hlinkClick r:id="rId2" action="ppaction://hlinksldjump"/>
              </a:rPr>
              <a:t>7</a:t>
            </a:r>
            <a:endParaRPr sz="1200" baseline="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 MT"/>
              <a:cs typeface="Arial MT"/>
            </a:endParaRPr>
          </a:p>
          <a:p>
            <a:pPr marL="76200" marR="43180">
              <a:lnSpc>
                <a:spcPct val="102699"/>
              </a:lnSpc>
            </a:pPr>
            <a:r>
              <a:rPr sz="1100" spc="-65" dirty="0">
                <a:latin typeface="Tahoma"/>
                <a:cs typeface="Tahoma"/>
              </a:rPr>
              <a:t>13</a:t>
            </a:r>
            <a:r>
              <a:rPr sz="1100" i="1" spc="-65" dirty="0">
                <a:latin typeface="Calibri"/>
                <a:cs typeface="Calibri"/>
              </a:rPr>
              <a:t>.</a:t>
            </a:r>
            <a:r>
              <a:rPr sz="1100" spc="-65" dirty="0">
                <a:latin typeface="Tahoma"/>
                <a:cs typeface="Tahoma"/>
              </a:rPr>
              <a:t>2%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projected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compound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annual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growth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(CAGR)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big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business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five-</a:t>
            </a:r>
            <a:r>
              <a:rPr sz="1100" spc="-65" dirty="0">
                <a:latin typeface="Tahoma"/>
                <a:cs typeface="Tahoma"/>
              </a:rPr>
              <a:t>year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period,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2018-</a:t>
            </a:r>
            <a:r>
              <a:rPr sz="1100" spc="-50" dirty="0">
                <a:latin typeface="Tahoma"/>
                <a:cs typeface="Tahoma"/>
              </a:rPr>
              <a:t>2022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  <a:hlinkClick r:id="rId2" action="ppaction://hlinksldjump"/>
              </a:rPr>
              <a:t>7</a:t>
            </a:r>
            <a:endParaRPr sz="1200" baseline="27777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4005" y="3162109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5313" y="3169165"/>
            <a:ext cx="3413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aseline="37037" dirty="0">
                <a:latin typeface="Arial MT"/>
                <a:cs typeface="Arial MT"/>
              </a:rPr>
              <a:t>7</a:t>
            </a:r>
            <a:r>
              <a:rPr sz="900" spc="209" baseline="37037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International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Data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Corporation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(IDC)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-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Big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data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analytics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company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Analytics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-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Market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294" y="631489"/>
            <a:ext cx="2871469" cy="18507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087755">
              <a:lnSpc>
                <a:spcPct val="100000"/>
              </a:lnSpc>
              <a:spcBef>
                <a:spcPts val="930"/>
              </a:spcBef>
            </a:pPr>
            <a:r>
              <a:rPr spc="-130" dirty="0"/>
              <a:t>Sources</a:t>
            </a:r>
            <a:r>
              <a:rPr spc="-30" dirty="0"/>
              <a:t> </a:t>
            </a:r>
            <a:r>
              <a:rPr spc="-50" dirty="0"/>
              <a:t>of</a:t>
            </a:r>
            <a:r>
              <a:rPr spc="-110" dirty="0"/>
              <a:t> </a:t>
            </a:r>
            <a:r>
              <a:rPr dirty="0"/>
              <a:t>Big</a:t>
            </a:r>
            <a:r>
              <a:rPr spc="-80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Sources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of Big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831" y="631519"/>
            <a:ext cx="3576319" cy="14305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526" y="2123893"/>
            <a:ext cx="2251929" cy="86923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45" dirty="0"/>
              <a:t>Sources:</a:t>
            </a:r>
            <a:r>
              <a:rPr spc="70" dirty="0"/>
              <a:t> </a:t>
            </a:r>
            <a:r>
              <a:rPr spc="-20" dirty="0"/>
              <a:t>Machine</a:t>
            </a:r>
            <a:r>
              <a:rPr spc="-50" dirty="0"/>
              <a:t> Generated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49700" cy="2176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Biggest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source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370840">
              <a:lnSpc>
                <a:spcPct val="163000"/>
              </a:lnSpc>
            </a:pPr>
            <a:r>
              <a:rPr sz="1100" spc="-40" dirty="0">
                <a:latin typeface="Tahoma"/>
                <a:cs typeface="Tahoma"/>
              </a:rPr>
              <a:t>Temperature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sensors,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GPS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navigator,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Satellite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imagery,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Apps, </a:t>
            </a:r>
            <a:r>
              <a:rPr sz="1100" spc="-55" dirty="0">
                <a:latin typeface="Tahoma"/>
                <a:cs typeface="Tahoma"/>
              </a:rPr>
              <a:t>Increasing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smart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devices,</a:t>
            </a:r>
            <a:r>
              <a:rPr sz="1100" spc="-25" dirty="0">
                <a:latin typeface="Tahoma"/>
                <a:cs typeface="Tahoma"/>
              </a:rPr>
              <a:t> IoT</a:t>
            </a:r>
            <a:endParaRPr sz="1100">
              <a:latin typeface="Tahoma"/>
              <a:cs typeface="Tahoma"/>
            </a:endParaRPr>
          </a:p>
          <a:p>
            <a:pPr marL="12700" marR="248285">
              <a:lnSpc>
                <a:spcPct val="102600"/>
              </a:lnSpc>
              <a:spcBef>
                <a:spcPts val="79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12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hours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flight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produces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84TB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data,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sensors,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temperature, </a:t>
            </a:r>
            <a:r>
              <a:rPr sz="1100" spc="-65" dirty="0">
                <a:latin typeface="Tahoma"/>
                <a:cs typeface="Tahoma"/>
              </a:rPr>
              <a:t>pressure,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accelerometer,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turbulence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20" dirty="0">
                <a:latin typeface="Tahoma"/>
                <a:cs typeface="Tahoma"/>
              </a:rPr>
              <a:t>Smart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City,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Transportation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9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Think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about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volume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video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collected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Lahore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Safe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City Authority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Control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Room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Generally,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such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unstructured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761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4943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27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8680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1413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58676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45" dirty="0"/>
              <a:t>Sources:</a:t>
            </a:r>
            <a:r>
              <a:rPr spc="60" dirty="0"/>
              <a:t> </a:t>
            </a:r>
            <a:r>
              <a:rPr spc="-30" dirty="0"/>
              <a:t>People</a:t>
            </a:r>
            <a:r>
              <a:rPr spc="-60" dirty="0"/>
              <a:t> </a:t>
            </a:r>
            <a:r>
              <a:rPr spc="-50" dirty="0"/>
              <a:t>Generated</a:t>
            </a:r>
            <a:r>
              <a:rPr spc="-6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4864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96734"/>
            <a:ext cx="382333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1940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Blogs,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social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posts, </a:t>
            </a:r>
            <a:r>
              <a:rPr sz="1100" spc="-70" dirty="0">
                <a:latin typeface="Tahoma"/>
                <a:cs typeface="Tahoma"/>
              </a:rPr>
              <a:t>keywords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search,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photo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sharing, </a:t>
            </a:r>
            <a:r>
              <a:rPr sz="1100" spc="-30" dirty="0">
                <a:latin typeface="Tahoma"/>
                <a:cs typeface="Tahoma"/>
              </a:rPr>
              <a:t>pictures,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emails,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ratings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reviews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Daily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facebook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 </a:t>
            </a:r>
            <a:r>
              <a:rPr sz="1100" dirty="0">
                <a:latin typeface="Tahoma"/>
                <a:cs typeface="Tahoma"/>
              </a:rPr>
              <a:t>30+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75" dirty="0">
                <a:latin typeface="Tahoma"/>
                <a:cs typeface="Tahoma"/>
              </a:rPr>
              <a:t>PB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Academic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libraries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(2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25" dirty="0">
                <a:latin typeface="Tahoma"/>
                <a:cs typeface="Tahoma"/>
              </a:rPr>
              <a:t>PB)</a:t>
            </a:r>
            <a:endParaRPr sz="1100">
              <a:latin typeface="Tahoma"/>
              <a:cs typeface="Tahoma"/>
            </a:endParaRPr>
          </a:p>
          <a:p>
            <a:pPr marL="12700" marR="236854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Tahoma"/>
                <a:cs typeface="Tahoma"/>
              </a:rPr>
              <a:t>Companies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12PB/day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Twitter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40" dirty="0">
                <a:latin typeface="Tahoma"/>
                <a:cs typeface="Tahoma"/>
              </a:rPr>
              <a:t>sentiment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analysis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products</a:t>
            </a:r>
            <a:endParaRPr sz="1100">
              <a:latin typeface="Tahoma"/>
              <a:cs typeface="Tahoma"/>
            </a:endParaRPr>
          </a:p>
          <a:p>
            <a:pPr marL="12700" marR="309245">
              <a:lnSpc>
                <a:spcPct val="102699"/>
              </a:lnSpc>
              <a:spcBef>
                <a:spcPts val="2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Could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be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used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disaster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management,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e.g.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identify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measure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affected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areas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channel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resources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85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785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606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4429" y="1719904"/>
            <a:ext cx="1904237" cy="79671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90245" y="26400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8393" y="2550412"/>
            <a:ext cx="390207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Typically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unstructured,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or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best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semi-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structured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such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as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emails,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where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header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has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somewhat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structure,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except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few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cases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such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as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filling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up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survey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form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latin typeface="Tahoma"/>
                <a:cs typeface="Tahoma"/>
              </a:rPr>
              <a:t>Generally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text: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500 </a:t>
            </a:r>
            <a:r>
              <a:rPr sz="1100" spc="-10" dirty="0">
                <a:latin typeface="Tahoma"/>
                <a:cs typeface="Tahoma"/>
              </a:rPr>
              <a:t>million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tweets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245" y="31942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45" dirty="0"/>
              <a:t>Sources:</a:t>
            </a:r>
            <a:r>
              <a:rPr spc="80" dirty="0"/>
              <a:t> </a:t>
            </a:r>
            <a:r>
              <a:rPr spc="-25" dirty="0"/>
              <a:t>Organization</a:t>
            </a:r>
            <a:r>
              <a:rPr spc="-45" dirty="0"/>
              <a:t> </a:t>
            </a:r>
            <a:r>
              <a:rPr spc="-50" dirty="0"/>
              <a:t>Generated</a:t>
            </a:r>
            <a:r>
              <a:rPr spc="-4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27475" cy="2449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LUMS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Students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Data,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ESPN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Cricinfo,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TCS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shipment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tracking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379730">
              <a:lnSpc>
                <a:spcPct val="163000"/>
              </a:lnSpc>
            </a:pPr>
            <a:r>
              <a:rPr sz="1100" spc="-50" dirty="0">
                <a:latin typeface="Tahoma"/>
                <a:cs typeface="Tahoma"/>
              </a:rPr>
              <a:t>Governments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open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Stock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Records,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Banks,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e-Commerce </a:t>
            </a:r>
            <a:r>
              <a:rPr sz="1100" spc="-10" dirty="0">
                <a:latin typeface="Tahoma"/>
                <a:cs typeface="Tahoma"/>
              </a:rPr>
              <a:t>Medical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Records</a:t>
            </a:r>
            <a:endParaRPr sz="1100">
              <a:latin typeface="Tahoma"/>
              <a:cs typeface="Tahoma"/>
            </a:endParaRPr>
          </a:p>
          <a:p>
            <a:pPr marL="12700" marR="124460">
              <a:lnSpc>
                <a:spcPct val="102600"/>
              </a:lnSpc>
              <a:spcBef>
                <a:spcPts val="7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Optimize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routs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optimal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scheduling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can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save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50m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by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reducing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each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drivers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route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by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one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mile</a:t>
            </a:r>
            <a:endParaRPr sz="1100">
              <a:latin typeface="Tahoma"/>
              <a:cs typeface="Tahoma"/>
            </a:endParaRPr>
          </a:p>
          <a:p>
            <a:pPr marL="12700" marR="186690">
              <a:lnSpc>
                <a:spcPct val="102699"/>
              </a:lnSpc>
              <a:spcBef>
                <a:spcPts val="800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Combine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Walmart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sales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with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Twitter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sentiment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analyses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or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events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launch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new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product</a:t>
            </a:r>
            <a:endParaRPr sz="1100">
              <a:latin typeface="Tahoma"/>
              <a:cs typeface="Tahoma"/>
            </a:endParaRPr>
          </a:p>
          <a:p>
            <a:pPr marL="12700" marR="2847340">
              <a:lnSpc>
                <a:spcPct val="163000"/>
              </a:lnSpc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Estimate</a:t>
            </a:r>
            <a:r>
              <a:rPr sz="1100" spc="-70" dirty="0">
                <a:solidFill>
                  <a:srgbClr val="0000FF"/>
                </a:solidFill>
                <a:latin typeface="Tahoma"/>
                <a:cs typeface="Tahoma"/>
              </a:rPr>
              <a:t> demands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Fraud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Highly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Structured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761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4943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27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8680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3134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58676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8600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Categories</a:t>
            </a:r>
            <a:r>
              <a:rPr sz="1400" u="sng" spc="-6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5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570" y="540086"/>
            <a:ext cx="3017519" cy="251983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42352"/>
            <a:ext cx="4400550" cy="727075"/>
            <a:chOff x="93204" y="1042352"/>
            <a:chExt cx="4400550" cy="727075"/>
          </a:xfrm>
        </p:grpSpPr>
        <p:sp>
          <p:nvSpPr>
            <p:cNvPr id="3" name="object 3"/>
            <p:cNvSpPr/>
            <p:nvPr/>
          </p:nvSpPr>
          <p:spPr>
            <a:xfrm>
              <a:off x="93204" y="1042352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105599"/>
              <a:ext cx="4349750" cy="663575"/>
            </a:xfrm>
            <a:custGeom>
              <a:avLst/>
              <a:gdLst/>
              <a:ahLst/>
              <a:cxnLst/>
              <a:rect l="l" t="t" r="r" b="b"/>
              <a:pathLst>
                <a:path w="4349750" h="663575">
                  <a:moveTo>
                    <a:pt x="4349657" y="0"/>
                  </a:moveTo>
                  <a:lnTo>
                    <a:pt x="0" y="0"/>
                  </a:lnTo>
                  <a:lnTo>
                    <a:pt x="0" y="663511"/>
                  </a:lnTo>
                  <a:lnTo>
                    <a:pt x="4349657" y="66351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86762"/>
              <a:ext cx="4349750" cy="631825"/>
            </a:xfrm>
            <a:custGeom>
              <a:avLst/>
              <a:gdLst/>
              <a:ahLst/>
              <a:cxnLst/>
              <a:rect l="l" t="t" r="r" b="b"/>
              <a:pathLst>
                <a:path w="4349750" h="631825">
                  <a:moveTo>
                    <a:pt x="4349657" y="0"/>
                  </a:moveTo>
                  <a:lnTo>
                    <a:pt x="0" y="0"/>
                  </a:lnTo>
                  <a:lnTo>
                    <a:pt x="0" y="580747"/>
                  </a:lnTo>
                  <a:lnTo>
                    <a:pt x="4008" y="600471"/>
                  </a:lnTo>
                  <a:lnTo>
                    <a:pt x="14922" y="616624"/>
                  </a:lnTo>
                  <a:lnTo>
                    <a:pt x="31075" y="627539"/>
                  </a:lnTo>
                  <a:lnTo>
                    <a:pt x="50800" y="631547"/>
                  </a:lnTo>
                  <a:lnTo>
                    <a:pt x="4298856" y="631547"/>
                  </a:lnTo>
                  <a:lnTo>
                    <a:pt x="4318581" y="627539"/>
                  </a:lnTo>
                  <a:lnTo>
                    <a:pt x="4334734" y="616624"/>
                  </a:lnTo>
                  <a:lnTo>
                    <a:pt x="4345648" y="600471"/>
                  </a:lnTo>
                  <a:lnTo>
                    <a:pt x="4349657" y="580747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105599"/>
            <a:ext cx="4349750" cy="66357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156970">
              <a:lnSpc>
                <a:spcPct val="100000"/>
              </a:lnSpc>
              <a:spcBef>
                <a:spcPts val="930"/>
              </a:spcBef>
            </a:pPr>
            <a:r>
              <a:rPr sz="2050" u="none" spc="-40" dirty="0">
                <a:solidFill>
                  <a:srgbClr val="0000FF"/>
                </a:solidFill>
              </a:rPr>
              <a:t>The</a:t>
            </a:r>
            <a:r>
              <a:rPr sz="2050" u="none" spc="-100" dirty="0">
                <a:solidFill>
                  <a:srgbClr val="0000FF"/>
                </a:solidFill>
              </a:rPr>
              <a:t> </a:t>
            </a:r>
            <a:r>
              <a:rPr sz="2050" u="none" dirty="0">
                <a:solidFill>
                  <a:srgbClr val="0000FF"/>
                </a:solidFill>
              </a:rPr>
              <a:t>5</a:t>
            </a:r>
            <a:r>
              <a:rPr sz="2050" u="none" spc="-100" dirty="0">
                <a:solidFill>
                  <a:srgbClr val="0000FF"/>
                </a:solidFill>
              </a:rPr>
              <a:t> </a:t>
            </a:r>
            <a:r>
              <a:rPr sz="2050" u="none" dirty="0">
                <a:solidFill>
                  <a:srgbClr val="0000FF"/>
                </a:solidFill>
              </a:rPr>
              <a:t>V’s</a:t>
            </a:r>
            <a:r>
              <a:rPr sz="2050" u="none" spc="-100" dirty="0">
                <a:solidFill>
                  <a:srgbClr val="0000FF"/>
                </a:solidFill>
              </a:rPr>
              <a:t> </a:t>
            </a:r>
            <a:r>
              <a:rPr sz="2050" u="none" spc="-50" dirty="0">
                <a:solidFill>
                  <a:srgbClr val="0000FF"/>
                </a:solidFill>
              </a:rPr>
              <a:t>of</a:t>
            </a:r>
            <a:r>
              <a:rPr sz="2050" u="none" spc="-95" dirty="0">
                <a:solidFill>
                  <a:srgbClr val="0000FF"/>
                </a:solidFill>
              </a:rPr>
              <a:t> </a:t>
            </a:r>
            <a:r>
              <a:rPr sz="2050" u="none" spc="-20" dirty="0">
                <a:solidFill>
                  <a:srgbClr val="0000FF"/>
                </a:solidFill>
              </a:rPr>
              <a:t>Data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Aspects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Big:</a:t>
            </a:r>
            <a:r>
              <a:rPr sz="1400" u="sng" spc="9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The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5</a:t>
            </a:r>
            <a:r>
              <a:rPr sz="1400" u="sng" spc="-3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V’s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7408" y="1147102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7408" y="144570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7408" y="174429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408" y="204289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408" y="2341499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8419" y="1079079"/>
            <a:ext cx="640715" cy="138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Volume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Velocity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Variety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5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25" dirty="0">
                <a:latin typeface="Tahoma"/>
                <a:cs typeface="Tahoma"/>
              </a:rPr>
              <a:t>Veracity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3113" y="644131"/>
            <a:ext cx="2674619" cy="230123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Volume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305" y="475207"/>
            <a:ext cx="3708400" cy="493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Volume:</a:t>
            </a:r>
            <a:r>
              <a:rPr sz="110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size,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scale,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dimensionality,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spc="-50" dirty="0">
                <a:latin typeface="Tahoma"/>
                <a:cs typeface="Tahoma"/>
              </a:rPr>
              <a:t>204m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emails/minute,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email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100KB,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volume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408" y="1104633"/>
            <a:ext cx="2040254" cy="94983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90245" y="229436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8393" y="2160915"/>
            <a:ext cx="3940810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2590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Challenges:</a:t>
            </a:r>
            <a:r>
              <a:rPr sz="1100" spc="10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Acquisition,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Storage,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Retrieval,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Time </a:t>
            </a:r>
            <a:r>
              <a:rPr sz="1100" spc="-40" dirty="0">
                <a:latin typeface="Tahoma"/>
                <a:cs typeface="Tahoma"/>
              </a:rPr>
              <a:t>Large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information,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blessing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5" dirty="0">
                <a:latin typeface="Tahoma"/>
                <a:cs typeface="Tahoma"/>
              </a:rPr>
              <a:t> curse,</a:t>
            </a:r>
            <a:r>
              <a:rPr sz="1100" spc="-40" dirty="0">
                <a:latin typeface="Tahoma"/>
                <a:cs typeface="Tahoma"/>
              </a:rPr>
              <a:t> dealing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topic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course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0245" y="25044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7144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40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Velocity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305" y="475207"/>
            <a:ext cx="4217670" cy="493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Velocity:</a:t>
            </a:r>
            <a:r>
              <a:rPr sz="11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Speed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spc="-30" dirty="0">
                <a:latin typeface="Tahoma"/>
                <a:cs typeface="Tahoma"/>
              </a:rPr>
              <a:t>Number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emails, </a:t>
            </a:r>
            <a:r>
              <a:rPr sz="1100" spc="-10" dirty="0">
                <a:latin typeface="Tahoma"/>
                <a:cs typeface="Tahoma"/>
              </a:rPr>
              <a:t>twitter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messages,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photos, </a:t>
            </a:r>
            <a:r>
              <a:rPr sz="1100" spc="-40" dirty="0">
                <a:latin typeface="Tahoma"/>
                <a:cs typeface="Tahoma"/>
              </a:rPr>
              <a:t>videos </a:t>
            </a:r>
            <a:r>
              <a:rPr sz="1100" dirty="0">
                <a:latin typeface="Tahoma"/>
                <a:cs typeface="Tahoma"/>
              </a:rPr>
              <a:t>etc.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</a:t>
            </a:r>
            <a:r>
              <a:rPr sz="1100" spc="-35" dirty="0">
                <a:latin typeface="Tahoma"/>
                <a:cs typeface="Tahoma"/>
              </a:rPr>
              <a:t> second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499" y="1096868"/>
            <a:ext cx="1292161" cy="14570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90245" y="279382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8393" y="2660368"/>
            <a:ext cx="341439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Late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decisions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implies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missed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opportunities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latin typeface="Tahoma"/>
                <a:cs typeface="Tahoma"/>
              </a:rPr>
              <a:t>Real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processing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Batch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Processing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(end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0245" y="30038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Variety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75207"/>
            <a:ext cx="3094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Variety:</a:t>
            </a:r>
            <a:r>
              <a:rPr sz="1100" b="1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Structural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variety,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formats,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models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206" y="871372"/>
            <a:ext cx="1131569" cy="1028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97557" y="1825775"/>
            <a:ext cx="721995" cy="66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0" dirty="0">
                <a:latin typeface="Calibri"/>
                <a:cs typeface="Calibri"/>
              </a:rPr>
              <a:t>Source:</a:t>
            </a:r>
            <a:r>
              <a:rPr sz="250" spc="400" dirty="0">
                <a:latin typeface="Calibri"/>
                <a:cs typeface="Calibri"/>
              </a:rPr>
              <a:t> </a:t>
            </a:r>
            <a:r>
              <a:rPr sz="250" spc="-10" dirty="0">
                <a:latin typeface="Calibri"/>
                <a:cs typeface="Calibri"/>
              </a:rPr>
              <a:t>https://openautomationsoftware.com/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245" y="22081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8393" y="2049371"/>
            <a:ext cx="3761740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23060">
              <a:lnSpc>
                <a:spcPct val="140400"/>
              </a:lnSpc>
              <a:spcBef>
                <a:spcPts val="100"/>
              </a:spcBef>
            </a:pPr>
            <a:r>
              <a:rPr sz="1100" spc="-10" dirty="0">
                <a:latin typeface="Tahoma"/>
                <a:cs typeface="Tahoma"/>
              </a:rPr>
              <a:t>Medium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variety,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audio,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text,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video, </a:t>
            </a:r>
            <a:r>
              <a:rPr sz="1100" dirty="0">
                <a:latin typeface="Tahoma"/>
                <a:cs typeface="Tahoma"/>
              </a:rPr>
              <a:t>DBMS,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files,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traffic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logs,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XML,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code </a:t>
            </a:r>
            <a:r>
              <a:rPr sz="1100" spc="-10" dirty="0">
                <a:latin typeface="Tahoma"/>
                <a:cs typeface="Tahoma"/>
              </a:rPr>
              <a:t>Online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Offline,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0400"/>
              </a:lnSpc>
            </a:pPr>
            <a:r>
              <a:rPr sz="1100" spc="-10" dirty="0">
                <a:latin typeface="Tahoma"/>
                <a:cs typeface="Tahoma"/>
              </a:rPr>
              <a:t>Real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Intermittent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(another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varies)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Challenges:</a:t>
            </a:r>
            <a:r>
              <a:rPr sz="1100" spc="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requirement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analytics,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Semantic,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interpret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0245" y="244348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6788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9141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3149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Veracity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76158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689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043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6396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910" y="1820824"/>
            <a:ext cx="1984203" cy="141137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1305" y="353324"/>
            <a:ext cx="4211320" cy="15519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Veracity:</a:t>
            </a:r>
            <a:r>
              <a:rPr sz="11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Quality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 marR="384175">
              <a:lnSpc>
                <a:spcPct val="102600"/>
              </a:lnSpc>
              <a:spcBef>
                <a:spcPts val="555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issues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(biases,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anomalies,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inconsistent </a:t>
            </a:r>
            <a:r>
              <a:rPr sz="1100" spc="-60" dirty="0">
                <a:latin typeface="Tahoma"/>
                <a:cs typeface="Tahoma"/>
              </a:rPr>
              <a:t>measurements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units,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incomplete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duplicate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records)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Volatility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data,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updated/outdated,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changing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trends/sentiments </a:t>
            </a:r>
            <a:r>
              <a:rPr sz="1100" spc="-45" dirty="0">
                <a:latin typeface="Tahoma"/>
                <a:cs typeface="Tahoma"/>
              </a:rPr>
              <a:t>Trustworthiness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reliability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sources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generation/processing </a:t>
            </a:r>
            <a:r>
              <a:rPr sz="1100" spc="-30" dirty="0">
                <a:latin typeface="Tahoma"/>
                <a:cs typeface="Tahoma"/>
              </a:rPr>
              <a:t>Fake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news,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rumours,</a:t>
            </a:r>
            <a:r>
              <a:rPr sz="1100" spc="-35" dirty="0">
                <a:latin typeface="Tahoma"/>
                <a:cs typeface="Tahoma"/>
              </a:rPr>
              <a:t> fake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likes,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fake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followers</a:t>
            </a:r>
            <a:endParaRPr sz="1100">
              <a:latin typeface="Tahoma"/>
              <a:cs typeface="Tahoma"/>
            </a:endParaRPr>
          </a:p>
          <a:p>
            <a:pPr marL="2366645">
              <a:lnSpc>
                <a:spcPct val="100000"/>
              </a:lnSpc>
              <a:spcBef>
                <a:spcPts val="735"/>
              </a:spcBef>
            </a:pPr>
            <a:r>
              <a:rPr sz="450" dirty="0">
                <a:latin typeface="Calibri"/>
                <a:cs typeface="Calibri"/>
              </a:rPr>
              <a:t>Source:</a:t>
            </a:r>
            <a:r>
              <a:rPr sz="450" spc="245" dirty="0">
                <a:latin typeface="Calibri"/>
                <a:cs typeface="Calibri"/>
              </a:rPr>
              <a:t>  </a:t>
            </a:r>
            <a:r>
              <a:rPr sz="450" spc="-10" dirty="0">
                <a:latin typeface="Calibri"/>
                <a:cs typeface="Calibri"/>
              </a:rPr>
              <a:t>https://datafloq.com/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Value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270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876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75207"/>
            <a:ext cx="3303270" cy="1014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Value:</a:t>
            </a:r>
            <a:r>
              <a:rPr sz="1100" b="1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turned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55500"/>
              </a:lnSpc>
              <a:spcBef>
                <a:spcPts val="32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having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good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company </a:t>
            </a:r>
            <a:r>
              <a:rPr sz="1100" spc="-30" dirty="0">
                <a:latin typeface="Tahoma"/>
                <a:cs typeface="Tahoma"/>
              </a:rPr>
              <a:t>Should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strategic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objectives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35"/>
              </a:spcBef>
            </a:pPr>
            <a:r>
              <a:rPr sz="1100" spc="-30" dirty="0">
                <a:latin typeface="Tahoma"/>
                <a:cs typeface="Tahoma"/>
              </a:rPr>
              <a:t>Should </a:t>
            </a:r>
            <a:r>
              <a:rPr sz="1100" spc="-25" dirty="0">
                <a:latin typeface="Tahoma"/>
                <a:cs typeface="Tahoma"/>
              </a:rPr>
              <a:t>amplify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technology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innovations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5</a:t>
            </a:r>
            <a:r>
              <a:rPr spc="-20" dirty="0"/>
              <a:t> </a:t>
            </a:r>
            <a:r>
              <a:rPr dirty="0"/>
              <a:t>Vs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Data:</a:t>
            </a:r>
            <a:r>
              <a:rPr spc="114" dirty="0"/>
              <a:t> </a:t>
            </a:r>
            <a:r>
              <a:rPr spc="-10" dirty="0"/>
              <a:t>Value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270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876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82036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75207"/>
            <a:ext cx="4187190" cy="144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Economist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Intelligence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report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surveying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476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executives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55500"/>
              </a:lnSpc>
              <a:spcBef>
                <a:spcPts val="320"/>
              </a:spcBef>
            </a:pPr>
            <a:r>
              <a:rPr sz="1100" spc="-100" dirty="0">
                <a:latin typeface="Tahoma"/>
                <a:cs typeface="Tahoma"/>
              </a:rPr>
              <a:t>60%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feel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revenue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25" dirty="0">
                <a:latin typeface="Tahoma"/>
                <a:cs typeface="Tahoma"/>
              </a:rPr>
              <a:t> organizations </a:t>
            </a:r>
            <a:r>
              <a:rPr sz="1100" spc="-100" dirty="0">
                <a:latin typeface="Tahoma"/>
                <a:cs typeface="Tahoma"/>
              </a:rPr>
              <a:t>83%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making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existing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services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profitable</a:t>
            </a:r>
            <a:endParaRPr sz="1100">
              <a:latin typeface="Tahoma"/>
              <a:cs typeface="Tahoma"/>
            </a:endParaRPr>
          </a:p>
          <a:p>
            <a:pPr marL="289560" marR="217804">
              <a:lnSpc>
                <a:spcPct val="102600"/>
              </a:lnSpc>
              <a:spcBef>
                <a:spcPts val="700"/>
              </a:spcBef>
            </a:pPr>
            <a:r>
              <a:rPr sz="1100" spc="-100" dirty="0">
                <a:latin typeface="Tahoma"/>
                <a:cs typeface="Tahoma"/>
              </a:rPr>
              <a:t>63%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executives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Asia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said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routinely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3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US,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figure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58%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Europe, </a:t>
            </a:r>
            <a:r>
              <a:rPr sz="1100" spc="-25" dirty="0">
                <a:latin typeface="Tahoma"/>
                <a:cs typeface="Tahoma"/>
              </a:rPr>
              <a:t>56%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854" y="2084798"/>
            <a:ext cx="2057694" cy="91452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5</a:t>
            </a:r>
            <a:r>
              <a:rPr spc="-20" dirty="0"/>
              <a:t> </a:t>
            </a:r>
            <a:r>
              <a:rPr dirty="0"/>
              <a:t>Vs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Data:</a:t>
            </a:r>
            <a:r>
              <a:rPr spc="114" dirty="0"/>
              <a:t> </a:t>
            </a:r>
            <a:r>
              <a:rPr spc="-10" dirty="0"/>
              <a:t>Value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0108" y="412715"/>
            <a:ext cx="2035789" cy="28233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42414" y="2901511"/>
            <a:ext cx="976630" cy="18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9"/>
              </a:lnSpc>
              <a:spcBef>
                <a:spcPts val="100"/>
              </a:spcBef>
            </a:pP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McKinsey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Global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Institute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(May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D600"/>
                </a:solidFill>
                <a:latin typeface="Calibri"/>
                <a:cs typeface="Calibri"/>
              </a:rPr>
              <a:t>2011)</a:t>
            </a:r>
            <a:endParaRPr sz="350">
              <a:latin typeface="Calibri"/>
              <a:cs typeface="Calibri"/>
            </a:endParaRPr>
          </a:p>
          <a:p>
            <a:pPr marL="12700">
              <a:lnSpc>
                <a:spcPts val="409"/>
              </a:lnSpc>
            </a:pP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Big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Data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-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The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Next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Frontier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of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D600"/>
                </a:solidFill>
                <a:latin typeface="Calibri"/>
                <a:cs typeface="Calibri"/>
              </a:rPr>
              <a:t>Innovation,</a:t>
            </a:r>
            <a:endParaRPr sz="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Competition</a:t>
            </a:r>
            <a:r>
              <a:rPr sz="350" spc="8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and</a:t>
            </a:r>
            <a:r>
              <a:rPr sz="350" spc="8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D600"/>
                </a:solidFill>
                <a:latin typeface="Calibri"/>
                <a:cs typeface="Calibri"/>
              </a:rPr>
              <a:t>Productivity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5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Vs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Data:</a:t>
            </a:r>
            <a:r>
              <a:rPr sz="1400" u="sng" spc="114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Value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05" y="752985"/>
            <a:ext cx="4307204" cy="11660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5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Vs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Data:</a:t>
            </a:r>
            <a:r>
              <a:rPr sz="1400" u="sng" spc="114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Value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25665"/>
            <a:ext cx="4608195" cy="3030855"/>
            <a:chOff x="0" y="425665"/>
            <a:chExt cx="4608195" cy="3030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987" y="425665"/>
              <a:ext cx="4020057" cy="30303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7305" marR="139700" algn="ctr">
              <a:lnSpc>
                <a:spcPct val="100000"/>
              </a:lnSpc>
              <a:spcBef>
                <a:spcPts val="930"/>
              </a:spcBef>
            </a:pPr>
            <a:r>
              <a:rPr spc="-130" dirty="0"/>
              <a:t>Types</a:t>
            </a:r>
            <a:r>
              <a:rPr spc="-30" dirty="0"/>
              <a:t> </a:t>
            </a:r>
            <a:r>
              <a:rPr spc="-50" dirty="0"/>
              <a:t>of</a:t>
            </a:r>
            <a:r>
              <a:rPr spc="-100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2152650" cy="2105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Relational Data</a:t>
            </a:r>
            <a:endParaRPr sz="1100">
              <a:latin typeface="Tahoma"/>
              <a:cs typeface="Tahoma"/>
            </a:endParaRPr>
          </a:p>
          <a:p>
            <a:pPr marL="12700" marR="1123315">
              <a:lnSpc>
                <a:spcPct val="163000"/>
              </a:lnSpc>
            </a:pPr>
            <a:r>
              <a:rPr sz="1100" spc="-10" dirty="0">
                <a:latin typeface="Tahoma"/>
                <a:cs typeface="Tahoma"/>
              </a:rPr>
              <a:t>Text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Multimedia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dirty="0">
                <a:latin typeface="Tahoma"/>
                <a:cs typeface="Tahoma"/>
              </a:rPr>
              <a:t>Time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30" dirty="0">
                <a:latin typeface="Tahoma"/>
                <a:cs typeface="Tahoma"/>
              </a:rPr>
              <a:t>Sequential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Streams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63000"/>
              </a:lnSpc>
            </a:pPr>
            <a:r>
              <a:rPr sz="1100" spc="-35" dirty="0">
                <a:latin typeface="Tahoma"/>
                <a:cs typeface="Tahoma"/>
              </a:rPr>
              <a:t>Graphs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55" dirty="0">
                <a:latin typeface="Tahoma"/>
                <a:cs typeface="Tahoma"/>
              </a:rPr>
              <a:t>Homogeneous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Networks </a:t>
            </a:r>
            <a:r>
              <a:rPr sz="1100" spc="-35" dirty="0">
                <a:latin typeface="Tahoma"/>
                <a:cs typeface="Tahoma"/>
              </a:rPr>
              <a:t>Graphs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Heterogeneous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761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4943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27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6960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96931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24261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51590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Data:</a:t>
            </a:r>
            <a:r>
              <a:rPr spc="55" dirty="0"/>
              <a:t> </a:t>
            </a:r>
            <a:r>
              <a:rPr spc="-20" dirty="0"/>
              <a:t>Text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7120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99793"/>
            <a:ext cx="3910965" cy="16300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40" dirty="0">
                <a:latin typeface="Tahoma"/>
                <a:cs typeface="Tahoma"/>
              </a:rPr>
              <a:t>blogs,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webpages,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tweets,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documents,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emails</a:t>
            </a:r>
            <a:endParaRPr sz="1100">
              <a:latin typeface="Tahoma"/>
              <a:cs typeface="Tahoma"/>
            </a:endParaRPr>
          </a:p>
          <a:p>
            <a:pPr marL="12700" marR="33020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dimensionality,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vocabulary,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information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retrieval,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natural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language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Latest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search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engine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Walmart.com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uses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text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analysis,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machine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learning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and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even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synonym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mining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produce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relevant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search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results.</a:t>
            </a:r>
            <a:r>
              <a:rPr sz="11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Wal-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Mart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says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adding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semantic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search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has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improved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online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shoppers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completing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purchase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by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0" dirty="0">
                <a:solidFill>
                  <a:srgbClr val="0000FF"/>
                </a:solidFill>
                <a:latin typeface="Tahoma"/>
                <a:cs typeface="Tahoma"/>
              </a:rPr>
              <a:t>10%</a:t>
            </a:r>
            <a:r>
              <a:rPr sz="1100" spc="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15%.</a:t>
            </a:r>
            <a:r>
              <a:rPr sz="1100" spc="9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”In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Wal-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Mart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terms,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billions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dollars,”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192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2392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076046"/>
            <a:ext cx="4608195" cy="1380490"/>
            <a:chOff x="0" y="2076046"/>
            <a:chExt cx="4608195" cy="13804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067" y="2076046"/>
              <a:ext cx="2201843" cy="12380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Data:</a:t>
            </a:r>
            <a:r>
              <a:rPr spc="55" dirty="0"/>
              <a:t> </a:t>
            </a:r>
            <a:r>
              <a:rPr spc="-10" dirty="0"/>
              <a:t>Multimedia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31429"/>
            <a:ext cx="3963035" cy="12096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40" dirty="0">
                <a:latin typeface="Tahoma"/>
                <a:cs typeface="Tahoma"/>
              </a:rPr>
              <a:t>image, </a:t>
            </a:r>
            <a:r>
              <a:rPr sz="1100" spc="-30" dirty="0">
                <a:latin typeface="Tahoma"/>
                <a:cs typeface="Tahoma"/>
              </a:rPr>
              <a:t>audio,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video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‘Fast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food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video’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company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training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cameras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on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drive-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through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lanes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determine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what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display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its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digital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menu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board.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When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lines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longer,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menu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features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products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can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be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served up</a:t>
            </a:r>
            <a:r>
              <a:rPr sz="1100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quickly;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when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lines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shorter,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menu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features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higher-margin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items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take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longer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prepare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508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38" y="1883562"/>
            <a:ext cx="1137284" cy="74104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549927" y="2214464"/>
            <a:ext cx="2716530" cy="410209"/>
            <a:chOff x="1549927" y="2214464"/>
            <a:chExt cx="2716530" cy="41020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9927" y="2214464"/>
              <a:ext cx="2716154" cy="4101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5859" y="2398830"/>
              <a:ext cx="853078" cy="21434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Data:</a:t>
            </a:r>
            <a:r>
              <a:rPr spc="70" dirty="0"/>
              <a:t> </a:t>
            </a:r>
            <a:r>
              <a:rPr dirty="0"/>
              <a:t>Time</a:t>
            </a:r>
            <a:r>
              <a:rPr spc="-55" dirty="0"/>
              <a:t> </a:t>
            </a:r>
            <a:r>
              <a:rPr spc="-10" dirty="0"/>
              <a:t>Series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255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74824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1430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377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587" y="2099921"/>
            <a:ext cx="1389186" cy="1040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6659" y="2122590"/>
            <a:ext cx="1378985" cy="10315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8393" y="379460"/>
            <a:ext cx="3927475" cy="1790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55" dirty="0">
                <a:latin typeface="Tahoma"/>
                <a:cs typeface="Tahoma"/>
              </a:rPr>
              <a:t>Sequence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equally </a:t>
            </a:r>
            <a:r>
              <a:rPr sz="1100" spc="-60" dirty="0">
                <a:latin typeface="Tahoma"/>
                <a:cs typeface="Tahoma"/>
              </a:rPr>
              <a:t>spaced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intervals</a:t>
            </a:r>
            <a:endParaRPr sz="1100">
              <a:latin typeface="Tahoma"/>
              <a:cs typeface="Tahoma"/>
            </a:endParaRPr>
          </a:p>
          <a:p>
            <a:pPr marL="12700" marR="209550">
              <a:lnSpc>
                <a:spcPct val="102600"/>
              </a:lnSpc>
              <a:spcBef>
                <a:spcPts val="400"/>
              </a:spcBef>
            </a:pPr>
            <a:r>
              <a:rPr sz="1100" spc="-50" dirty="0">
                <a:latin typeface="Tahoma"/>
                <a:cs typeface="Tahoma"/>
              </a:rPr>
              <a:t>Sensor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Stock</a:t>
            </a:r>
            <a:r>
              <a:rPr sz="1100" spc="-40" dirty="0">
                <a:latin typeface="Tahoma"/>
                <a:cs typeface="Tahoma"/>
              </a:rPr>
              <a:t> market </a:t>
            </a:r>
            <a:r>
              <a:rPr sz="1100" spc="-20" dirty="0">
                <a:latin typeface="Tahoma"/>
                <a:cs typeface="Tahoma"/>
              </a:rPr>
              <a:t>data,</a:t>
            </a:r>
            <a:r>
              <a:rPr sz="1100" spc="-40" dirty="0">
                <a:latin typeface="Tahoma"/>
                <a:cs typeface="Tahoma"/>
              </a:rPr>
              <a:t> Forex </a:t>
            </a:r>
            <a:r>
              <a:rPr sz="1100" spc="-30" dirty="0">
                <a:latin typeface="Tahoma"/>
                <a:cs typeface="Tahoma"/>
              </a:rPr>
              <a:t>rates,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Temporal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tracking </a:t>
            </a:r>
            <a:r>
              <a:rPr sz="1100" dirty="0">
                <a:latin typeface="Tahoma"/>
                <a:cs typeface="Tahoma"/>
              </a:rPr>
              <a:t>(GPS),</a:t>
            </a:r>
            <a:r>
              <a:rPr sz="1100" spc="-20" dirty="0">
                <a:latin typeface="Tahoma"/>
                <a:cs typeface="Tahoma"/>
              </a:rPr>
              <a:t> Smart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Meters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(AMI)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395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Understanding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underlying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forces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structure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observed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data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fit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model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forecast,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monitor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control</a:t>
            </a:r>
            <a:endParaRPr sz="1100">
              <a:latin typeface="Tahoma"/>
              <a:cs typeface="Tahoma"/>
            </a:endParaRPr>
          </a:p>
          <a:p>
            <a:pPr marL="12700" marR="88265">
              <a:lnSpc>
                <a:spcPct val="102600"/>
              </a:lnSpc>
              <a:spcBef>
                <a:spcPts val="400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Economic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Forecasting,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Sales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Forecasting,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Stock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Market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Analysis,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Yield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Projections,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Process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and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Quality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Control,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Inventory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Studies,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Workload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Projections,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Census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2574290">
              <a:lnSpc>
                <a:spcPct val="100000"/>
              </a:lnSpc>
              <a:spcBef>
                <a:spcPts val="919"/>
              </a:spcBef>
            </a:pPr>
            <a:r>
              <a:rPr sz="450" dirty="0">
                <a:solidFill>
                  <a:srgbClr val="8A008A"/>
                </a:solidFill>
                <a:latin typeface="Calibri"/>
                <a:cs typeface="Calibri"/>
              </a:rPr>
              <a:t>market</a:t>
            </a:r>
            <a:r>
              <a:rPr sz="450" spc="160" dirty="0">
                <a:solidFill>
                  <a:srgbClr val="8A008A"/>
                </a:solidFill>
                <a:latin typeface="Calibri"/>
                <a:cs typeface="Calibri"/>
              </a:rPr>
              <a:t> </a:t>
            </a:r>
            <a:r>
              <a:rPr sz="450" spc="-10" dirty="0">
                <a:solidFill>
                  <a:srgbClr val="8A008A"/>
                </a:solidFill>
                <a:latin typeface="Calibri"/>
                <a:cs typeface="Calibri"/>
              </a:rPr>
              <a:t>momentum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5436" y="3161269"/>
            <a:ext cx="280860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30" dirty="0">
                <a:latin typeface="Calibri"/>
                <a:cs typeface="Calibri"/>
              </a:rPr>
              <a:t>Application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20" dirty="0">
                <a:latin typeface="Calibri"/>
                <a:cs typeface="Calibri"/>
              </a:rPr>
              <a:t>of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Time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20" dirty="0">
                <a:latin typeface="Calibri"/>
                <a:cs typeface="Calibri"/>
              </a:rPr>
              <a:t>Series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Analysis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in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Financial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Economics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by</a:t>
            </a:r>
            <a:r>
              <a:rPr sz="400" spc="165" dirty="0">
                <a:latin typeface="Calibri"/>
                <a:cs typeface="Calibri"/>
              </a:rPr>
              <a:t> </a:t>
            </a:r>
            <a:r>
              <a:rPr sz="400" spc="20" dirty="0">
                <a:latin typeface="Calibri"/>
                <a:cs typeface="Calibri"/>
              </a:rPr>
              <a:t>@Statswork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-10" dirty="0">
                <a:latin typeface="Calibri"/>
                <a:cs typeface="Calibri"/>
              </a:rPr>
              <a:t>https://link.medium.com/n3FJPzhIadb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Data:</a:t>
            </a:r>
            <a:r>
              <a:rPr spc="60" dirty="0"/>
              <a:t> </a:t>
            </a:r>
            <a:r>
              <a:rPr spc="-35" dirty="0"/>
              <a:t>Sequential</a:t>
            </a:r>
            <a:r>
              <a:rPr spc="-6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716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00212"/>
            <a:ext cx="1949450" cy="7696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50" dirty="0">
                <a:latin typeface="Tahoma"/>
                <a:cs typeface="Tahoma"/>
              </a:rPr>
              <a:t>Bio-</a:t>
            </a:r>
            <a:r>
              <a:rPr sz="1100" spc="-10" dirty="0">
                <a:latin typeface="Tahoma"/>
                <a:cs typeface="Tahoma"/>
              </a:rPr>
              <a:t>sequences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7900"/>
              </a:lnSpc>
            </a:pPr>
            <a:r>
              <a:rPr sz="1100" spc="-25" dirty="0">
                <a:latin typeface="Tahoma"/>
                <a:cs typeface="Tahoma"/>
              </a:rPr>
              <a:t>Discretized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music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audio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data </a:t>
            </a:r>
            <a:r>
              <a:rPr sz="1100" spc="-20" dirty="0">
                <a:latin typeface="Tahoma"/>
                <a:cs typeface="Tahoma"/>
              </a:rPr>
              <a:t>Text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1962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676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110" y="1205813"/>
            <a:ext cx="3114723" cy="19757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61649" y="3127378"/>
            <a:ext cx="124333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dirty="0">
                <a:latin typeface="Calibri"/>
                <a:cs typeface="Calibri"/>
              </a:rPr>
              <a:t>Source:</a:t>
            </a:r>
            <a:r>
              <a:rPr sz="600" spc="270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Sijo</a:t>
            </a:r>
            <a:r>
              <a:rPr sz="600" spc="17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Asokan</a:t>
            </a:r>
            <a:r>
              <a:rPr sz="600" spc="175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(slideshare.net)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Data:</a:t>
            </a:r>
            <a:r>
              <a:rPr spc="55" dirty="0"/>
              <a:t> </a:t>
            </a:r>
            <a:r>
              <a:rPr spc="-10" dirty="0"/>
              <a:t>Streams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8780"/>
            <a:ext cx="2361565" cy="1068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10" dirty="0">
                <a:latin typeface="Tahoma"/>
                <a:cs typeface="Tahoma"/>
              </a:rPr>
              <a:t>Real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55500"/>
              </a:lnSpc>
            </a:pPr>
            <a:r>
              <a:rPr sz="1100" spc="-25" dirty="0">
                <a:latin typeface="Tahoma"/>
                <a:cs typeface="Tahoma"/>
              </a:rPr>
              <a:t>Single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pass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algorithms/online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algorithms </a:t>
            </a:r>
            <a:r>
              <a:rPr sz="1100" spc="-55" dirty="0">
                <a:latin typeface="Tahoma"/>
                <a:cs typeface="Tahoma"/>
              </a:rPr>
              <a:t>Irreversible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decisions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Tahoma"/>
                <a:cs typeface="Tahoma"/>
              </a:rPr>
              <a:t>Small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memory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algorithms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3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241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847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585" y="2143362"/>
            <a:ext cx="2247528" cy="51636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Data:</a:t>
            </a:r>
            <a:r>
              <a:rPr spc="95" dirty="0"/>
              <a:t> </a:t>
            </a:r>
            <a:r>
              <a:rPr spc="-50" dirty="0"/>
              <a:t>Graphs/Homogeneous</a:t>
            </a:r>
            <a:r>
              <a:rPr spc="-40" dirty="0"/>
              <a:t> </a:t>
            </a:r>
            <a:r>
              <a:rPr spc="-10" dirty="0"/>
              <a:t>Networks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8780"/>
            <a:ext cx="3836035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51890">
              <a:lnSpc>
                <a:spcPct val="155500"/>
              </a:lnSpc>
              <a:spcBef>
                <a:spcPts val="100"/>
              </a:spcBef>
            </a:pPr>
            <a:r>
              <a:rPr sz="1100" i="1" dirty="0">
                <a:latin typeface="Trebuchet MS"/>
                <a:cs typeface="Trebuchet MS"/>
              </a:rPr>
              <a:t>G</a:t>
            </a:r>
            <a:r>
              <a:rPr sz="1100" i="1" spc="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V</a:t>
            </a:r>
            <a:r>
              <a:rPr sz="1100" i="1" spc="-15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E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),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items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 </a:t>
            </a:r>
            <a:r>
              <a:rPr sz="1100" spc="-10" dirty="0">
                <a:latin typeface="Tahoma"/>
                <a:cs typeface="Tahoma"/>
              </a:rPr>
              <a:t>Could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similarity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edges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-10" dirty="0">
                <a:latin typeface="Tahoma"/>
                <a:cs typeface="Tahoma"/>
              </a:rPr>
              <a:t>Could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weights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vertices,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both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00"/>
              </a:spcBef>
            </a:pPr>
            <a:r>
              <a:rPr sz="1100" spc="-35" dirty="0">
                <a:latin typeface="Tahoma"/>
                <a:cs typeface="Tahoma"/>
              </a:rPr>
              <a:t>Facebook,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webgraph,</a:t>
            </a:r>
            <a:r>
              <a:rPr sz="1100" spc="-10" dirty="0">
                <a:latin typeface="Tahoma"/>
                <a:cs typeface="Tahoma"/>
              </a:rPr>
              <a:t> twitter, </a:t>
            </a:r>
            <a:r>
              <a:rPr sz="1100" spc="-45" dirty="0">
                <a:latin typeface="Tahoma"/>
                <a:cs typeface="Tahoma"/>
              </a:rPr>
              <a:t>co-</a:t>
            </a:r>
            <a:r>
              <a:rPr sz="1100" spc="-40" dirty="0">
                <a:latin typeface="Tahoma"/>
                <a:cs typeface="Tahoma"/>
              </a:rPr>
              <a:t>authorship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(bibliometric), </a:t>
            </a:r>
            <a:r>
              <a:rPr sz="1100" dirty="0">
                <a:latin typeface="Tahoma"/>
                <a:cs typeface="Tahoma"/>
              </a:rPr>
              <a:t>citation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3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241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847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366" y="1954981"/>
            <a:ext cx="2943256" cy="111808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Data:</a:t>
            </a:r>
            <a:r>
              <a:rPr spc="75" dirty="0"/>
              <a:t> </a:t>
            </a:r>
            <a:r>
              <a:rPr spc="-65" dirty="0"/>
              <a:t>Heterogeneous</a:t>
            </a:r>
            <a:r>
              <a:rPr spc="-45" dirty="0"/>
              <a:t> </a:t>
            </a:r>
            <a:r>
              <a:rPr spc="-10" dirty="0"/>
              <a:t>Networks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8780"/>
            <a:ext cx="193421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5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Nodes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represent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entities </a:t>
            </a:r>
            <a:r>
              <a:rPr sz="1100" spc="-25" dirty="0">
                <a:latin typeface="Tahoma"/>
                <a:cs typeface="Tahoma"/>
              </a:rPr>
              <a:t>Authors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conferences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3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366" y="1272419"/>
            <a:ext cx="2943256" cy="111808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930"/>
              </a:spcBef>
            </a:pPr>
            <a:r>
              <a:rPr spc="-50" dirty="0"/>
              <a:t>Data</a:t>
            </a:r>
            <a:r>
              <a:rPr spc="-110" dirty="0"/>
              <a:t> </a:t>
            </a:r>
            <a:r>
              <a:rPr spc="-65" dirty="0"/>
              <a:t>Analytics:</a:t>
            </a:r>
            <a:r>
              <a:rPr spc="55" dirty="0"/>
              <a:t> </a:t>
            </a:r>
            <a:r>
              <a:rPr spc="-95" dirty="0"/>
              <a:t>Process</a:t>
            </a:r>
            <a:r>
              <a:rPr spc="-65" dirty="0"/>
              <a:t> </a:t>
            </a:r>
            <a:r>
              <a:rPr spc="-140" dirty="0"/>
              <a:t>and</a:t>
            </a:r>
            <a:r>
              <a:rPr spc="-20" dirty="0"/>
              <a:t> </a:t>
            </a:r>
            <a:r>
              <a:rPr spc="-10" dirty="0"/>
              <a:t>Tasks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Analytics</a:t>
            </a:r>
            <a:r>
              <a:rPr spc="-35" dirty="0"/>
              <a:t> </a:t>
            </a:r>
            <a:r>
              <a:rPr spc="-10" dirty="0"/>
              <a:t>Process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80360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0186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2337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144887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70418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195068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216576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681" y="238086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25959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681" y="28110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302614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8393" y="372276"/>
            <a:ext cx="3773170" cy="27482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Business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Objective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80"/>
              </a:spcBef>
            </a:pPr>
            <a:r>
              <a:rPr sz="1000" dirty="0">
                <a:latin typeface="Tahoma"/>
                <a:cs typeface="Tahoma"/>
              </a:rPr>
              <a:t>Why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we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seeking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25" dirty="0">
                <a:latin typeface="Tahoma"/>
                <a:cs typeface="Tahoma"/>
              </a:rPr>
              <a:t> analytics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first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place?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ct val="141100"/>
              </a:lnSpc>
            </a:pPr>
            <a:r>
              <a:rPr sz="1000" spc="-10" dirty="0">
                <a:latin typeface="Tahoma"/>
                <a:cs typeface="Tahoma"/>
              </a:rPr>
              <a:t>How</a:t>
            </a:r>
            <a:r>
              <a:rPr sz="1000" spc="-20" dirty="0">
                <a:latin typeface="Tahoma"/>
                <a:cs typeface="Tahoma"/>
              </a:rPr>
              <a:t> can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80" dirty="0">
                <a:latin typeface="Tahoma"/>
                <a:cs typeface="Tahoma"/>
              </a:rPr>
              <a:t>we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reduce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production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costs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without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sacrificing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quality? </a:t>
            </a:r>
            <a:r>
              <a:rPr sz="1000" dirty="0">
                <a:latin typeface="Tahoma"/>
                <a:cs typeface="Tahoma"/>
              </a:rPr>
              <a:t>What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some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ways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increase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sales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0" dirty="0">
                <a:latin typeface="Tahoma"/>
                <a:cs typeface="Tahoma"/>
              </a:rPr>
              <a:t> our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resources? </a:t>
            </a:r>
            <a:r>
              <a:rPr sz="1000" dirty="0">
                <a:latin typeface="Tahoma"/>
                <a:cs typeface="Tahoma"/>
              </a:rPr>
              <a:t>Do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customers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view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our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brand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favorable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way?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Collection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80"/>
              </a:spcBef>
            </a:pPr>
            <a:r>
              <a:rPr sz="1000" dirty="0">
                <a:latin typeface="Tahoma"/>
                <a:cs typeface="Tahoma"/>
              </a:rPr>
              <a:t>What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needed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available?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95"/>
              </a:spcBef>
            </a:pPr>
            <a:r>
              <a:rPr sz="1000" spc="-35" dirty="0">
                <a:latin typeface="Tahoma"/>
                <a:cs typeface="Tahoma"/>
              </a:rPr>
              <a:t>Identify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sources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45" dirty="0">
                <a:latin typeface="Tahoma"/>
                <a:cs typeface="Tahoma"/>
              </a:rPr>
              <a:t>relevance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89560" marR="360680">
              <a:lnSpc>
                <a:spcPct val="141100"/>
              </a:lnSpc>
            </a:pPr>
            <a:r>
              <a:rPr sz="100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enough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instances,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relevant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features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there? </a:t>
            </a:r>
            <a:r>
              <a:rPr sz="1000" spc="-35" dirty="0">
                <a:latin typeface="Tahoma"/>
                <a:cs typeface="Tahoma"/>
              </a:rPr>
              <a:t>Identify datasets,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acquire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spc="-10" dirty="0">
                <a:latin typeface="Tahoma"/>
                <a:cs typeface="Tahoma"/>
              </a:rPr>
              <a:t>retrieve</a:t>
            </a:r>
            <a:endParaRPr sz="1000">
              <a:latin typeface="Tahoma"/>
              <a:cs typeface="Tahoma"/>
            </a:endParaRPr>
          </a:p>
          <a:p>
            <a:pPr marL="289560" marR="557530">
              <a:lnSpc>
                <a:spcPct val="141100"/>
              </a:lnSpc>
            </a:pPr>
            <a:r>
              <a:rPr sz="1000" spc="-40" dirty="0">
                <a:latin typeface="Tahoma"/>
                <a:cs typeface="Tahoma"/>
              </a:rPr>
              <a:t>Sources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RDBMS,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.txt,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webservices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(soup),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RSS,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tweets </a:t>
            </a:r>
            <a:r>
              <a:rPr sz="1000" spc="-30" dirty="0">
                <a:latin typeface="Tahoma"/>
                <a:cs typeface="Tahoma"/>
              </a:rPr>
              <a:t>Experiments,</a:t>
            </a:r>
            <a:r>
              <a:rPr sz="1000" spc="-25" dirty="0">
                <a:latin typeface="Tahoma"/>
                <a:cs typeface="Tahoma"/>
              </a:rPr>
              <a:t> synthetic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generation,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Survey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Analytics</a:t>
            </a:r>
            <a:r>
              <a:rPr spc="-35" dirty="0"/>
              <a:t> </a:t>
            </a:r>
            <a:r>
              <a:rPr spc="-10" dirty="0"/>
              <a:t>Process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80360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0186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2337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64092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18874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21025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35781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681" y="260430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8393" y="372276"/>
            <a:ext cx="3728085" cy="24784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Preparation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80"/>
              </a:spcBef>
            </a:pPr>
            <a:r>
              <a:rPr sz="1000" dirty="0">
                <a:latin typeface="Tahoma"/>
                <a:cs typeface="Tahoma"/>
              </a:rPr>
              <a:t>Make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ready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90"/>
              </a:spcBef>
            </a:pPr>
            <a:r>
              <a:rPr sz="1000" spc="-25" dirty="0">
                <a:latin typeface="Tahoma"/>
                <a:cs typeface="Tahoma"/>
              </a:rPr>
              <a:t>Exploratory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20" dirty="0">
                <a:latin typeface="Tahoma"/>
                <a:cs typeface="Tahoma"/>
              </a:rPr>
              <a:t> Analysis </a:t>
            </a:r>
            <a:r>
              <a:rPr sz="1000" spc="-25" dirty="0">
                <a:latin typeface="Tahoma"/>
                <a:cs typeface="Tahoma"/>
              </a:rPr>
              <a:t>Describe,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Summarize,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Visualize</a:t>
            </a:r>
            <a:endParaRPr sz="1000">
              <a:latin typeface="Tahoma"/>
              <a:cs typeface="Tahoma"/>
            </a:endParaRPr>
          </a:p>
          <a:p>
            <a:pPr marL="289560" marR="153035">
              <a:lnSpc>
                <a:spcPct val="100000"/>
              </a:lnSpc>
              <a:spcBef>
                <a:spcPts val="495"/>
              </a:spcBef>
            </a:pPr>
            <a:r>
              <a:rPr sz="1000" spc="-25" dirty="0">
                <a:latin typeface="Tahoma"/>
                <a:cs typeface="Tahoma"/>
              </a:rPr>
              <a:t>Pre-</a:t>
            </a:r>
            <a:r>
              <a:rPr sz="1000" spc="-40" dirty="0">
                <a:latin typeface="Tahoma"/>
                <a:cs typeface="Tahoma"/>
              </a:rPr>
              <a:t>process: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Improve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quality,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clean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transformation, standardization,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normalization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75"/>
              </a:spcBef>
            </a:pPr>
            <a:r>
              <a:rPr sz="1000" dirty="0">
                <a:latin typeface="Tahoma"/>
                <a:cs typeface="Tahoma"/>
              </a:rPr>
              <a:t>Apply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analytical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techniques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95"/>
              </a:spcBef>
            </a:pPr>
            <a:r>
              <a:rPr sz="1000" spc="-40" dirty="0">
                <a:latin typeface="Tahoma"/>
                <a:cs typeface="Tahoma"/>
              </a:rPr>
              <a:t>Supervised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unsupervised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learning,</a:t>
            </a:r>
            <a:r>
              <a:rPr sz="1000" spc="-20" dirty="0">
                <a:latin typeface="Tahoma"/>
                <a:cs typeface="Tahoma"/>
              </a:rPr>
              <a:t> Graph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Report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Deployment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680"/>
              </a:spcBef>
            </a:pPr>
            <a:r>
              <a:rPr sz="1000" spc="-30" dirty="0">
                <a:latin typeface="Tahoma"/>
                <a:cs typeface="Tahoma"/>
              </a:rPr>
              <a:t>Communicate results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30" dirty="0">
                <a:latin typeface="Tahoma"/>
                <a:cs typeface="Tahoma"/>
              </a:rPr>
              <a:t>findings,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20" dirty="0">
                <a:latin typeface="Tahoma"/>
                <a:cs typeface="Tahoma"/>
              </a:rPr>
              <a:t>apply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conclusions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gain </a:t>
            </a:r>
            <a:r>
              <a:rPr sz="1000" spc="-10" dirty="0">
                <a:latin typeface="Tahoma"/>
                <a:cs typeface="Tahoma"/>
              </a:rPr>
              <a:t>benefit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The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spc="-3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Process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05" y="752990"/>
            <a:ext cx="4307204" cy="205476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Analytics</a:t>
            </a:r>
            <a:r>
              <a:rPr spc="-50" dirty="0"/>
              <a:t> </a:t>
            </a:r>
            <a:r>
              <a:rPr spc="-30" dirty="0"/>
              <a:t>Tasks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10" dirty="0"/>
              <a:t>Methods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9577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9312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284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6638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75207"/>
            <a:ext cx="3898900" cy="1684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Analytics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process</a:t>
            </a:r>
            <a:endParaRPr sz="1100">
              <a:latin typeface="Tahoma"/>
              <a:cs typeface="Tahoma"/>
            </a:endParaRPr>
          </a:p>
          <a:p>
            <a:pPr marL="289560" marR="2004060">
              <a:lnSpc>
                <a:spcPct val="140400"/>
              </a:lnSpc>
              <a:spcBef>
                <a:spcPts val="124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discover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patterns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data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(automatically)</a:t>
            </a:r>
            <a:r>
              <a:rPr sz="1100" spc="-20" dirty="0">
                <a:latin typeface="Tahoma"/>
                <a:cs typeface="Tahoma"/>
              </a:rPr>
              <a:t> extract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from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understandable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useful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35" dirty="0">
                <a:latin typeface="Tahoma"/>
                <a:cs typeface="Tahoma"/>
              </a:rPr>
              <a:t>Discovering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often </a:t>
            </a:r>
            <a:r>
              <a:rPr sz="1100" spc="-50" dirty="0">
                <a:latin typeface="Tahoma"/>
                <a:cs typeface="Tahoma"/>
              </a:rPr>
              <a:t>requires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Analytics</a:t>
            </a:r>
            <a:r>
              <a:rPr spc="-50" dirty="0"/>
              <a:t> </a:t>
            </a:r>
            <a:r>
              <a:rPr spc="-30" dirty="0"/>
              <a:t>Tasks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10" dirty="0"/>
              <a:t>Methods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38417" y="7749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8417" y="10102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8417" y="124559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417" y="14809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5755" y="20747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5755" y="23100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5755" y="25454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5755" y="278074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5755" y="30160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1305" y="339989"/>
            <a:ext cx="4272280" cy="27781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Descriptive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Analytics</a:t>
            </a:r>
            <a:endParaRPr sz="1100">
              <a:latin typeface="Tahoma"/>
              <a:cs typeface="Tahoma"/>
            </a:endParaRPr>
          </a:p>
          <a:p>
            <a:pPr marL="137795" marR="200025">
              <a:lnSpc>
                <a:spcPct val="140400"/>
              </a:lnSpc>
              <a:spcBef>
                <a:spcPts val="160"/>
              </a:spcBef>
            </a:pPr>
            <a:r>
              <a:rPr sz="1100" spc="-30" dirty="0">
                <a:latin typeface="Tahoma"/>
                <a:cs typeface="Tahoma"/>
              </a:rPr>
              <a:t>Uncover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patterns,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trends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trajectories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30" dirty="0">
                <a:latin typeface="Tahoma"/>
                <a:cs typeface="Tahoma"/>
              </a:rPr>
              <a:t>Explanatory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nature</a:t>
            </a:r>
            <a:endParaRPr sz="1100">
              <a:latin typeface="Tahoma"/>
              <a:cs typeface="Tahoma"/>
            </a:endParaRPr>
          </a:p>
          <a:p>
            <a:pPr marL="137795" marR="45720">
              <a:lnSpc>
                <a:spcPct val="140400"/>
              </a:lnSpc>
            </a:pPr>
            <a:r>
              <a:rPr sz="1100" spc="-35" dirty="0">
                <a:latin typeface="Tahoma"/>
                <a:cs typeface="Tahoma"/>
              </a:rPr>
              <a:t>Require </a:t>
            </a:r>
            <a:r>
              <a:rPr sz="1100" spc="-40" dirty="0">
                <a:latin typeface="Tahoma"/>
                <a:cs typeface="Tahoma"/>
              </a:rPr>
              <a:t>post-</a:t>
            </a:r>
            <a:r>
              <a:rPr sz="1100" spc="-50" dirty="0">
                <a:latin typeface="Tahoma"/>
                <a:cs typeface="Tahoma"/>
              </a:rPr>
              <a:t>processing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validate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explain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results </a:t>
            </a:r>
            <a:r>
              <a:rPr sz="1100" spc="-30" dirty="0">
                <a:latin typeface="Tahoma"/>
                <a:cs typeface="Tahoma"/>
              </a:rPr>
              <a:t>Clustering/grouping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Detecting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(anomalies)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Predictive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Analytics</a:t>
            </a:r>
            <a:endParaRPr sz="1100">
              <a:latin typeface="Tahoma"/>
              <a:cs typeface="Tahoma"/>
            </a:endParaRPr>
          </a:p>
          <a:p>
            <a:pPr marL="125095" marR="505459">
              <a:lnSpc>
                <a:spcPct val="140400"/>
              </a:lnSpc>
              <a:spcBef>
                <a:spcPts val="160"/>
              </a:spcBef>
            </a:pPr>
            <a:r>
              <a:rPr sz="1100" dirty="0">
                <a:latin typeface="Tahoma"/>
                <a:cs typeface="Tahoma"/>
              </a:rPr>
              <a:t>Predict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attribute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 </a:t>
            </a:r>
            <a:r>
              <a:rPr sz="1100" spc="-20" dirty="0">
                <a:latin typeface="Tahoma"/>
                <a:cs typeface="Tahoma"/>
              </a:rPr>
              <a:t>Predicted</a:t>
            </a:r>
            <a:r>
              <a:rPr sz="1100" spc="-10" dirty="0">
                <a:latin typeface="Tahoma"/>
                <a:cs typeface="Tahoma"/>
              </a:rPr>
              <a:t> attribute: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Target/dependent/response</a:t>
            </a:r>
            <a:r>
              <a:rPr sz="1100" spc="-10" dirty="0">
                <a:latin typeface="Tahoma"/>
                <a:cs typeface="Tahoma"/>
              </a:rPr>
              <a:t> variable</a:t>
            </a:r>
            <a:endParaRPr sz="1100">
              <a:latin typeface="Tahoma"/>
              <a:cs typeface="Tahoma"/>
            </a:endParaRPr>
          </a:p>
          <a:p>
            <a:pPr marL="125095" marR="5080">
              <a:lnSpc>
                <a:spcPct val="140400"/>
              </a:lnSpc>
            </a:pPr>
            <a:r>
              <a:rPr sz="1100" spc="-20" dirty="0">
                <a:latin typeface="Tahoma"/>
                <a:cs typeface="Tahoma"/>
              </a:rPr>
              <a:t>Attributes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used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predict: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Predictor/explanatory/independent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 </a:t>
            </a:r>
            <a:r>
              <a:rPr sz="1100" spc="-25" dirty="0">
                <a:latin typeface="Tahoma"/>
                <a:cs typeface="Tahoma"/>
              </a:rPr>
              <a:t>Classification: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attribute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(class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labels)</a:t>
            </a:r>
            <a:endParaRPr sz="1100">
              <a:latin typeface="Tahoma"/>
              <a:cs typeface="Tahoma"/>
            </a:endParaRPr>
          </a:p>
          <a:p>
            <a:pPr marL="125095">
              <a:lnSpc>
                <a:spcPct val="100000"/>
              </a:lnSpc>
              <a:spcBef>
                <a:spcPts val="530"/>
              </a:spcBef>
            </a:pPr>
            <a:r>
              <a:rPr sz="1100" spc="-50" dirty="0">
                <a:latin typeface="Tahoma"/>
                <a:cs typeface="Tahoma"/>
              </a:rPr>
              <a:t>Regression: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Analytics</a:t>
            </a:r>
            <a:r>
              <a:rPr spc="-40" dirty="0"/>
              <a:t> </a:t>
            </a:r>
            <a:r>
              <a:rPr spc="-20" dirty="0"/>
              <a:t>Taks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73060"/>
            <a:ext cx="3997325" cy="279908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Clustering:</a:t>
            </a:r>
            <a:r>
              <a:rPr sz="1100" spc="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Partition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meaningful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groups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55500"/>
              </a:lnSpc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Outlier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Detection: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Detect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unusual </a:t>
            </a:r>
            <a:r>
              <a:rPr sz="1100" spc="-25" dirty="0">
                <a:latin typeface="Tahoma"/>
                <a:cs typeface="Tahoma"/>
              </a:rPr>
              <a:t>(unlike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others)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Classification:</a:t>
            </a:r>
            <a:r>
              <a:rPr sz="11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Assign </a:t>
            </a:r>
            <a:r>
              <a:rPr sz="1100" spc="-45" dirty="0">
                <a:latin typeface="Tahoma"/>
                <a:cs typeface="Tahoma"/>
              </a:rPr>
              <a:t>(predefined)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class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labels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Regression:</a:t>
            </a:r>
            <a:r>
              <a:rPr sz="1100" spc="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models</a:t>
            </a:r>
            <a:r>
              <a:rPr sz="1100" spc="-35" dirty="0">
                <a:latin typeface="Tahoma"/>
                <a:cs typeface="Tahoma"/>
              </a:rPr>
              <a:t> (continuous)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12700" marR="685165">
              <a:lnSpc>
                <a:spcPct val="102600"/>
              </a:lnSpc>
              <a:spcBef>
                <a:spcPts val="69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Association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Analysis: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patterns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describe </a:t>
            </a:r>
            <a:r>
              <a:rPr sz="1100" spc="-10" dirty="0">
                <a:latin typeface="Tahoma"/>
                <a:cs typeface="Tahoma"/>
              </a:rPr>
              <a:t>relationships</a:t>
            </a:r>
            <a:endParaRPr sz="1100">
              <a:latin typeface="Tahoma"/>
              <a:cs typeface="Tahoma"/>
            </a:endParaRPr>
          </a:p>
          <a:p>
            <a:pPr marL="12700" marR="361315">
              <a:lnSpc>
                <a:spcPct val="102600"/>
              </a:lnSpc>
              <a:spcBef>
                <a:spcPts val="700"/>
              </a:spcBef>
            </a:pP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Recommendation:</a:t>
            </a:r>
            <a:r>
              <a:rPr sz="1100" spc="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Predict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 </a:t>
            </a:r>
            <a:r>
              <a:rPr sz="1100" spc="-10" dirty="0">
                <a:latin typeface="Tahoma"/>
                <a:cs typeface="Tahoma"/>
              </a:rPr>
              <a:t>ratings</a:t>
            </a:r>
            <a:endParaRPr sz="1100">
              <a:latin typeface="Tahoma"/>
              <a:cs typeface="Tahoma"/>
            </a:endParaRPr>
          </a:p>
          <a:p>
            <a:pPr marL="12700" marR="81915">
              <a:lnSpc>
                <a:spcPct val="102699"/>
              </a:lnSpc>
              <a:spcBef>
                <a:spcPts val="69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Community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Detection: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(overlapping)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communities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  <a:p>
            <a:pPr marL="12700" marR="456565">
              <a:lnSpc>
                <a:spcPct val="102600"/>
              </a:lnSpc>
              <a:spcBef>
                <a:spcPts val="70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Centrality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Important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nodes:</a:t>
            </a:r>
            <a:r>
              <a:rPr sz="1100" spc="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evaluate importance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of)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1776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784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3904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59969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03240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46512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8978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Machine</a:t>
            </a:r>
            <a:r>
              <a:rPr spc="-50" dirty="0"/>
              <a:t> </a:t>
            </a:r>
            <a:r>
              <a:rPr spc="-40" dirty="0"/>
              <a:t>Learning</a:t>
            </a:r>
            <a:r>
              <a:rPr spc="-45" dirty="0"/>
              <a:t> </a:t>
            </a:r>
            <a:r>
              <a:rPr spc="-10" dirty="0"/>
              <a:t>for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206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2280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6354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87079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29487"/>
            <a:ext cx="4196715" cy="1543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Supervised</a:t>
            </a:r>
            <a:r>
              <a:rPr sz="11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endParaRPr sz="1100">
              <a:latin typeface="Arial"/>
              <a:cs typeface="Arial"/>
            </a:endParaRPr>
          </a:p>
          <a:p>
            <a:pPr marL="289560" marR="405765">
              <a:lnSpc>
                <a:spcPct val="102699"/>
              </a:lnSpc>
              <a:spcBef>
                <a:spcPts val="102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items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results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(values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target </a:t>
            </a:r>
            <a:r>
              <a:rPr sz="1100" spc="-35" dirty="0">
                <a:latin typeface="Tahoma"/>
                <a:cs typeface="Tahoma"/>
              </a:rPr>
              <a:t>variable)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(ground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truth)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49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want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learn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generalizes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i.e.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40" dirty="0">
                <a:latin typeface="Tahoma"/>
                <a:cs typeface="Tahoma"/>
              </a:rPr>
              <a:t>perform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accurately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new/unseen/unlabeled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items</a:t>
            </a:r>
            <a:endParaRPr sz="1100">
              <a:latin typeface="Tahoma"/>
              <a:cs typeface="Tahoma"/>
            </a:endParaRPr>
          </a:p>
          <a:p>
            <a:pPr marL="289560" marR="651510">
              <a:lnSpc>
                <a:spcPct val="140400"/>
              </a:lnSpc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Classification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target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categorical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attribute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Regression</a:t>
            </a:r>
            <a:r>
              <a:rPr sz="1100" spc="-5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target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continuous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403" y="2534124"/>
            <a:ext cx="794385" cy="14414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040">
              <a:lnSpc>
                <a:spcPts val="944"/>
              </a:lnSpc>
            </a:pPr>
            <a:r>
              <a:rPr sz="850" dirty="0">
                <a:latin typeface="Calibri"/>
                <a:cs typeface="Calibri"/>
              </a:rPr>
              <a:t>Training</a:t>
            </a:r>
            <a:r>
              <a:rPr sz="850" spc="345" dirty="0">
                <a:latin typeface="Calibri"/>
                <a:cs typeface="Calibri"/>
              </a:rPr>
              <a:t> </a:t>
            </a:r>
            <a:r>
              <a:rPr sz="850" spc="-20" dirty="0">
                <a:latin typeface="Calibri"/>
                <a:cs typeface="Calibri"/>
              </a:rPr>
              <a:t>Data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503" y="2900997"/>
            <a:ext cx="802005" cy="1193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ts val="940"/>
              </a:lnSpc>
            </a:pPr>
            <a:r>
              <a:rPr sz="850" dirty="0">
                <a:latin typeface="Calibri"/>
                <a:cs typeface="Calibri"/>
              </a:rPr>
              <a:t>Known</a:t>
            </a:r>
            <a:r>
              <a:rPr sz="850" spc="270" dirty="0">
                <a:latin typeface="Calibri"/>
                <a:cs typeface="Calibri"/>
              </a:rPr>
              <a:t> </a:t>
            </a:r>
            <a:r>
              <a:rPr sz="850" spc="-10" dirty="0">
                <a:latin typeface="Calibri"/>
                <a:cs typeface="Calibri"/>
              </a:rPr>
              <a:t>Labels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5099" y="2729905"/>
            <a:ext cx="349885" cy="1193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940"/>
              </a:lnSpc>
            </a:pPr>
            <a:r>
              <a:rPr sz="850" spc="-10" dirty="0">
                <a:latin typeface="Calibri"/>
                <a:cs typeface="Calibri"/>
              </a:rPr>
              <a:t>Model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8353" y="2308199"/>
            <a:ext cx="523240" cy="1174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925"/>
              </a:lnSpc>
            </a:pPr>
            <a:r>
              <a:rPr sz="850" dirty="0">
                <a:latin typeface="Calibri"/>
                <a:cs typeface="Calibri"/>
              </a:rPr>
              <a:t>Test</a:t>
            </a:r>
            <a:r>
              <a:rPr sz="850" spc="185" dirty="0">
                <a:latin typeface="Calibri"/>
                <a:cs typeface="Calibri"/>
              </a:rPr>
              <a:t> </a:t>
            </a:r>
            <a:r>
              <a:rPr sz="850" spc="-20" dirty="0">
                <a:latin typeface="Calibri"/>
                <a:cs typeface="Calibri"/>
              </a:rPr>
              <a:t>Data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95733" y="2603314"/>
            <a:ext cx="511175" cy="165100"/>
            <a:chOff x="1195733" y="2603314"/>
            <a:chExt cx="511175" cy="165100"/>
          </a:xfrm>
        </p:grpSpPr>
        <p:sp>
          <p:nvSpPr>
            <p:cNvPr id="13" name="object 13"/>
            <p:cNvSpPr/>
            <p:nvPr/>
          </p:nvSpPr>
          <p:spPr>
            <a:xfrm>
              <a:off x="1197257" y="2604838"/>
              <a:ext cx="508000" cy="161290"/>
            </a:xfrm>
            <a:custGeom>
              <a:avLst/>
              <a:gdLst/>
              <a:ahLst/>
              <a:cxnLst/>
              <a:rect l="l" t="t" r="r" b="b"/>
              <a:pathLst>
                <a:path w="508000" h="161289">
                  <a:moveTo>
                    <a:pt x="0" y="0"/>
                  </a:moveTo>
                  <a:lnTo>
                    <a:pt x="507834" y="1610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48879" y="2732824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10736" y="0"/>
                  </a:moveTo>
                  <a:lnTo>
                    <a:pt x="0" y="33863"/>
                  </a:lnTo>
                  <a:lnTo>
                    <a:pt x="56212" y="33055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48879" y="2732824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56212" y="33055"/>
                  </a:moveTo>
                  <a:lnTo>
                    <a:pt x="10736" y="0"/>
                  </a:lnTo>
                  <a:lnTo>
                    <a:pt x="0" y="33863"/>
                  </a:lnTo>
                  <a:lnTo>
                    <a:pt x="56212" y="3305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199634" y="2815447"/>
            <a:ext cx="507365" cy="149225"/>
            <a:chOff x="1199634" y="2815447"/>
            <a:chExt cx="507365" cy="149225"/>
          </a:xfrm>
        </p:grpSpPr>
        <p:sp>
          <p:nvSpPr>
            <p:cNvPr id="17" name="object 17"/>
            <p:cNvSpPr/>
            <p:nvPr/>
          </p:nvSpPr>
          <p:spPr>
            <a:xfrm>
              <a:off x="1201158" y="2819425"/>
              <a:ext cx="504190" cy="144145"/>
            </a:xfrm>
            <a:custGeom>
              <a:avLst/>
              <a:gdLst/>
              <a:ahLst/>
              <a:cxnLst/>
              <a:rect l="l" t="t" r="r" b="b"/>
              <a:pathLst>
                <a:path w="504189" h="144144">
                  <a:moveTo>
                    <a:pt x="0" y="143720"/>
                  </a:moveTo>
                  <a:lnTo>
                    <a:pt x="5039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48924" y="2816971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0" y="0"/>
                  </a:moveTo>
                  <a:lnTo>
                    <a:pt x="9745" y="34160"/>
                  </a:lnTo>
                  <a:lnTo>
                    <a:pt x="56167" y="24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48924" y="2816971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56167" y="2453"/>
                  </a:moveTo>
                  <a:lnTo>
                    <a:pt x="0" y="0"/>
                  </a:lnTo>
                  <a:lnTo>
                    <a:pt x="9745" y="34160"/>
                  </a:lnTo>
                  <a:lnTo>
                    <a:pt x="56167" y="24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53181" y="2364267"/>
            <a:ext cx="511175" cy="422909"/>
            <a:chOff x="2053181" y="2364267"/>
            <a:chExt cx="511175" cy="422909"/>
          </a:xfrm>
        </p:grpSpPr>
        <p:sp>
          <p:nvSpPr>
            <p:cNvPr id="21" name="object 21"/>
            <p:cNvSpPr/>
            <p:nvPr/>
          </p:nvSpPr>
          <p:spPr>
            <a:xfrm>
              <a:off x="2141435" y="2365791"/>
              <a:ext cx="421640" cy="191135"/>
            </a:xfrm>
            <a:custGeom>
              <a:avLst/>
              <a:gdLst/>
              <a:ahLst/>
              <a:cxnLst/>
              <a:rect l="l" t="t" r="r" b="b"/>
              <a:pathLst>
                <a:path w="421639" h="191135">
                  <a:moveTo>
                    <a:pt x="0" y="0"/>
                  </a:moveTo>
                  <a:lnTo>
                    <a:pt x="421104" y="1909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06624" y="2518549"/>
              <a:ext cx="56515" cy="38735"/>
            </a:xfrm>
            <a:custGeom>
              <a:avLst/>
              <a:gdLst/>
              <a:ahLst/>
              <a:cxnLst/>
              <a:rect l="l" t="t" r="r" b="b"/>
              <a:pathLst>
                <a:path w="56514" h="38735">
                  <a:moveTo>
                    <a:pt x="14676" y="0"/>
                  </a:moveTo>
                  <a:lnTo>
                    <a:pt x="0" y="32354"/>
                  </a:lnTo>
                  <a:lnTo>
                    <a:pt x="55915" y="38206"/>
                  </a:lnTo>
                  <a:lnTo>
                    <a:pt x="14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4705" y="2518549"/>
              <a:ext cx="508000" cy="267335"/>
            </a:xfrm>
            <a:custGeom>
              <a:avLst/>
              <a:gdLst/>
              <a:ahLst/>
              <a:cxnLst/>
              <a:rect l="l" t="t" r="r" b="b"/>
              <a:pathLst>
                <a:path w="508000" h="267335">
                  <a:moveTo>
                    <a:pt x="507834" y="38206"/>
                  </a:moveTo>
                  <a:lnTo>
                    <a:pt x="466595" y="0"/>
                  </a:lnTo>
                  <a:lnTo>
                    <a:pt x="451919" y="32354"/>
                  </a:lnTo>
                  <a:lnTo>
                    <a:pt x="507834" y="38206"/>
                  </a:lnTo>
                  <a:close/>
                </a:path>
                <a:path w="508000" h="267335">
                  <a:moveTo>
                    <a:pt x="0" y="266829"/>
                  </a:moveTo>
                  <a:lnTo>
                    <a:pt x="507834" y="831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06342" y="2601676"/>
              <a:ext cx="56515" cy="34925"/>
            </a:xfrm>
            <a:custGeom>
              <a:avLst/>
              <a:gdLst/>
              <a:ahLst/>
              <a:cxnLst/>
              <a:rect l="l" t="t" r="r" b="b"/>
              <a:pathLst>
                <a:path w="56514" h="34925">
                  <a:moveTo>
                    <a:pt x="56197" y="0"/>
                  </a:moveTo>
                  <a:lnTo>
                    <a:pt x="0" y="1440"/>
                  </a:lnTo>
                  <a:lnTo>
                    <a:pt x="12077" y="34846"/>
                  </a:lnTo>
                  <a:lnTo>
                    <a:pt x="56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06342" y="2601676"/>
              <a:ext cx="56515" cy="34925"/>
            </a:xfrm>
            <a:custGeom>
              <a:avLst/>
              <a:gdLst/>
              <a:ahLst/>
              <a:cxnLst/>
              <a:rect l="l" t="t" r="r" b="b"/>
              <a:pathLst>
                <a:path w="56514" h="34925">
                  <a:moveTo>
                    <a:pt x="56197" y="0"/>
                  </a:moveTo>
                  <a:lnTo>
                    <a:pt x="0" y="1440"/>
                  </a:lnTo>
                  <a:lnTo>
                    <a:pt x="12077" y="34846"/>
                  </a:lnTo>
                  <a:lnTo>
                    <a:pt x="5619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68392" y="2511584"/>
            <a:ext cx="1568450" cy="1536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990"/>
              </a:lnSpc>
            </a:pPr>
            <a:r>
              <a:rPr sz="850" dirty="0">
                <a:latin typeface="Calibri"/>
                <a:cs typeface="Calibri"/>
              </a:rPr>
              <a:t>Predict</a:t>
            </a:r>
            <a:r>
              <a:rPr sz="850" spc="25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Target</a:t>
            </a:r>
            <a:r>
              <a:rPr sz="850" spc="25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Variable</a:t>
            </a:r>
            <a:r>
              <a:rPr sz="850" spc="250" dirty="0">
                <a:latin typeface="Calibri"/>
                <a:cs typeface="Calibri"/>
              </a:rPr>
              <a:t> </a:t>
            </a:r>
            <a:r>
              <a:rPr sz="850" spc="-10" dirty="0">
                <a:latin typeface="Calibri"/>
                <a:cs typeface="Calibri"/>
              </a:rPr>
              <a:t>Values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Machine</a:t>
            </a:r>
            <a:r>
              <a:rPr spc="-50" dirty="0"/>
              <a:t> </a:t>
            </a:r>
            <a:r>
              <a:rPr spc="-40" dirty="0"/>
              <a:t>Learning</a:t>
            </a:r>
            <a:r>
              <a:rPr spc="-45" dirty="0"/>
              <a:t> </a:t>
            </a:r>
            <a:r>
              <a:rPr spc="-10" dirty="0"/>
              <a:t>for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977" y="769507"/>
            <a:ext cx="1330353" cy="10522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74732" y="597296"/>
            <a:ext cx="537210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50" dirty="0">
                <a:latin typeface="Calibri"/>
                <a:cs typeface="Calibri"/>
              </a:rPr>
              <a:t>Regression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0213" y="755732"/>
            <a:ext cx="1172210" cy="1172210"/>
            <a:chOff x="150213" y="755732"/>
            <a:chExt cx="1172210" cy="1172210"/>
          </a:xfrm>
        </p:grpSpPr>
        <p:sp>
          <p:nvSpPr>
            <p:cNvPr id="6" name="object 6"/>
            <p:cNvSpPr/>
            <p:nvPr/>
          </p:nvSpPr>
          <p:spPr>
            <a:xfrm>
              <a:off x="281932" y="757637"/>
              <a:ext cx="0" cy="1168400"/>
            </a:xfrm>
            <a:custGeom>
              <a:avLst/>
              <a:gdLst/>
              <a:ahLst/>
              <a:cxnLst/>
              <a:rect l="l" t="t" r="r" b="b"/>
              <a:pathLst>
                <a:path h="1168400">
                  <a:moveTo>
                    <a:pt x="0" y="0"/>
                  </a:moveTo>
                  <a:lnTo>
                    <a:pt x="0" y="1168328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3020" y="7576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8912" y="0"/>
                  </a:moveTo>
                  <a:lnTo>
                    <a:pt x="0" y="56793"/>
                  </a:lnTo>
                  <a:lnTo>
                    <a:pt x="37824" y="56793"/>
                  </a:lnTo>
                  <a:lnTo>
                    <a:pt x="1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118" y="757637"/>
              <a:ext cx="1168400" cy="1038860"/>
            </a:xfrm>
            <a:custGeom>
              <a:avLst/>
              <a:gdLst/>
              <a:ahLst/>
              <a:cxnLst/>
              <a:rect l="l" t="t" r="r" b="b"/>
              <a:pathLst>
                <a:path w="1168400" h="1038860">
                  <a:moveTo>
                    <a:pt x="129814" y="0"/>
                  </a:moveTo>
                  <a:lnTo>
                    <a:pt x="110901" y="56793"/>
                  </a:lnTo>
                  <a:lnTo>
                    <a:pt x="148726" y="56793"/>
                  </a:lnTo>
                  <a:lnTo>
                    <a:pt x="129814" y="0"/>
                  </a:lnTo>
                  <a:close/>
                </a:path>
                <a:path w="1168400" h="1038860">
                  <a:moveTo>
                    <a:pt x="0" y="1038514"/>
                  </a:moveTo>
                  <a:lnTo>
                    <a:pt x="1168328" y="1038514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3653" y="1777240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0" y="0"/>
                  </a:moveTo>
                  <a:lnTo>
                    <a:pt x="0" y="37824"/>
                  </a:lnTo>
                  <a:lnTo>
                    <a:pt x="56793" y="18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3653" y="1777240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56793" y="18912"/>
                  </a:moveTo>
                  <a:lnTo>
                    <a:pt x="0" y="0"/>
                  </a:lnTo>
                  <a:lnTo>
                    <a:pt x="0" y="37824"/>
                  </a:lnTo>
                  <a:lnTo>
                    <a:pt x="56793" y="18912"/>
                  </a:lnTo>
                  <a:close/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36306" y="1816209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1</a:t>
            </a:r>
            <a:endParaRPr sz="4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018" y="719148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2</a:t>
            </a:r>
            <a:endParaRPr sz="4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205" y="597304"/>
            <a:ext cx="1014094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90" dirty="0">
                <a:latin typeface="Calibri"/>
                <a:cs typeface="Calibri"/>
              </a:rPr>
              <a:t>Binary</a:t>
            </a:r>
            <a:r>
              <a:rPr sz="750" b="1" spc="120" dirty="0">
                <a:latin typeface="Calibri"/>
                <a:cs typeface="Calibri"/>
              </a:rPr>
              <a:t> </a:t>
            </a:r>
            <a:r>
              <a:rPr sz="750" b="1" spc="45" dirty="0">
                <a:latin typeface="Calibri"/>
                <a:cs typeface="Calibri"/>
              </a:rPr>
              <a:t>Classification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3821" y="915321"/>
            <a:ext cx="857885" cy="793115"/>
            <a:chOff x="353821" y="915321"/>
            <a:chExt cx="857885" cy="793115"/>
          </a:xfrm>
        </p:grpSpPr>
        <p:sp>
          <p:nvSpPr>
            <p:cNvPr id="15" name="object 15"/>
            <p:cNvSpPr/>
            <p:nvPr/>
          </p:nvSpPr>
          <p:spPr>
            <a:xfrm>
              <a:off x="353809" y="1400568"/>
              <a:ext cx="337185" cy="307340"/>
            </a:xfrm>
            <a:custGeom>
              <a:avLst/>
              <a:gdLst/>
              <a:ahLst/>
              <a:cxnLst/>
              <a:rect l="l" t="t" r="r" b="b"/>
              <a:pathLst>
                <a:path w="337184" h="307339">
                  <a:moveTo>
                    <a:pt x="63093" y="81394"/>
                  </a:moveTo>
                  <a:lnTo>
                    <a:pt x="0" y="81394"/>
                  </a:lnTo>
                  <a:lnTo>
                    <a:pt x="0" y="144487"/>
                  </a:lnTo>
                  <a:lnTo>
                    <a:pt x="63093" y="144487"/>
                  </a:lnTo>
                  <a:lnTo>
                    <a:pt x="63093" y="81394"/>
                  </a:lnTo>
                  <a:close/>
                </a:path>
                <a:path w="337184" h="307339">
                  <a:moveTo>
                    <a:pt x="129705" y="207213"/>
                  </a:moveTo>
                  <a:lnTo>
                    <a:pt x="66611" y="207213"/>
                  </a:lnTo>
                  <a:lnTo>
                    <a:pt x="66611" y="270306"/>
                  </a:lnTo>
                  <a:lnTo>
                    <a:pt x="129705" y="270306"/>
                  </a:lnTo>
                  <a:lnTo>
                    <a:pt x="129705" y="207213"/>
                  </a:lnTo>
                  <a:close/>
                </a:path>
                <a:path w="337184" h="307339">
                  <a:moveTo>
                    <a:pt x="207403" y="0"/>
                  </a:moveTo>
                  <a:lnTo>
                    <a:pt x="144322" y="0"/>
                  </a:lnTo>
                  <a:lnTo>
                    <a:pt x="144322" y="63080"/>
                  </a:lnTo>
                  <a:lnTo>
                    <a:pt x="207403" y="63080"/>
                  </a:lnTo>
                  <a:lnTo>
                    <a:pt x="207403" y="0"/>
                  </a:lnTo>
                  <a:close/>
                </a:path>
                <a:path w="337184" h="307339">
                  <a:moveTo>
                    <a:pt x="262915" y="244208"/>
                  </a:moveTo>
                  <a:lnTo>
                    <a:pt x="199821" y="244208"/>
                  </a:lnTo>
                  <a:lnTo>
                    <a:pt x="199821" y="307301"/>
                  </a:lnTo>
                  <a:lnTo>
                    <a:pt x="262915" y="307301"/>
                  </a:lnTo>
                  <a:lnTo>
                    <a:pt x="262915" y="244208"/>
                  </a:lnTo>
                  <a:close/>
                </a:path>
                <a:path w="337184" h="307339">
                  <a:moveTo>
                    <a:pt x="336918" y="107302"/>
                  </a:moveTo>
                  <a:lnTo>
                    <a:pt x="273824" y="107302"/>
                  </a:lnTo>
                  <a:lnTo>
                    <a:pt x="273824" y="170395"/>
                  </a:lnTo>
                  <a:lnTo>
                    <a:pt x="336918" y="170395"/>
                  </a:lnTo>
                  <a:lnTo>
                    <a:pt x="336918" y="10730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1761" y="915327"/>
              <a:ext cx="380365" cy="374650"/>
            </a:xfrm>
            <a:custGeom>
              <a:avLst/>
              <a:gdLst/>
              <a:ahLst/>
              <a:cxnLst/>
              <a:rect l="l" t="t" r="r" b="b"/>
              <a:pathLst>
                <a:path w="380365" h="374650">
                  <a:moveTo>
                    <a:pt x="50469" y="251968"/>
                  </a:moveTo>
                  <a:lnTo>
                    <a:pt x="0" y="218313"/>
                  </a:lnTo>
                  <a:lnTo>
                    <a:pt x="0" y="285610"/>
                  </a:lnTo>
                  <a:lnTo>
                    <a:pt x="50469" y="251968"/>
                  </a:lnTo>
                  <a:close/>
                </a:path>
                <a:path w="380365" h="374650">
                  <a:moveTo>
                    <a:pt x="83781" y="126149"/>
                  </a:moveTo>
                  <a:lnTo>
                    <a:pt x="33312" y="92506"/>
                  </a:lnTo>
                  <a:lnTo>
                    <a:pt x="33312" y="159791"/>
                  </a:lnTo>
                  <a:lnTo>
                    <a:pt x="83781" y="126149"/>
                  </a:lnTo>
                  <a:close/>
                </a:path>
                <a:path w="380365" h="374650">
                  <a:moveTo>
                    <a:pt x="194792" y="33642"/>
                  </a:moveTo>
                  <a:lnTo>
                    <a:pt x="144310" y="0"/>
                  </a:lnTo>
                  <a:lnTo>
                    <a:pt x="144310" y="67297"/>
                  </a:lnTo>
                  <a:lnTo>
                    <a:pt x="194792" y="33642"/>
                  </a:lnTo>
                  <a:close/>
                </a:path>
                <a:path w="380365" h="374650">
                  <a:moveTo>
                    <a:pt x="216992" y="226060"/>
                  </a:moveTo>
                  <a:lnTo>
                    <a:pt x="166509" y="192405"/>
                  </a:lnTo>
                  <a:lnTo>
                    <a:pt x="166509" y="259702"/>
                  </a:lnTo>
                  <a:lnTo>
                    <a:pt x="216992" y="226060"/>
                  </a:lnTo>
                  <a:close/>
                </a:path>
                <a:path w="380365" h="374650">
                  <a:moveTo>
                    <a:pt x="228092" y="340766"/>
                  </a:moveTo>
                  <a:lnTo>
                    <a:pt x="177622" y="307111"/>
                  </a:lnTo>
                  <a:lnTo>
                    <a:pt x="177622" y="374408"/>
                  </a:lnTo>
                  <a:lnTo>
                    <a:pt x="228092" y="340766"/>
                  </a:lnTo>
                  <a:close/>
                </a:path>
                <a:path w="380365" h="374650">
                  <a:moveTo>
                    <a:pt x="357593" y="170548"/>
                  </a:moveTo>
                  <a:lnTo>
                    <a:pt x="307124" y="136906"/>
                  </a:lnTo>
                  <a:lnTo>
                    <a:pt x="307124" y="204203"/>
                  </a:lnTo>
                  <a:lnTo>
                    <a:pt x="357593" y="170548"/>
                  </a:lnTo>
                  <a:close/>
                </a:path>
                <a:path w="380365" h="374650">
                  <a:moveTo>
                    <a:pt x="379793" y="340766"/>
                  </a:moveTo>
                  <a:lnTo>
                    <a:pt x="329323" y="307111"/>
                  </a:lnTo>
                  <a:lnTo>
                    <a:pt x="329323" y="374408"/>
                  </a:lnTo>
                  <a:lnTo>
                    <a:pt x="379793" y="3407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48612" y="606732"/>
            <a:ext cx="1242060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75" dirty="0">
                <a:latin typeface="Calibri"/>
                <a:cs typeface="Calibri"/>
              </a:rPr>
              <a:t>Multi-Class</a:t>
            </a:r>
            <a:r>
              <a:rPr sz="750" b="1" spc="125" dirty="0">
                <a:latin typeface="Calibri"/>
                <a:cs typeface="Calibri"/>
              </a:rPr>
              <a:t> </a:t>
            </a:r>
            <a:r>
              <a:rPr sz="750" b="1" spc="45" dirty="0">
                <a:latin typeface="Calibri"/>
                <a:cs typeface="Calibri"/>
              </a:rPr>
              <a:t>Classification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83666" y="759432"/>
            <a:ext cx="1172210" cy="1172210"/>
            <a:chOff x="1483666" y="759432"/>
            <a:chExt cx="1172210" cy="1172210"/>
          </a:xfrm>
        </p:grpSpPr>
        <p:sp>
          <p:nvSpPr>
            <p:cNvPr id="19" name="object 19"/>
            <p:cNvSpPr/>
            <p:nvPr/>
          </p:nvSpPr>
          <p:spPr>
            <a:xfrm>
              <a:off x="1615385" y="761337"/>
              <a:ext cx="0" cy="1168400"/>
            </a:xfrm>
            <a:custGeom>
              <a:avLst/>
              <a:gdLst/>
              <a:ahLst/>
              <a:cxnLst/>
              <a:rect l="l" t="t" r="r" b="b"/>
              <a:pathLst>
                <a:path h="1168400">
                  <a:moveTo>
                    <a:pt x="0" y="0"/>
                  </a:moveTo>
                  <a:lnTo>
                    <a:pt x="0" y="1168328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96473" y="7613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8912" y="0"/>
                  </a:moveTo>
                  <a:lnTo>
                    <a:pt x="0" y="56793"/>
                  </a:lnTo>
                  <a:lnTo>
                    <a:pt x="37824" y="56793"/>
                  </a:lnTo>
                  <a:lnTo>
                    <a:pt x="1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85571" y="761337"/>
              <a:ext cx="1168400" cy="1038860"/>
            </a:xfrm>
            <a:custGeom>
              <a:avLst/>
              <a:gdLst/>
              <a:ahLst/>
              <a:cxnLst/>
              <a:rect l="l" t="t" r="r" b="b"/>
              <a:pathLst>
                <a:path w="1168400" h="1038860">
                  <a:moveTo>
                    <a:pt x="129814" y="0"/>
                  </a:moveTo>
                  <a:lnTo>
                    <a:pt x="110901" y="56793"/>
                  </a:lnTo>
                  <a:lnTo>
                    <a:pt x="148726" y="56793"/>
                  </a:lnTo>
                  <a:lnTo>
                    <a:pt x="129814" y="0"/>
                  </a:lnTo>
                  <a:close/>
                </a:path>
                <a:path w="1168400" h="1038860">
                  <a:moveTo>
                    <a:pt x="0" y="1038514"/>
                  </a:moveTo>
                  <a:lnTo>
                    <a:pt x="1168328" y="1038514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97106" y="1780939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0" y="0"/>
                  </a:moveTo>
                  <a:lnTo>
                    <a:pt x="0" y="37824"/>
                  </a:lnTo>
                  <a:lnTo>
                    <a:pt x="56793" y="18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97106" y="1780939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56793" y="18912"/>
                  </a:moveTo>
                  <a:lnTo>
                    <a:pt x="0" y="0"/>
                  </a:lnTo>
                  <a:lnTo>
                    <a:pt x="0" y="37824"/>
                  </a:lnTo>
                  <a:lnTo>
                    <a:pt x="56793" y="18912"/>
                  </a:lnTo>
                  <a:close/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469759" y="1819909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1</a:t>
            </a:r>
            <a:endParaRPr sz="4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47471" y="722848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2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70808" y="913893"/>
            <a:ext cx="874394" cy="798195"/>
            <a:chOff x="1670808" y="913893"/>
            <a:chExt cx="874394" cy="798195"/>
          </a:xfrm>
        </p:grpSpPr>
        <p:sp>
          <p:nvSpPr>
            <p:cNvPr id="27" name="object 27"/>
            <p:cNvSpPr/>
            <p:nvPr/>
          </p:nvSpPr>
          <p:spPr>
            <a:xfrm>
              <a:off x="1687271" y="1404264"/>
              <a:ext cx="337185" cy="307340"/>
            </a:xfrm>
            <a:custGeom>
              <a:avLst/>
              <a:gdLst/>
              <a:ahLst/>
              <a:cxnLst/>
              <a:rect l="l" t="t" r="r" b="b"/>
              <a:pathLst>
                <a:path w="337185" h="307339">
                  <a:moveTo>
                    <a:pt x="63093" y="81407"/>
                  </a:moveTo>
                  <a:lnTo>
                    <a:pt x="0" y="81407"/>
                  </a:lnTo>
                  <a:lnTo>
                    <a:pt x="0" y="144487"/>
                  </a:lnTo>
                  <a:lnTo>
                    <a:pt x="63093" y="144487"/>
                  </a:lnTo>
                  <a:lnTo>
                    <a:pt x="63093" y="81407"/>
                  </a:lnTo>
                  <a:close/>
                </a:path>
                <a:path w="337185" h="307339">
                  <a:moveTo>
                    <a:pt x="129692" y="207213"/>
                  </a:moveTo>
                  <a:lnTo>
                    <a:pt x="66598" y="207213"/>
                  </a:lnTo>
                  <a:lnTo>
                    <a:pt x="66598" y="270306"/>
                  </a:lnTo>
                  <a:lnTo>
                    <a:pt x="129692" y="270306"/>
                  </a:lnTo>
                  <a:lnTo>
                    <a:pt x="129692" y="207213"/>
                  </a:lnTo>
                  <a:close/>
                </a:path>
                <a:path w="337185" h="307339">
                  <a:moveTo>
                    <a:pt x="207403" y="0"/>
                  </a:moveTo>
                  <a:lnTo>
                    <a:pt x="144310" y="0"/>
                  </a:lnTo>
                  <a:lnTo>
                    <a:pt x="144310" y="63093"/>
                  </a:lnTo>
                  <a:lnTo>
                    <a:pt x="207403" y="63093"/>
                  </a:lnTo>
                  <a:lnTo>
                    <a:pt x="207403" y="0"/>
                  </a:lnTo>
                  <a:close/>
                </a:path>
                <a:path w="337185" h="307339">
                  <a:moveTo>
                    <a:pt x="262902" y="244208"/>
                  </a:moveTo>
                  <a:lnTo>
                    <a:pt x="199821" y="244208"/>
                  </a:lnTo>
                  <a:lnTo>
                    <a:pt x="199821" y="307301"/>
                  </a:lnTo>
                  <a:lnTo>
                    <a:pt x="262902" y="307301"/>
                  </a:lnTo>
                  <a:lnTo>
                    <a:pt x="262902" y="244208"/>
                  </a:lnTo>
                  <a:close/>
                </a:path>
                <a:path w="337185" h="307339">
                  <a:moveTo>
                    <a:pt x="336905" y="107315"/>
                  </a:moveTo>
                  <a:lnTo>
                    <a:pt x="273824" y="107315"/>
                  </a:lnTo>
                  <a:lnTo>
                    <a:pt x="273824" y="170395"/>
                  </a:lnTo>
                  <a:lnTo>
                    <a:pt x="336905" y="170395"/>
                  </a:lnTo>
                  <a:lnTo>
                    <a:pt x="336905" y="10731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65223" y="919022"/>
              <a:ext cx="380365" cy="374650"/>
            </a:xfrm>
            <a:custGeom>
              <a:avLst/>
              <a:gdLst/>
              <a:ahLst/>
              <a:cxnLst/>
              <a:rect l="l" t="t" r="r" b="b"/>
              <a:pathLst>
                <a:path w="380364" h="374650">
                  <a:moveTo>
                    <a:pt x="50469" y="251968"/>
                  </a:moveTo>
                  <a:lnTo>
                    <a:pt x="0" y="218325"/>
                  </a:lnTo>
                  <a:lnTo>
                    <a:pt x="0" y="285610"/>
                  </a:lnTo>
                  <a:lnTo>
                    <a:pt x="50469" y="251968"/>
                  </a:lnTo>
                  <a:close/>
                </a:path>
                <a:path w="380364" h="374650">
                  <a:moveTo>
                    <a:pt x="83781" y="126149"/>
                  </a:moveTo>
                  <a:lnTo>
                    <a:pt x="33312" y="92506"/>
                  </a:lnTo>
                  <a:lnTo>
                    <a:pt x="33312" y="159804"/>
                  </a:lnTo>
                  <a:lnTo>
                    <a:pt x="83781" y="126149"/>
                  </a:lnTo>
                  <a:close/>
                </a:path>
                <a:path w="380364" h="374650">
                  <a:moveTo>
                    <a:pt x="194792" y="33655"/>
                  </a:moveTo>
                  <a:lnTo>
                    <a:pt x="144310" y="0"/>
                  </a:lnTo>
                  <a:lnTo>
                    <a:pt x="144310" y="67297"/>
                  </a:lnTo>
                  <a:lnTo>
                    <a:pt x="194792" y="33655"/>
                  </a:lnTo>
                  <a:close/>
                </a:path>
                <a:path w="380364" h="374650">
                  <a:moveTo>
                    <a:pt x="216979" y="226060"/>
                  </a:moveTo>
                  <a:lnTo>
                    <a:pt x="166509" y="192417"/>
                  </a:lnTo>
                  <a:lnTo>
                    <a:pt x="166509" y="259702"/>
                  </a:lnTo>
                  <a:lnTo>
                    <a:pt x="216979" y="226060"/>
                  </a:lnTo>
                  <a:close/>
                </a:path>
                <a:path w="380364" h="374650">
                  <a:moveTo>
                    <a:pt x="228079" y="340766"/>
                  </a:moveTo>
                  <a:lnTo>
                    <a:pt x="177609" y="307124"/>
                  </a:lnTo>
                  <a:lnTo>
                    <a:pt x="177609" y="374408"/>
                  </a:lnTo>
                  <a:lnTo>
                    <a:pt x="228079" y="340766"/>
                  </a:lnTo>
                  <a:close/>
                </a:path>
                <a:path w="380364" h="374650">
                  <a:moveTo>
                    <a:pt x="357593" y="170561"/>
                  </a:moveTo>
                  <a:lnTo>
                    <a:pt x="307124" y="136906"/>
                  </a:lnTo>
                  <a:lnTo>
                    <a:pt x="307124" y="204203"/>
                  </a:lnTo>
                  <a:lnTo>
                    <a:pt x="357593" y="170561"/>
                  </a:lnTo>
                  <a:close/>
                </a:path>
                <a:path w="380364" h="374650">
                  <a:moveTo>
                    <a:pt x="379793" y="340766"/>
                  </a:moveTo>
                  <a:lnTo>
                    <a:pt x="329323" y="307124"/>
                  </a:lnTo>
                  <a:lnTo>
                    <a:pt x="329323" y="374408"/>
                  </a:lnTo>
                  <a:lnTo>
                    <a:pt x="379793" y="3407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5917" y="958298"/>
              <a:ext cx="66919" cy="6691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6522" y="913893"/>
              <a:ext cx="66919" cy="669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1321" y="1024901"/>
              <a:ext cx="66919" cy="669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6614" y="1087804"/>
              <a:ext cx="66919" cy="6691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0808" y="1050799"/>
              <a:ext cx="66919" cy="66919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5" name="object 3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Machine</a:t>
            </a:r>
            <a:r>
              <a:rPr spc="-50" dirty="0"/>
              <a:t> </a:t>
            </a:r>
            <a:r>
              <a:rPr spc="-40" dirty="0"/>
              <a:t>Learning</a:t>
            </a:r>
            <a:r>
              <a:rPr spc="-45" dirty="0"/>
              <a:t> </a:t>
            </a:r>
            <a:r>
              <a:rPr spc="-10" dirty="0"/>
              <a:t>for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1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566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6919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92732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1626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1305" y="475207"/>
            <a:ext cx="4061460" cy="17900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Unsupervised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dirty="0">
                <a:latin typeface="Tahoma"/>
                <a:cs typeface="Tahoma"/>
              </a:rPr>
              <a:t>No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correct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provided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statistical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properties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 marR="2788920">
              <a:lnSpc>
                <a:spcPct val="140400"/>
              </a:lnSpc>
              <a:spcBef>
                <a:spcPts val="94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Clustering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Outlier</a:t>
            </a:r>
            <a:r>
              <a:rPr sz="1100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  <a:p>
            <a:pPr marL="289560" marR="2094230">
              <a:lnSpc>
                <a:spcPct val="140400"/>
              </a:lnSpc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Modeling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density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data Dimensionality</a:t>
            </a:r>
            <a:r>
              <a:rPr sz="1100" spc="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reduction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5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Tasks</a:t>
            </a: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5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Methods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5265"/>
            <a:ext cx="4608195" cy="3021330"/>
            <a:chOff x="0" y="435265"/>
            <a:chExt cx="4608195" cy="30213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818" y="435265"/>
              <a:ext cx="3230403" cy="29783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3124</Words>
  <Application>Microsoft Office PowerPoint</Application>
  <PresentationFormat>Custom</PresentationFormat>
  <Paragraphs>409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Arial</vt:lpstr>
      <vt:lpstr>Arial MT</vt:lpstr>
      <vt:lpstr>Calibri</vt:lpstr>
      <vt:lpstr>Roboto</vt:lpstr>
      <vt:lpstr>Tahoma</vt:lpstr>
      <vt:lpstr>Trebuchet MS</vt:lpstr>
      <vt:lpstr>Office Theme</vt:lpstr>
      <vt:lpstr>PowerPoint Presentation</vt:lpstr>
      <vt:lpstr>PowerPoint Presentation</vt:lpstr>
      <vt:lpstr>Big Data Analytics </vt:lpstr>
      <vt:lpstr>Big Data Generation and Growth </vt:lpstr>
      <vt:lpstr>PowerPoint Presentation</vt:lpstr>
      <vt:lpstr>Big Data Generation and Growth </vt:lpstr>
      <vt:lpstr>PowerPoint Presentation</vt:lpstr>
      <vt:lpstr>PowerPoint Presentation</vt:lpstr>
      <vt:lpstr>What is Big Data </vt:lpstr>
      <vt:lpstr>Data Analytics </vt:lpstr>
      <vt:lpstr>PowerPoint Presentation</vt:lpstr>
      <vt:lpstr>Data Analytics: Then and Now </vt:lpstr>
      <vt:lpstr>Why is Big Data Analytics Important </vt:lpstr>
      <vt:lpstr>Why enterprises use Big Data Analytics </vt:lpstr>
      <vt:lpstr>What enterprises use Big Data Analytics for </vt:lpstr>
      <vt:lpstr>Industries Benefiting from Big Data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Big Data Analytics - Market </vt:lpstr>
      <vt:lpstr>PowerPoint Presentation</vt:lpstr>
      <vt:lpstr>PowerPoint Presentation</vt:lpstr>
      <vt:lpstr>PowerPoint Presentation</vt:lpstr>
      <vt:lpstr>Sources: Machine Generated Data </vt:lpstr>
      <vt:lpstr>Sources: People Generated Data </vt:lpstr>
      <vt:lpstr>Sources: Organization Generated Data </vt:lpstr>
      <vt:lpstr>PowerPoint Presentation</vt:lpstr>
      <vt:lpstr>The 5 V’s of Data</vt:lpstr>
      <vt:lpstr>PowerPoint Presentation</vt:lpstr>
      <vt:lpstr>Aspects of Big: The 5 V’s – Volume </vt:lpstr>
      <vt:lpstr>Aspects of Big: The 5 V’s – Velocity </vt:lpstr>
      <vt:lpstr>Aspects of Big: The 5 V’s – Variety </vt:lpstr>
      <vt:lpstr>Aspects of Big: The 5 V’s – Veracity </vt:lpstr>
      <vt:lpstr>Aspects of Big: The 5 V’s – Value </vt:lpstr>
      <vt:lpstr>5 Vs of Big Data: Value </vt:lpstr>
      <vt:lpstr>5 Vs of Big Data: Value </vt:lpstr>
      <vt:lpstr>PowerPoint Presentation</vt:lpstr>
      <vt:lpstr>PowerPoint Presentation</vt:lpstr>
      <vt:lpstr>PowerPoint Presentation</vt:lpstr>
      <vt:lpstr>Types of Data </vt:lpstr>
      <vt:lpstr>Types of Data: Text </vt:lpstr>
      <vt:lpstr>Types of Data: Multimedia </vt:lpstr>
      <vt:lpstr>Types of Data: Time Series </vt:lpstr>
      <vt:lpstr>Types of Data: Sequential Data </vt:lpstr>
      <vt:lpstr>Types of Data: Streams </vt:lpstr>
      <vt:lpstr>Types of Data: Graphs/Homogeneous Networks </vt:lpstr>
      <vt:lpstr>Types of Data: Heterogeneous Networks </vt:lpstr>
      <vt:lpstr>PowerPoint Presentation</vt:lpstr>
      <vt:lpstr>The Analytics Process </vt:lpstr>
      <vt:lpstr>The Analytics Process </vt:lpstr>
      <vt:lpstr>PowerPoint Presentation</vt:lpstr>
      <vt:lpstr>Data Analytics Tasks and Methods </vt:lpstr>
      <vt:lpstr>Data Analytics Tasks and Methods </vt:lpstr>
      <vt:lpstr>Data Analytics Taks </vt:lpstr>
      <vt:lpstr>Machine Learning for Data Analytics </vt:lpstr>
      <vt:lpstr>Machine Learning for Data Analytics </vt:lpstr>
      <vt:lpstr>Machine Learning for Data Analytics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Analytics: Introduction</dc:title>
  <dc:creator>Imdad ullah Khan</dc:creator>
  <cp:lastModifiedBy>Dr.Sahib</cp:lastModifiedBy>
  <cp:revision>5</cp:revision>
  <dcterms:created xsi:type="dcterms:W3CDTF">2026-01-10T10:09:13Z</dcterms:created>
  <dcterms:modified xsi:type="dcterms:W3CDTF">2026-01-20T16:01:37Z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2026-01-10T00:00:00Z</vt:filetime>
  </property>
  <property fmtid="{D5CDD505-2E9C-101B-9397-08002B2CF9AE}" pid="5" name="PTEX.Fullbanner">
    <vt:lpwstr>This is MiKTeX-pdfTeX 4.16.0 (1.40.25)</vt:lpwstr>
  </property>
  <property fmtid="{D5CDD505-2E9C-101B-9397-08002B2CF9AE}" pid="6" name="Producer">
    <vt:lpwstr>MiKTeX pdfTeX-1.40.25</vt:lpwstr>
  </property>
</Properties>
</file>