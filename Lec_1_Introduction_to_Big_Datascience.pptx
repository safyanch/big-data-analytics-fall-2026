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325" r:id="rId2"/>
    <p:sldId id="324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</p:sldIdLst>
  <p:sldSz cx="4610100" cy="3460750"/>
  <p:notesSz cx="4610100" cy="3460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55" d="100"/>
          <a:sy n="155" d="100"/>
        </p:scale>
        <p:origin x="1502" y="5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 u="sng">
                <a:solidFill>
                  <a:srgbClr val="898CFC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50" b="0" i="0">
                <a:solidFill>
                  <a:schemeClr val="hlink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55" dirty="0"/>
              <a:t>I</a:t>
            </a:r>
            <a:r>
              <a:rPr cap="small" spc="55" dirty="0"/>
              <a:t>mdad</a:t>
            </a:r>
            <a:r>
              <a:rPr spc="90" dirty="0"/>
              <a:t> </a:t>
            </a:r>
            <a:r>
              <a:rPr cap="small" spc="70" dirty="0"/>
              <a:t>ullah</a:t>
            </a:r>
            <a:r>
              <a:rPr spc="95" dirty="0"/>
              <a:t> </a:t>
            </a:r>
            <a:r>
              <a:rPr spc="85" dirty="0"/>
              <a:t>K</a:t>
            </a:r>
            <a:r>
              <a:rPr cap="small" spc="85" dirty="0"/>
              <a:t>han</a:t>
            </a:r>
            <a:r>
              <a:rPr spc="310" dirty="0"/>
              <a:t> </a:t>
            </a:r>
            <a:r>
              <a:rPr spc="-10" dirty="0">
                <a:latin typeface="Arial MT"/>
                <a:cs typeface="Arial MT"/>
              </a:rPr>
              <a:t>(LUMS)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‹#›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 u="sng">
                <a:solidFill>
                  <a:srgbClr val="898CFC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50" b="0" i="0">
                <a:solidFill>
                  <a:schemeClr val="hlink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55" dirty="0"/>
              <a:t>I</a:t>
            </a:r>
            <a:r>
              <a:rPr cap="small" spc="55" dirty="0"/>
              <a:t>mdad</a:t>
            </a:r>
            <a:r>
              <a:rPr spc="90" dirty="0"/>
              <a:t> </a:t>
            </a:r>
            <a:r>
              <a:rPr cap="small" spc="70" dirty="0"/>
              <a:t>ullah</a:t>
            </a:r>
            <a:r>
              <a:rPr spc="95" dirty="0"/>
              <a:t> </a:t>
            </a:r>
            <a:r>
              <a:rPr spc="85" dirty="0"/>
              <a:t>K</a:t>
            </a:r>
            <a:r>
              <a:rPr cap="small" spc="85" dirty="0"/>
              <a:t>han</a:t>
            </a:r>
            <a:r>
              <a:rPr spc="310" dirty="0"/>
              <a:t> </a:t>
            </a:r>
            <a:r>
              <a:rPr spc="-10" dirty="0">
                <a:latin typeface="Arial MT"/>
                <a:cs typeface="Arial MT"/>
              </a:rPr>
              <a:t>(LUMS)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‹#›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 u="sng">
                <a:solidFill>
                  <a:srgbClr val="898CFC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55" dirty="0"/>
              <a:t>I</a:t>
            </a:r>
            <a:r>
              <a:rPr cap="small" spc="55" dirty="0"/>
              <a:t>mdad</a:t>
            </a:r>
            <a:r>
              <a:rPr spc="90" dirty="0"/>
              <a:t> </a:t>
            </a:r>
            <a:r>
              <a:rPr cap="small" spc="70" dirty="0"/>
              <a:t>ullah</a:t>
            </a:r>
            <a:r>
              <a:rPr spc="95" dirty="0"/>
              <a:t> </a:t>
            </a:r>
            <a:r>
              <a:rPr spc="85" dirty="0"/>
              <a:t>K</a:t>
            </a:r>
            <a:r>
              <a:rPr cap="small" spc="85" dirty="0"/>
              <a:t>han</a:t>
            </a:r>
            <a:r>
              <a:rPr spc="310" dirty="0"/>
              <a:t> </a:t>
            </a:r>
            <a:r>
              <a:rPr spc="-10" dirty="0">
                <a:latin typeface="Arial MT"/>
                <a:cs typeface="Arial MT"/>
              </a:rPr>
              <a:t>(LUMS)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‹#›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 u="sng">
                <a:solidFill>
                  <a:srgbClr val="898CFC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55" dirty="0"/>
              <a:t>I</a:t>
            </a:r>
            <a:r>
              <a:rPr cap="small" spc="55" dirty="0"/>
              <a:t>mdad</a:t>
            </a:r>
            <a:r>
              <a:rPr spc="90" dirty="0"/>
              <a:t> </a:t>
            </a:r>
            <a:r>
              <a:rPr cap="small" spc="70" dirty="0"/>
              <a:t>ullah</a:t>
            </a:r>
            <a:r>
              <a:rPr spc="95" dirty="0"/>
              <a:t> </a:t>
            </a:r>
            <a:r>
              <a:rPr spc="85" dirty="0"/>
              <a:t>K</a:t>
            </a:r>
            <a:r>
              <a:rPr cap="small" spc="85" dirty="0"/>
              <a:t>han</a:t>
            </a:r>
            <a:r>
              <a:rPr spc="310" dirty="0"/>
              <a:t> </a:t>
            </a:r>
            <a:r>
              <a:rPr spc="-10" dirty="0">
                <a:latin typeface="Arial MT"/>
                <a:cs typeface="Arial MT"/>
              </a:rPr>
              <a:t>(LUMS)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‹#›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55" dirty="0"/>
              <a:t>I</a:t>
            </a:r>
            <a:r>
              <a:rPr cap="small" spc="55" dirty="0"/>
              <a:t>mdad</a:t>
            </a:r>
            <a:r>
              <a:rPr spc="90" dirty="0"/>
              <a:t> </a:t>
            </a:r>
            <a:r>
              <a:rPr cap="small" spc="70" dirty="0"/>
              <a:t>ullah</a:t>
            </a:r>
            <a:r>
              <a:rPr spc="95" dirty="0"/>
              <a:t> </a:t>
            </a:r>
            <a:r>
              <a:rPr spc="85" dirty="0"/>
              <a:t>K</a:t>
            </a:r>
            <a:r>
              <a:rPr cap="small" spc="85" dirty="0"/>
              <a:t>han</a:t>
            </a:r>
            <a:r>
              <a:rPr spc="310" dirty="0"/>
              <a:t> </a:t>
            </a:r>
            <a:r>
              <a:rPr spc="-10" dirty="0">
                <a:latin typeface="Arial MT"/>
                <a:cs typeface="Arial MT"/>
              </a:rPr>
              <a:t>(LUMS)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‹#›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 u="sng">
                <a:solidFill>
                  <a:srgbClr val="898CFC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16344" y="1085189"/>
            <a:ext cx="4377410" cy="7150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50" b="0" i="0">
                <a:solidFill>
                  <a:schemeClr val="hlink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36905" y="3351784"/>
            <a:ext cx="1062355" cy="1022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675"/>
              </a:lnSpc>
            </a:pPr>
            <a:r>
              <a:rPr spc="55" dirty="0"/>
              <a:t>I</a:t>
            </a:r>
            <a:r>
              <a:rPr cap="small" spc="55" dirty="0"/>
              <a:t>mdad</a:t>
            </a:r>
            <a:r>
              <a:rPr spc="90" dirty="0"/>
              <a:t> </a:t>
            </a:r>
            <a:r>
              <a:rPr cap="small" spc="70" dirty="0"/>
              <a:t>ullah</a:t>
            </a:r>
            <a:r>
              <a:rPr spc="95" dirty="0"/>
              <a:t> </a:t>
            </a:r>
            <a:r>
              <a:rPr spc="85" dirty="0"/>
              <a:t>K</a:t>
            </a:r>
            <a:r>
              <a:rPr cap="small" spc="85" dirty="0"/>
              <a:t>han</a:t>
            </a:r>
            <a:r>
              <a:rPr spc="310" dirty="0"/>
              <a:t> </a:t>
            </a:r>
            <a:r>
              <a:rPr spc="-10" dirty="0">
                <a:latin typeface="Arial MT"/>
                <a:cs typeface="Arial MT"/>
              </a:rPr>
              <a:t>(LUMS)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30505" y="3218497"/>
            <a:ext cx="1060323" cy="1730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273803" y="3351784"/>
            <a:ext cx="279400" cy="1022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‹#›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70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70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5" Type="http://schemas.openxmlformats.org/officeDocument/2006/relationships/slide" Target="slide70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70.xml"/><Relationship Id="rId2" Type="http://schemas.openxmlformats.org/officeDocument/2006/relationships/slide" Target="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70.xm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70.xm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70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70.xm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7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7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70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70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7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slide" Target="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5.xml"/><Relationship Id="rId4" Type="http://schemas.openxmlformats.org/officeDocument/2006/relationships/slide" Target="slide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Relationship Id="rId5" Type="http://schemas.openxmlformats.org/officeDocument/2006/relationships/slide" Target="slide3.xml"/><Relationship Id="rId4" Type="http://schemas.openxmlformats.org/officeDocument/2006/relationships/image" Target="../media/image3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slide" Target="slide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6344" y="1085189"/>
            <a:ext cx="4377410" cy="315471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9416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6344" y="1085189"/>
            <a:ext cx="3788906" cy="630942"/>
          </a:xfrm>
        </p:spPr>
        <p:txBody>
          <a:bodyPr/>
          <a:lstStyle/>
          <a:p>
            <a:r>
              <a:rPr lang="en-US" dirty="0" smtClean="0"/>
              <a:t>Thank you to Dr. </a:t>
            </a:r>
            <a:r>
              <a:rPr lang="en-US" dirty="0" err="1" smtClean="0"/>
              <a:t>Imadullah</a:t>
            </a:r>
            <a:r>
              <a:rPr lang="en-US" dirty="0" smtClean="0"/>
              <a:t> Khan(LUMS) for Slides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4755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235" dirty="0">
                <a:latin typeface="Calibri"/>
                <a:cs typeface="Calibri"/>
              </a:rPr>
              <a:t>B</a:t>
            </a:r>
            <a:r>
              <a:rPr cap="small" spc="235" dirty="0">
                <a:latin typeface="Calibri"/>
                <a:cs typeface="Calibri"/>
              </a:rPr>
              <a:t>ig</a:t>
            </a:r>
            <a:r>
              <a:rPr cap="small" spc="160" dirty="0">
                <a:latin typeface="Calibri"/>
                <a:cs typeface="Calibri"/>
              </a:rPr>
              <a:t> </a:t>
            </a:r>
            <a:r>
              <a:rPr spc="210" dirty="0">
                <a:latin typeface="Calibri"/>
                <a:cs typeface="Calibri"/>
              </a:rPr>
              <a:t>D</a:t>
            </a:r>
            <a:r>
              <a:rPr cap="small" spc="210" dirty="0">
                <a:latin typeface="Calibri"/>
                <a:cs typeface="Calibri"/>
              </a:rPr>
              <a:t>ata</a:t>
            </a:r>
            <a:r>
              <a:rPr cap="small" spc="160" dirty="0">
                <a:latin typeface="Calibri"/>
                <a:cs typeface="Calibri"/>
              </a:rPr>
              <a:t> </a:t>
            </a:r>
            <a:r>
              <a:rPr spc="225" dirty="0">
                <a:latin typeface="Calibri"/>
                <a:cs typeface="Calibri"/>
              </a:rPr>
              <a:t>A</a:t>
            </a:r>
            <a:r>
              <a:rPr cap="small" spc="225" dirty="0">
                <a:latin typeface="Calibri"/>
                <a:cs typeface="Calibri"/>
              </a:rPr>
              <a:t>nalytics</a:t>
            </a:r>
            <a:r>
              <a:rPr cap="small" dirty="0">
                <a:latin typeface="Calibri"/>
                <a:cs typeface="Calibri"/>
              </a:rPr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5579" y="927531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4" h="56515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95579" y="1167930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4" h="56515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95579" y="1408328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4" h="56515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5579" y="1648726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4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5579" y="1889125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4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95579" y="2129523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4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95579" y="2369921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4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295579" y="2610319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4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31305" y="447240"/>
            <a:ext cx="3804920" cy="2524153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25550">
              <a:lnSpc>
                <a:spcPct val="100000"/>
              </a:lnSpc>
              <a:spcBef>
                <a:spcPts val="135"/>
              </a:spcBef>
            </a:pPr>
            <a:r>
              <a:rPr sz="1400" spc="235" dirty="0">
                <a:solidFill>
                  <a:srgbClr val="0000FF"/>
                </a:solidFill>
                <a:latin typeface="Calibri"/>
                <a:cs typeface="Calibri"/>
              </a:rPr>
              <a:t>B</a:t>
            </a:r>
            <a:r>
              <a:rPr sz="1400" cap="small" spc="235" dirty="0">
                <a:solidFill>
                  <a:srgbClr val="0000FF"/>
                </a:solidFill>
                <a:latin typeface="Calibri"/>
                <a:cs typeface="Calibri"/>
              </a:rPr>
              <a:t>ig</a:t>
            </a:r>
            <a:r>
              <a:rPr sz="1400" spc="220" dirty="0">
                <a:solidFill>
                  <a:srgbClr val="0000FF"/>
                </a:solidFill>
                <a:latin typeface="Calibri"/>
                <a:cs typeface="Calibri"/>
              </a:rPr>
              <a:t> </a:t>
            </a:r>
            <a:r>
              <a:rPr sz="1400" spc="210" dirty="0">
                <a:solidFill>
                  <a:srgbClr val="0000FF"/>
                </a:solidFill>
                <a:latin typeface="Calibri"/>
                <a:cs typeface="Calibri"/>
              </a:rPr>
              <a:t>D</a:t>
            </a:r>
            <a:r>
              <a:rPr sz="1400" cap="small" spc="210" dirty="0">
                <a:solidFill>
                  <a:srgbClr val="0000FF"/>
                </a:solidFill>
                <a:latin typeface="Calibri"/>
                <a:cs typeface="Calibri"/>
              </a:rPr>
              <a:t>ata</a:t>
            </a:r>
            <a:r>
              <a:rPr sz="1400" spc="225" dirty="0">
                <a:solidFill>
                  <a:srgbClr val="0000FF"/>
                </a:solidFill>
                <a:latin typeface="Calibri"/>
                <a:cs typeface="Calibri"/>
              </a:rPr>
              <a:t> A</a:t>
            </a:r>
            <a:r>
              <a:rPr sz="1400" cap="small" spc="225" dirty="0">
                <a:solidFill>
                  <a:srgbClr val="0000FF"/>
                </a:solidFill>
                <a:latin typeface="Calibri"/>
                <a:cs typeface="Calibri"/>
              </a:rPr>
              <a:t>nalytics</a:t>
            </a:r>
            <a:endParaRPr sz="1400" dirty="0">
              <a:latin typeface="Calibri"/>
              <a:cs typeface="Calibri"/>
            </a:endParaRPr>
          </a:p>
          <a:p>
            <a:pPr marL="289560" marR="1753870">
              <a:lnSpc>
                <a:spcPct val="157700"/>
              </a:lnSpc>
              <a:spcBef>
                <a:spcPts val="715"/>
              </a:spcBef>
            </a:pPr>
            <a:r>
              <a:rPr sz="1000" dirty="0">
                <a:latin typeface="Tahoma"/>
                <a:cs typeface="Tahoma"/>
              </a:rPr>
              <a:t>Big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Data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Generation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and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Growth </a:t>
            </a:r>
            <a:r>
              <a:rPr sz="1000" dirty="0">
                <a:latin typeface="Tahoma"/>
                <a:cs typeface="Tahoma"/>
              </a:rPr>
              <a:t>What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is</a:t>
            </a:r>
            <a:r>
              <a:rPr sz="1000" spc="-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Big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Data</a:t>
            </a:r>
            <a:endParaRPr sz="1000" dirty="0">
              <a:latin typeface="Tahoma"/>
              <a:cs typeface="Tahoma"/>
            </a:endParaRPr>
          </a:p>
          <a:p>
            <a:pPr marL="289560" marR="1332230">
              <a:lnSpc>
                <a:spcPct val="157700"/>
              </a:lnSpc>
            </a:pPr>
            <a:r>
              <a:rPr sz="1000" spc="-45" dirty="0">
                <a:latin typeface="Tahoma"/>
                <a:cs typeface="Tahoma"/>
              </a:rPr>
              <a:t>Importance</a:t>
            </a:r>
            <a:r>
              <a:rPr sz="1000" spc="-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of Big</a:t>
            </a:r>
            <a:r>
              <a:rPr sz="1000" spc="-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Data</a:t>
            </a:r>
            <a:r>
              <a:rPr sz="1000" spc="-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Analytics </a:t>
            </a:r>
            <a:r>
              <a:rPr sz="1000" spc="-40" dirty="0">
                <a:latin typeface="Tahoma"/>
                <a:cs typeface="Tahoma"/>
              </a:rPr>
              <a:t>Industries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benefiting </a:t>
            </a:r>
            <a:r>
              <a:rPr sz="1000" spc="-10" dirty="0">
                <a:latin typeface="Tahoma"/>
                <a:cs typeface="Tahoma"/>
              </a:rPr>
              <a:t>from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Data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Analytics</a:t>
            </a:r>
            <a:endParaRPr sz="1000" dirty="0">
              <a:latin typeface="Tahoma"/>
              <a:cs typeface="Tahoma"/>
            </a:endParaRPr>
          </a:p>
          <a:p>
            <a:pPr marL="289560" marR="848994">
              <a:lnSpc>
                <a:spcPct val="157700"/>
              </a:lnSpc>
            </a:pPr>
            <a:r>
              <a:rPr sz="1000" spc="-40" dirty="0">
                <a:latin typeface="Tahoma"/>
                <a:cs typeface="Tahoma"/>
              </a:rPr>
              <a:t>Sources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of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Data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(people,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machines,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organizations) </a:t>
            </a:r>
            <a:r>
              <a:rPr sz="1000" spc="-20" dirty="0">
                <a:latin typeface="Tahoma"/>
                <a:cs typeface="Tahoma"/>
              </a:rPr>
              <a:t>Aspects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of</a:t>
            </a:r>
            <a:r>
              <a:rPr sz="1000" spc="-30" dirty="0">
                <a:latin typeface="Tahoma"/>
                <a:cs typeface="Tahoma"/>
              </a:rPr>
              <a:t> Bigness </a:t>
            </a:r>
            <a:r>
              <a:rPr sz="1000" dirty="0">
                <a:latin typeface="Tahoma"/>
                <a:cs typeface="Tahoma"/>
              </a:rPr>
              <a:t>(The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5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80" dirty="0">
                <a:latin typeface="Calibri"/>
                <a:cs typeface="Calibri"/>
              </a:rPr>
              <a:t>V</a:t>
            </a:r>
            <a:r>
              <a:rPr sz="1000" spc="80" dirty="0">
                <a:latin typeface="Tahoma"/>
                <a:cs typeface="Tahoma"/>
              </a:rPr>
              <a:t>’s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of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big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data)</a:t>
            </a:r>
            <a:endParaRPr sz="1000" dirty="0">
              <a:latin typeface="Tahoma"/>
              <a:cs typeface="Tahoma"/>
            </a:endParaRPr>
          </a:p>
          <a:p>
            <a:pPr marL="289560" marR="5080">
              <a:lnSpc>
                <a:spcPct val="157700"/>
              </a:lnSpc>
            </a:pPr>
            <a:r>
              <a:rPr sz="1000" spc="-30" dirty="0">
                <a:latin typeface="Tahoma"/>
                <a:cs typeface="Tahoma"/>
              </a:rPr>
              <a:t>Types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of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Data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(table,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text,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multimedia, </a:t>
            </a:r>
            <a:r>
              <a:rPr sz="1000" spc="-35" dirty="0">
                <a:latin typeface="Tahoma"/>
                <a:cs typeface="Tahoma"/>
              </a:rPr>
              <a:t>stream,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55" dirty="0">
                <a:latin typeface="Tahoma"/>
                <a:cs typeface="Tahoma"/>
              </a:rPr>
              <a:t>sequence,</a:t>
            </a:r>
            <a:r>
              <a:rPr sz="1000" spc="-20" dirty="0">
                <a:latin typeface="Tahoma"/>
                <a:cs typeface="Tahoma"/>
              </a:rPr>
              <a:t> graphs) </a:t>
            </a:r>
            <a:r>
              <a:rPr sz="1000" dirty="0">
                <a:latin typeface="Tahoma"/>
                <a:cs typeface="Tahoma"/>
              </a:rPr>
              <a:t>The</a:t>
            </a:r>
            <a:r>
              <a:rPr sz="1000" spc="-10" dirty="0">
                <a:latin typeface="Tahoma"/>
                <a:cs typeface="Tahoma"/>
              </a:rPr>
              <a:t> Analytics</a:t>
            </a:r>
            <a:r>
              <a:rPr sz="100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Process</a:t>
            </a:r>
            <a:r>
              <a:rPr sz="1000" dirty="0">
                <a:latin typeface="Tahoma"/>
                <a:cs typeface="Tahoma"/>
              </a:rPr>
              <a:t> </a:t>
            </a:r>
            <a:r>
              <a:rPr sz="1000" spc="-45" dirty="0">
                <a:latin typeface="Tahoma"/>
                <a:cs typeface="Tahoma"/>
              </a:rPr>
              <a:t>(preprocessing,</a:t>
            </a:r>
            <a:r>
              <a:rPr sz="100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analytics,</a:t>
            </a:r>
            <a:r>
              <a:rPr sz="100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visualization)</a:t>
            </a:r>
            <a:endParaRPr sz="10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785"/>
              </a:spcBef>
            </a:pPr>
            <a:endParaRPr sz="1000" dirty="0">
              <a:latin typeface="Tahoma"/>
              <a:cs typeface="Tahom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3" name="object 13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3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dirty="0"/>
              <a:t>Big</a:t>
            </a:r>
            <a:r>
              <a:rPr spc="-20" dirty="0"/>
              <a:t> </a:t>
            </a:r>
            <a:r>
              <a:rPr dirty="0"/>
              <a:t>Data</a:t>
            </a:r>
            <a:r>
              <a:rPr spc="-20" dirty="0"/>
              <a:t> </a:t>
            </a:r>
            <a:r>
              <a:rPr spc="-40" dirty="0"/>
              <a:t>Generation</a:t>
            </a:r>
            <a:r>
              <a:rPr spc="-15" dirty="0"/>
              <a:t> </a:t>
            </a:r>
            <a:r>
              <a:rPr spc="-30" dirty="0"/>
              <a:t>and</a:t>
            </a:r>
            <a:r>
              <a:rPr spc="-20" dirty="0"/>
              <a:t> </a:t>
            </a:r>
            <a:r>
              <a:rPr spc="-10" dirty="0"/>
              <a:t>Growth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60284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8393" y="513167"/>
            <a:ext cx="3869054" cy="16421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Tahoma"/>
                <a:cs typeface="Tahoma"/>
              </a:rPr>
              <a:t>Data</a:t>
            </a:r>
            <a:r>
              <a:rPr sz="1100" spc="-45" dirty="0">
                <a:latin typeface="Tahoma"/>
                <a:cs typeface="Tahoma"/>
              </a:rPr>
              <a:t> has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been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generated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an</a:t>
            </a:r>
            <a:r>
              <a:rPr sz="1100" spc="-35" dirty="0">
                <a:latin typeface="Tahoma"/>
                <a:cs typeface="Tahoma"/>
              </a:rPr>
              <a:t> exploding </a:t>
            </a:r>
            <a:r>
              <a:rPr sz="1100" spc="-20" dirty="0">
                <a:latin typeface="Tahoma"/>
                <a:cs typeface="Tahoma"/>
              </a:rPr>
              <a:t>rate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35" dirty="0">
                <a:latin typeface="Tahoma"/>
                <a:cs typeface="Tahoma"/>
              </a:rPr>
              <a:t> recent </a:t>
            </a:r>
            <a:r>
              <a:rPr sz="1100" spc="-10" dirty="0">
                <a:latin typeface="Tahoma"/>
                <a:cs typeface="Tahoma"/>
              </a:rPr>
              <a:t>years</a:t>
            </a:r>
            <a:endParaRPr sz="1100">
              <a:latin typeface="Tahoma"/>
              <a:cs typeface="Tahoma"/>
            </a:endParaRPr>
          </a:p>
          <a:p>
            <a:pPr marL="12700" marR="114935">
              <a:lnSpc>
                <a:spcPct val="102600"/>
              </a:lnSpc>
              <a:spcBef>
                <a:spcPts val="1095"/>
              </a:spcBef>
            </a:pPr>
            <a:r>
              <a:rPr sz="1100" spc="-30" dirty="0">
                <a:latin typeface="Tahoma"/>
                <a:cs typeface="Tahoma"/>
              </a:rPr>
              <a:t>Organizations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collect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trillions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bytes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information </a:t>
            </a:r>
            <a:r>
              <a:rPr sz="1100" spc="-20" dirty="0">
                <a:latin typeface="Tahoma"/>
                <a:cs typeface="Tahoma"/>
              </a:rPr>
              <a:t>about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their </a:t>
            </a:r>
            <a:r>
              <a:rPr sz="1100" spc="-45" dirty="0">
                <a:latin typeface="Tahoma"/>
                <a:cs typeface="Tahoma"/>
              </a:rPr>
              <a:t>customers,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suppliers,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operations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every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day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02600"/>
              </a:lnSpc>
              <a:spcBef>
                <a:spcPts val="1095"/>
              </a:spcBef>
            </a:pPr>
            <a:r>
              <a:rPr sz="1100" spc="-40" dirty="0">
                <a:latin typeface="Tahoma"/>
                <a:cs typeface="Tahoma"/>
              </a:rPr>
              <a:t>Large </a:t>
            </a:r>
            <a:r>
              <a:rPr sz="1100" spc="-20" dirty="0">
                <a:latin typeface="Tahoma"/>
                <a:cs typeface="Tahoma"/>
              </a:rPr>
              <a:t>pools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being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captured, </a:t>
            </a:r>
            <a:r>
              <a:rPr sz="1100" spc="-40" dirty="0">
                <a:latin typeface="Tahoma"/>
                <a:cs typeface="Tahoma"/>
              </a:rPr>
              <a:t>communicated,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aggregated, </a:t>
            </a:r>
            <a:r>
              <a:rPr sz="1100" spc="-50" dirty="0">
                <a:latin typeface="Tahoma"/>
                <a:cs typeface="Tahoma"/>
              </a:rPr>
              <a:t>stored,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analyzed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by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businesses,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academia,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governments</a:t>
            </a:r>
            <a:endParaRPr sz="1100">
              <a:latin typeface="Tahoma"/>
              <a:cs typeface="Tahoma"/>
            </a:endParaRPr>
          </a:p>
          <a:p>
            <a:pPr marL="12700" marR="176530">
              <a:lnSpc>
                <a:spcPct val="102600"/>
              </a:lnSpc>
              <a:spcBef>
                <a:spcPts val="1100"/>
              </a:spcBef>
            </a:pPr>
            <a:r>
              <a:rPr sz="1100" spc="-40" dirty="0">
                <a:latin typeface="Tahoma"/>
                <a:cs typeface="Tahoma"/>
              </a:rPr>
              <a:t>Individuals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smartphones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social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network</a:t>
            </a:r>
            <a:r>
              <a:rPr sz="1100" spc="-30" dirty="0">
                <a:latin typeface="Tahoma"/>
                <a:cs typeface="Tahoma"/>
              </a:rPr>
              <a:t> sites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are </a:t>
            </a:r>
            <a:r>
              <a:rPr sz="1100" spc="-35" dirty="0">
                <a:latin typeface="Tahoma"/>
                <a:cs typeface="Tahoma"/>
              </a:rPr>
              <a:t>continuously</a:t>
            </a:r>
            <a:r>
              <a:rPr sz="1100" spc="-30" dirty="0">
                <a:latin typeface="Tahoma"/>
                <a:cs typeface="Tahoma"/>
              </a:rPr>
              <a:t> fueling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exponential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growth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multimedia</a:t>
            </a:r>
            <a:r>
              <a:rPr sz="1100" spc="-20" dirty="0">
                <a:latin typeface="Tahoma"/>
                <a:cs typeface="Tahoma"/>
              </a:rPr>
              <a:t> data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0245" y="91409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397419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0245" y="188075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9" name="object 9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4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4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Generation</a:t>
            </a:r>
            <a:r>
              <a:rPr sz="1400" u="sng" spc="-1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3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and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Growth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6494" y="473236"/>
            <a:ext cx="923928" cy="95848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6938" y="1752491"/>
            <a:ext cx="1982008" cy="110176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90831" y="1691127"/>
            <a:ext cx="400050" cy="685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50" spc="-10" dirty="0">
                <a:solidFill>
                  <a:srgbClr val="FF0000"/>
                </a:solidFill>
                <a:latin typeface="Calibri"/>
                <a:cs typeface="Calibri"/>
              </a:rPr>
              <a:t>expandedramblings.com</a:t>
            </a:r>
            <a:endParaRPr sz="250">
              <a:latin typeface="Calibri"/>
              <a:cs typeface="Calibri"/>
            </a:endParaRPr>
          </a:p>
        </p:txBody>
      </p:sp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466568" y="1694834"/>
            <a:ext cx="1784142" cy="1185652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8" name="object 8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5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5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5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5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5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5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5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5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dirty="0"/>
              <a:t>Big</a:t>
            </a:r>
            <a:r>
              <a:rPr spc="-20" dirty="0"/>
              <a:t> </a:t>
            </a:r>
            <a:r>
              <a:rPr dirty="0"/>
              <a:t>Data</a:t>
            </a:r>
            <a:r>
              <a:rPr spc="-20" dirty="0"/>
              <a:t> </a:t>
            </a:r>
            <a:r>
              <a:rPr spc="-40" dirty="0"/>
              <a:t>Generation</a:t>
            </a:r>
            <a:r>
              <a:rPr spc="-15" dirty="0"/>
              <a:t> </a:t>
            </a:r>
            <a:r>
              <a:rPr spc="-30" dirty="0"/>
              <a:t>and</a:t>
            </a:r>
            <a:r>
              <a:rPr spc="-20" dirty="0"/>
              <a:t> </a:t>
            </a:r>
            <a:r>
              <a:rPr spc="-10" dirty="0"/>
              <a:t>Growth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52285" y="82063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52285" y="107495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72681" y="1284859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5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52285" y="1533842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52285" y="178816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52285" y="2042477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52285" y="2296782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252285" y="2551099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05905" y="385709"/>
            <a:ext cx="4262755" cy="2267585"/>
          </a:xfrm>
          <a:prstGeom prst="rect">
            <a:avLst/>
          </a:prstGeom>
        </p:spPr>
        <p:txBody>
          <a:bodyPr vert="horz" wrap="square" lIns="0" tIns="100965" rIns="0" bIns="0" rtlCol="0">
            <a:spAutoFit/>
          </a:bodyPr>
          <a:lstStyle/>
          <a:p>
            <a:pPr marL="38100" algn="just">
              <a:lnSpc>
                <a:spcPct val="100000"/>
              </a:lnSpc>
              <a:spcBef>
                <a:spcPts val="795"/>
              </a:spcBef>
            </a:pPr>
            <a:r>
              <a:rPr sz="1100" spc="-30" dirty="0">
                <a:latin typeface="Tahoma"/>
                <a:cs typeface="Tahoma"/>
              </a:rPr>
              <a:t>Where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comes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from?</a:t>
            </a:r>
            <a:endParaRPr sz="1100">
              <a:latin typeface="Tahoma"/>
              <a:cs typeface="Tahoma"/>
            </a:endParaRPr>
          </a:p>
          <a:p>
            <a:pPr marL="276860" marR="30480" algn="just">
              <a:lnSpc>
                <a:spcPct val="151700"/>
              </a:lnSpc>
              <a:spcBef>
                <a:spcPts val="10"/>
              </a:spcBef>
            </a:pPr>
            <a:r>
              <a:rPr sz="1100" spc="-45" dirty="0">
                <a:latin typeface="Tahoma"/>
                <a:cs typeface="Tahoma"/>
              </a:rPr>
              <a:t>Internet </a:t>
            </a:r>
            <a:r>
              <a:rPr sz="1100" spc="-65" dirty="0">
                <a:latin typeface="Tahoma"/>
                <a:cs typeface="Tahoma"/>
              </a:rPr>
              <a:t>users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generate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about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2</a:t>
            </a:r>
            <a:r>
              <a:rPr sz="1100" i="1" dirty="0">
                <a:latin typeface="Calibri"/>
                <a:cs typeface="Calibri"/>
              </a:rPr>
              <a:t>.</a:t>
            </a:r>
            <a:r>
              <a:rPr sz="1100" dirty="0">
                <a:latin typeface="Tahoma"/>
                <a:cs typeface="Tahoma"/>
              </a:rPr>
              <a:t>5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quintillion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bytes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each</a:t>
            </a:r>
            <a:r>
              <a:rPr sz="1100" spc="-35" dirty="0">
                <a:latin typeface="Tahoma"/>
                <a:cs typeface="Tahoma"/>
              </a:rPr>
              <a:t> day</a:t>
            </a:r>
            <a:r>
              <a:rPr sz="1200" spc="-52" baseline="27777" dirty="0">
                <a:latin typeface="Arial MT"/>
                <a:cs typeface="Arial MT"/>
              </a:rPr>
              <a:t>1</a:t>
            </a:r>
            <a:r>
              <a:rPr sz="1200" spc="750" baseline="27777" dirty="0">
                <a:latin typeface="Arial MT"/>
                <a:cs typeface="Arial MT"/>
              </a:rPr>
              <a:t> </a:t>
            </a:r>
            <a:r>
              <a:rPr sz="1100" spc="-60" dirty="0">
                <a:latin typeface="Tahoma"/>
                <a:cs typeface="Tahoma"/>
              </a:rPr>
              <a:t>In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2018,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internet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users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spent</a:t>
            </a:r>
            <a:r>
              <a:rPr sz="1100" spc="-25" dirty="0">
                <a:latin typeface="Tahoma"/>
                <a:cs typeface="Tahoma"/>
              </a:rPr>
              <a:t> 2.8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million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years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online</a:t>
            </a:r>
            <a:r>
              <a:rPr sz="1200" spc="-15" baseline="27777" dirty="0">
                <a:latin typeface="Arial MT"/>
                <a:cs typeface="Arial MT"/>
              </a:rPr>
              <a:t>2</a:t>
            </a:r>
            <a:endParaRPr sz="1200" baseline="27777">
              <a:latin typeface="Arial MT"/>
              <a:cs typeface="Arial MT"/>
            </a:endParaRPr>
          </a:p>
          <a:p>
            <a:pPr marL="591820" algn="just">
              <a:lnSpc>
                <a:spcPct val="100000"/>
              </a:lnSpc>
              <a:spcBef>
                <a:spcPts val="390"/>
              </a:spcBef>
            </a:pPr>
            <a:r>
              <a:rPr sz="1000" dirty="0">
                <a:latin typeface="Tahoma"/>
                <a:cs typeface="Tahoma"/>
              </a:rPr>
              <a:t>Social</a:t>
            </a:r>
            <a:r>
              <a:rPr sz="1000" spc="-80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media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accounts </a:t>
            </a:r>
            <a:r>
              <a:rPr sz="1000" spc="-10" dirty="0">
                <a:latin typeface="Tahoma"/>
                <a:cs typeface="Tahoma"/>
              </a:rPr>
              <a:t>for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85" dirty="0">
                <a:latin typeface="Tahoma"/>
                <a:cs typeface="Tahoma"/>
              </a:rPr>
              <a:t>33%</a:t>
            </a:r>
            <a:r>
              <a:rPr sz="1000" spc="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of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the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total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time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spent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online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50" spc="-75" baseline="27777" dirty="0">
                <a:latin typeface="Arial MT"/>
                <a:cs typeface="Arial MT"/>
                <a:hlinkClick r:id="rId2" action="ppaction://hlinksldjump"/>
              </a:rPr>
              <a:t>2</a:t>
            </a:r>
            <a:endParaRPr sz="1050" baseline="27777">
              <a:latin typeface="Arial MT"/>
              <a:cs typeface="Arial MT"/>
            </a:endParaRPr>
          </a:p>
          <a:p>
            <a:pPr marL="276860" marR="469265" algn="just">
              <a:lnSpc>
                <a:spcPct val="151700"/>
              </a:lnSpc>
              <a:spcBef>
                <a:spcPts val="20"/>
              </a:spcBef>
            </a:pPr>
            <a:r>
              <a:rPr sz="1100" spc="-60" dirty="0">
                <a:latin typeface="Tahoma"/>
                <a:cs typeface="Tahoma"/>
              </a:rPr>
              <a:t>In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2019,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there </a:t>
            </a:r>
            <a:r>
              <a:rPr sz="1100" spc="-75" dirty="0">
                <a:latin typeface="Tahoma"/>
                <a:cs typeface="Tahoma"/>
              </a:rPr>
              <a:t>were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2</a:t>
            </a:r>
            <a:r>
              <a:rPr sz="1100" i="1" dirty="0">
                <a:latin typeface="Calibri"/>
                <a:cs typeface="Calibri"/>
              </a:rPr>
              <a:t>.</a:t>
            </a:r>
            <a:r>
              <a:rPr sz="1100" dirty="0">
                <a:latin typeface="Tahoma"/>
                <a:cs typeface="Tahoma"/>
              </a:rPr>
              <a:t>3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billion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active</a:t>
            </a:r>
            <a:r>
              <a:rPr sz="1100" spc="-30" dirty="0">
                <a:latin typeface="Tahoma"/>
                <a:cs typeface="Tahoma"/>
              </a:rPr>
              <a:t> Facebook </a:t>
            </a:r>
            <a:r>
              <a:rPr sz="1100" spc="-10" dirty="0">
                <a:latin typeface="Tahoma"/>
                <a:cs typeface="Tahoma"/>
              </a:rPr>
              <a:t>users</a:t>
            </a:r>
            <a:r>
              <a:rPr sz="1100" spc="50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Twitter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users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send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nearly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half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million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tweets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every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minute</a:t>
            </a:r>
            <a:r>
              <a:rPr sz="1200" spc="-44" baseline="27777" dirty="0">
                <a:latin typeface="Arial MT"/>
                <a:cs typeface="Arial MT"/>
                <a:hlinkClick r:id="rId2" action="ppaction://hlinksldjump"/>
              </a:rPr>
              <a:t>1</a:t>
            </a:r>
            <a:endParaRPr sz="1200" baseline="27777">
              <a:latin typeface="Arial MT"/>
              <a:cs typeface="Arial MT"/>
            </a:endParaRPr>
          </a:p>
          <a:p>
            <a:pPr marL="276860" marR="31115" algn="just">
              <a:lnSpc>
                <a:spcPct val="151700"/>
              </a:lnSpc>
            </a:pP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By</a:t>
            </a:r>
            <a:r>
              <a:rPr sz="11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FF0000"/>
                </a:solidFill>
                <a:latin typeface="Tahoma"/>
                <a:cs typeface="Tahoma"/>
              </a:rPr>
              <a:t>2020,</a:t>
            </a: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FF0000"/>
                </a:solidFill>
                <a:latin typeface="Tahoma"/>
                <a:cs typeface="Tahoma"/>
              </a:rPr>
              <a:t>every</a:t>
            </a:r>
            <a:r>
              <a:rPr sz="11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FF0000"/>
                </a:solidFill>
                <a:latin typeface="Tahoma"/>
                <a:cs typeface="Tahoma"/>
              </a:rPr>
              <a:t>person</a:t>
            </a: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will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FF0000"/>
                </a:solidFill>
                <a:latin typeface="Tahoma"/>
                <a:cs typeface="Tahoma"/>
              </a:rPr>
              <a:t>generate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1</a:t>
            </a:r>
            <a:r>
              <a:rPr sz="1100" i="1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7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FF0000"/>
                </a:solidFill>
                <a:latin typeface="Tahoma"/>
                <a:cs typeface="Tahoma"/>
              </a:rPr>
              <a:t>megabytes</a:t>
            </a:r>
            <a:r>
              <a:rPr sz="11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in</a:t>
            </a: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FF0000"/>
                </a:solidFill>
                <a:latin typeface="Tahoma"/>
                <a:cs typeface="Tahoma"/>
              </a:rPr>
              <a:t>just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a</a:t>
            </a: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FF0000"/>
                </a:solidFill>
                <a:latin typeface="Tahoma"/>
                <a:cs typeface="Tahoma"/>
              </a:rPr>
              <a:t>second</a:t>
            </a:r>
            <a:r>
              <a:rPr sz="1200" spc="-75" baseline="27777" dirty="0">
                <a:solidFill>
                  <a:srgbClr val="FF0000"/>
                </a:solidFill>
                <a:latin typeface="Arial MT"/>
                <a:cs typeface="Arial MT"/>
                <a:hlinkClick r:id="rId2" action="ppaction://hlinksldjump"/>
              </a:rPr>
              <a:t>1</a:t>
            </a:r>
            <a:r>
              <a:rPr sz="1200" baseline="27777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By</a:t>
            </a: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FF0000"/>
                </a:solidFill>
                <a:latin typeface="Tahoma"/>
                <a:cs typeface="Tahoma"/>
              </a:rPr>
              <a:t>2020,</a:t>
            </a: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FF0000"/>
                </a:solidFill>
                <a:latin typeface="Tahoma"/>
                <a:cs typeface="Tahoma"/>
              </a:rPr>
              <a:t>there</a:t>
            </a:r>
            <a:r>
              <a:rPr sz="1100" spc="-3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will</a:t>
            </a:r>
            <a:r>
              <a:rPr sz="1100" spc="-3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be</a:t>
            </a:r>
            <a:r>
              <a:rPr sz="1100" spc="28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40</a:t>
            </a: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trillion</a:t>
            </a:r>
            <a:r>
              <a:rPr sz="1100" spc="-3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FF0000"/>
                </a:solidFill>
                <a:latin typeface="Tahoma"/>
                <a:cs typeface="Tahoma"/>
              </a:rPr>
              <a:t>gigabytes</a:t>
            </a: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of</a:t>
            </a:r>
            <a:r>
              <a:rPr sz="1100" spc="-3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FF0000"/>
                </a:solidFill>
                <a:latin typeface="Tahoma"/>
                <a:cs typeface="Tahoma"/>
              </a:rPr>
              <a:t>data</a:t>
            </a:r>
            <a:r>
              <a:rPr sz="1100" spc="-3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FF0000"/>
                </a:solidFill>
                <a:latin typeface="Tahoma"/>
                <a:cs typeface="Tahoma"/>
              </a:rPr>
              <a:t>(40</a:t>
            </a:r>
            <a:r>
              <a:rPr sz="1100" spc="-3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FF0000"/>
                </a:solidFill>
                <a:latin typeface="Tahoma"/>
                <a:cs typeface="Tahoma"/>
              </a:rPr>
              <a:t>zettabytes)</a:t>
            </a:r>
            <a:r>
              <a:rPr sz="1200" spc="-44" baseline="27777" dirty="0">
                <a:solidFill>
                  <a:srgbClr val="FF0000"/>
                </a:solidFill>
                <a:latin typeface="Arial MT"/>
                <a:cs typeface="Arial MT"/>
              </a:rPr>
              <a:t>3</a:t>
            </a:r>
            <a:r>
              <a:rPr sz="1200" spc="750" baseline="27777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1100" spc="-100" dirty="0">
                <a:latin typeface="Tahoma"/>
                <a:cs typeface="Tahoma"/>
              </a:rPr>
              <a:t>90%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all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has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been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created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last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two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years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200" spc="-75" baseline="27777" dirty="0">
                <a:latin typeface="Arial MT"/>
                <a:cs typeface="Arial MT"/>
              </a:rPr>
              <a:t>4</a:t>
            </a:r>
            <a:endParaRPr sz="1200" baseline="27777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44005" y="2787815"/>
            <a:ext cx="1699260" cy="0"/>
          </a:xfrm>
          <a:custGeom>
            <a:avLst/>
            <a:gdLst/>
            <a:ahLst/>
            <a:cxnLst/>
            <a:rect l="l" t="t" r="r" b="b"/>
            <a:pathLst>
              <a:path w="1699260">
                <a:moveTo>
                  <a:pt x="0" y="0"/>
                </a:moveTo>
                <a:lnTo>
                  <a:pt x="1699171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269913" y="2799162"/>
            <a:ext cx="2514600" cy="524510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121920" indent="-83820">
              <a:lnSpc>
                <a:spcPct val="100000"/>
              </a:lnSpc>
              <a:spcBef>
                <a:spcPts val="360"/>
              </a:spcBef>
              <a:buAutoNum type="arabicPlain"/>
              <a:tabLst>
                <a:tab pos="121920" algn="l"/>
              </a:tabLst>
            </a:pPr>
            <a:r>
              <a:rPr sz="600" dirty="0">
                <a:latin typeface="Arial MT"/>
                <a:cs typeface="Arial MT"/>
              </a:rPr>
              <a:t>Domo</a:t>
            </a:r>
            <a:r>
              <a:rPr sz="600" spc="50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report</a:t>
            </a:r>
            <a:r>
              <a:rPr sz="600" spc="50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(a</a:t>
            </a:r>
            <a:r>
              <a:rPr sz="600" spc="50" dirty="0">
                <a:latin typeface="Arial MT"/>
                <a:cs typeface="Arial MT"/>
              </a:rPr>
              <a:t> </a:t>
            </a:r>
            <a:r>
              <a:rPr sz="600" spc="-10" dirty="0">
                <a:latin typeface="Arial MT"/>
                <a:cs typeface="Arial MT"/>
              </a:rPr>
              <a:t>company</a:t>
            </a:r>
            <a:r>
              <a:rPr sz="600" spc="50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with</a:t>
            </a:r>
            <a:r>
              <a:rPr sz="600" spc="50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data</a:t>
            </a:r>
            <a:r>
              <a:rPr sz="600" spc="50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analytic</a:t>
            </a:r>
            <a:r>
              <a:rPr sz="600" spc="50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platform</a:t>
            </a:r>
            <a:r>
              <a:rPr sz="600" spc="50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for</a:t>
            </a:r>
            <a:r>
              <a:rPr sz="600" spc="50" dirty="0">
                <a:latin typeface="Arial MT"/>
                <a:cs typeface="Arial MT"/>
              </a:rPr>
              <a:t> </a:t>
            </a:r>
            <a:r>
              <a:rPr sz="600" spc="-10" dirty="0">
                <a:latin typeface="Arial MT"/>
                <a:cs typeface="Arial MT"/>
              </a:rPr>
              <a:t>businesses)</a:t>
            </a:r>
            <a:endParaRPr sz="600">
              <a:latin typeface="Arial MT"/>
              <a:cs typeface="Arial MT"/>
            </a:endParaRPr>
          </a:p>
          <a:p>
            <a:pPr marL="38100" marR="30480" indent="83820">
              <a:lnSpc>
                <a:spcPct val="136400"/>
              </a:lnSpc>
              <a:buAutoNum type="arabicPlain"/>
              <a:tabLst>
                <a:tab pos="121920" algn="l"/>
              </a:tabLst>
            </a:pPr>
            <a:r>
              <a:rPr sz="600" spc="-10" dirty="0">
                <a:latin typeface="Arial MT"/>
                <a:cs typeface="Arial MT"/>
              </a:rPr>
              <a:t>Global</a:t>
            </a:r>
            <a:r>
              <a:rPr sz="600" spc="30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Web</a:t>
            </a:r>
            <a:r>
              <a:rPr sz="600" spc="35" dirty="0">
                <a:latin typeface="Arial MT"/>
                <a:cs typeface="Arial MT"/>
              </a:rPr>
              <a:t> </a:t>
            </a:r>
            <a:r>
              <a:rPr sz="600" spc="-10" dirty="0">
                <a:latin typeface="Arial MT"/>
                <a:cs typeface="Arial MT"/>
              </a:rPr>
              <a:t>Index</a:t>
            </a:r>
            <a:r>
              <a:rPr sz="600" spc="35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report</a:t>
            </a:r>
            <a:r>
              <a:rPr sz="600" spc="35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(a</a:t>
            </a:r>
            <a:r>
              <a:rPr sz="600" spc="30" dirty="0">
                <a:latin typeface="Arial MT"/>
                <a:cs typeface="Arial MT"/>
              </a:rPr>
              <a:t> </a:t>
            </a:r>
            <a:r>
              <a:rPr sz="600" spc="-10" dirty="0">
                <a:latin typeface="Arial MT"/>
                <a:cs typeface="Arial MT"/>
              </a:rPr>
              <a:t>company</a:t>
            </a:r>
            <a:r>
              <a:rPr sz="600" spc="35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with</a:t>
            </a:r>
            <a:r>
              <a:rPr sz="600" spc="35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big</a:t>
            </a:r>
            <a:r>
              <a:rPr sz="600" spc="35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data</a:t>
            </a:r>
            <a:r>
              <a:rPr sz="600" spc="30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analytic</a:t>
            </a:r>
            <a:r>
              <a:rPr sz="600" spc="35" dirty="0">
                <a:latin typeface="Arial MT"/>
                <a:cs typeface="Arial MT"/>
              </a:rPr>
              <a:t> </a:t>
            </a:r>
            <a:r>
              <a:rPr sz="600" spc="-10" dirty="0">
                <a:latin typeface="Arial MT"/>
                <a:cs typeface="Arial MT"/>
              </a:rPr>
              <a:t>platform)</a:t>
            </a:r>
            <a:r>
              <a:rPr sz="600" spc="500" dirty="0">
                <a:latin typeface="Arial MT"/>
                <a:cs typeface="Arial MT"/>
              </a:rPr>
              <a:t> </a:t>
            </a:r>
            <a:r>
              <a:rPr sz="900" baseline="37037" dirty="0">
                <a:latin typeface="Arial MT"/>
                <a:cs typeface="Arial MT"/>
              </a:rPr>
              <a:t>3</a:t>
            </a:r>
            <a:r>
              <a:rPr sz="600" dirty="0">
                <a:latin typeface="Arial MT"/>
                <a:cs typeface="Arial MT"/>
              </a:rPr>
              <a:t>EMC</a:t>
            </a:r>
            <a:r>
              <a:rPr sz="600" spc="35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(Dell</a:t>
            </a:r>
            <a:r>
              <a:rPr sz="600" spc="45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EMC</a:t>
            </a:r>
            <a:r>
              <a:rPr sz="600" spc="40" dirty="0">
                <a:latin typeface="Arial MT"/>
                <a:cs typeface="Arial MT"/>
              </a:rPr>
              <a:t> </a:t>
            </a:r>
            <a:r>
              <a:rPr sz="600" spc="-20" dirty="0">
                <a:latin typeface="Arial MT"/>
                <a:cs typeface="Arial MT"/>
              </a:rPr>
              <a:t>provides</a:t>
            </a:r>
            <a:r>
              <a:rPr sz="600" spc="45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big</a:t>
            </a:r>
            <a:r>
              <a:rPr sz="600" spc="45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data</a:t>
            </a:r>
            <a:r>
              <a:rPr sz="600" spc="45" dirty="0">
                <a:latin typeface="Arial MT"/>
                <a:cs typeface="Arial MT"/>
              </a:rPr>
              <a:t> </a:t>
            </a:r>
            <a:r>
              <a:rPr sz="600" spc="-10" dirty="0">
                <a:latin typeface="Arial MT"/>
                <a:cs typeface="Arial MT"/>
              </a:rPr>
              <a:t>solutions)</a:t>
            </a:r>
            <a:endParaRPr sz="600">
              <a:latin typeface="Arial MT"/>
              <a:cs typeface="Arial MT"/>
            </a:endParaRPr>
          </a:p>
          <a:p>
            <a:pPr marL="38100">
              <a:lnSpc>
                <a:spcPct val="100000"/>
              </a:lnSpc>
              <a:spcBef>
                <a:spcPts val="265"/>
              </a:spcBef>
            </a:pPr>
            <a:r>
              <a:rPr sz="900" spc="-30" baseline="37037" dirty="0">
                <a:latin typeface="Arial MT"/>
                <a:cs typeface="Arial MT"/>
              </a:rPr>
              <a:t>4</a:t>
            </a:r>
            <a:r>
              <a:rPr sz="600" spc="-20" dirty="0">
                <a:latin typeface="Arial MT"/>
                <a:cs typeface="Arial MT"/>
              </a:rPr>
              <a:t>IBM</a:t>
            </a:r>
            <a:endParaRPr sz="600">
              <a:latin typeface="Arial MT"/>
              <a:cs typeface="Arial MT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5" name="object 1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6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4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Generation</a:t>
            </a:r>
            <a:r>
              <a:rPr sz="1400" u="sng" spc="-1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3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and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Growth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88618" y="403263"/>
            <a:ext cx="2512536" cy="2833154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7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4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Generation</a:t>
            </a:r>
            <a:r>
              <a:rPr sz="1400" u="sng" spc="-1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3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and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Growth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4005" y="631517"/>
            <a:ext cx="4248014" cy="1977647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290245" y="3076081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82993" y="2986405"/>
            <a:ext cx="3300729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100" spc="-100" dirty="0">
                <a:latin typeface="Tahoma"/>
                <a:cs typeface="Tahoma"/>
              </a:rPr>
              <a:t>90%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all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has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been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created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last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two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years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200" spc="-75" baseline="27777" dirty="0">
                <a:latin typeface="Arial MT"/>
                <a:cs typeface="Arial MT"/>
              </a:rPr>
              <a:t>5</a:t>
            </a:r>
            <a:endParaRPr sz="1200" baseline="27777" dirty="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44005" y="3162109"/>
            <a:ext cx="1699260" cy="0"/>
          </a:xfrm>
          <a:custGeom>
            <a:avLst/>
            <a:gdLst/>
            <a:ahLst/>
            <a:cxnLst/>
            <a:rect l="l" t="t" r="r" b="b"/>
            <a:pathLst>
              <a:path w="1699260">
                <a:moveTo>
                  <a:pt x="0" y="0"/>
                </a:moveTo>
                <a:lnTo>
                  <a:pt x="1699171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69913" y="3207123"/>
            <a:ext cx="26987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900" spc="-30" baseline="37037" dirty="0">
                <a:latin typeface="Arial MT"/>
                <a:cs typeface="Arial MT"/>
              </a:rPr>
              <a:t>5</a:t>
            </a:r>
            <a:r>
              <a:rPr sz="600" spc="-20" dirty="0">
                <a:latin typeface="Arial MT"/>
                <a:cs typeface="Arial MT"/>
              </a:rPr>
              <a:t>IBM</a:t>
            </a:r>
            <a:endParaRPr sz="600">
              <a:latin typeface="Arial MT"/>
              <a:cs typeface="Arial MT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9" name="object 9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8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-57150" y="2677303"/>
            <a:ext cx="503872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/>
              <a:t>2025</a:t>
            </a:r>
            <a:r>
              <a:rPr lang="en-US" sz="1000" dirty="0" smtClean="0"/>
              <a:t>: Approximately </a:t>
            </a:r>
            <a:r>
              <a:rPr lang="en-US" sz="1000" b="1" dirty="0" smtClean="0"/>
              <a:t>15-20x Earth-Moon distance</a:t>
            </a:r>
            <a:r>
              <a:rPr lang="en-US" sz="1000" dirty="0" smtClean="0"/>
              <a:t> (or possibly even higher)</a:t>
            </a:r>
            <a:endParaRPr lang="en-US" sz="1000" dirty="0"/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dirty="0"/>
              <a:t>What</a:t>
            </a:r>
            <a:r>
              <a:rPr spc="-5" dirty="0"/>
              <a:t> </a:t>
            </a:r>
            <a:r>
              <a:rPr dirty="0"/>
              <a:t>is</a:t>
            </a:r>
            <a:r>
              <a:rPr spc="-5" dirty="0"/>
              <a:t> </a:t>
            </a:r>
            <a:r>
              <a:rPr dirty="0"/>
              <a:t>Big </a:t>
            </a:r>
            <a:r>
              <a:rPr spc="-20" dirty="0"/>
              <a:t>Data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60284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8393" y="513167"/>
            <a:ext cx="3997325" cy="185229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263525">
              <a:lnSpc>
                <a:spcPct val="102600"/>
              </a:lnSpc>
              <a:spcBef>
                <a:spcPts val="55"/>
              </a:spcBef>
            </a:pPr>
            <a:r>
              <a:rPr sz="1100" b="1" dirty="0">
                <a:solidFill>
                  <a:srgbClr val="0000FF"/>
                </a:solidFill>
                <a:latin typeface="Arial"/>
                <a:cs typeface="Arial"/>
              </a:rPr>
              <a:t>“Big</a:t>
            </a:r>
            <a:r>
              <a:rPr sz="1100" b="1" spc="-5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1100" b="1" dirty="0">
                <a:solidFill>
                  <a:srgbClr val="0000FF"/>
                </a:solidFill>
                <a:latin typeface="Arial"/>
                <a:cs typeface="Arial"/>
              </a:rPr>
              <a:t>data”</a:t>
            </a:r>
            <a:r>
              <a:rPr sz="1100" dirty="0">
                <a:latin typeface="Tahoma"/>
                <a:cs typeface="Tahoma"/>
              </a:rPr>
              <a:t>:</a:t>
            </a:r>
            <a:r>
              <a:rPr sz="1100" spc="6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datasets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whose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size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beyond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ability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typical </a:t>
            </a:r>
            <a:r>
              <a:rPr sz="1100" spc="-45" dirty="0">
                <a:latin typeface="Tahoma"/>
                <a:cs typeface="Tahoma"/>
              </a:rPr>
              <a:t>database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software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tools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capture,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store,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manage,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analyze</a:t>
            </a:r>
            <a:endParaRPr sz="1100">
              <a:latin typeface="Tahoma"/>
              <a:cs typeface="Tahoma"/>
            </a:endParaRPr>
          </a:p>
          <a:p>
            <a:pPr marL="12700" marR="100965">
              <a:lnSpc>
                <a:spcPct val="102699"/>
              </a:lnSpc>
              <a:spcBef>
                <a:spcPts val="1195"/>
              </a:spcBef>
            </a:pPr>
            <a:r>
              <a:rPr sz="1100" dirty="0">
                <a:latin typeface="Tahoma"/>
                <a:cs typeface="Tahoma"/>
              </a:rPr>
              <a:t>As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technology </a:t>
            </a:r>
            <a:r>
              <a:rPr sz="1100" spc="-50" dirty="0">
                <a:latin typeface="Tahoma"/>
                <a:cs typeface="Tahoma"/>
              </a:rPr>
              <a:t>advances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over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time,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size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5" dirty="0">
                <a:latin typeface="Tahoma"/>
                <a:cs typeface="Tahoma"/>
              </a:rPr>
              <a:t> datasets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that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qualify </a:t>
            </a:r>
            <a:r>
              <a:rPr sz="1100" spc="-30" dirty="0">
                <a:latin typeface="Tahoma"/>
                <a:cs typeface="Tahoma"/>
              </a:rPr>
              <a:t>as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big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will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also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increase</a:t>
            </a:r>
            <a:endParaRPr sz="1100">
              <a:latin typeface="Tahoma"/>
              <a:cs typeface="Tahoma"/>
            </a:endParaRPr>
          </a:p>
          <a:p>
            <a:pPr marL="12700" marR="104775">
              <a:lnSpc>
                <a:spcPct val="102600"/>
              </a:lnSpc>
              <a:spcBef>
                <a:spcPts val="1195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definition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varies </a:t>
            </a:r>
            <a:r>
              <a:rPr sz="1100" spc="-30" dirty="0">
                <a:latin typeface="Tahoma"/>
                <a:cs typeface="Tahoma"/>
              </a:rPr>
              <a:t>by</a:t>
            </a:r>
            <a:r>
              <a:rPr sz="1100" spc="-40" dirty="0">
                <a:latin typeface="Tahoma"/>
                <a:cs typeface="Tahoma"/>
              </a:rPr>
              <a:t> sector, </a:t>
            </a:r>
            <a:r>
              <a:rPr sz="1100" spc="-50" dirty="0">
                <a:latin typeface="Tahoma"/>
                <a:cs typeface="Tahoma"/>
              </a:rPr>
              <a:t>depending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on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kinds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available </a:t>
            </a:r>
            <a:r>
              <a:rPr sz="1100" spc="-55" dirty="0">
                <a:latin typeface="Tahoma"/>
                <a:cs typeface="Tahoma"/>
              </a:rPr>
              <a:t>software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tools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sizes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datasets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30" dirty="0">
                <a:latin typeface="Tahoma"/>
                <a:cs typeface="Tahoma"/>
              </a:rPr>
              <a:t> particular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industry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02600"/>
              </a:lnSpc>
              <a:spcBef>
                <a:spcPts val="1195"/>
              </a:spcBef>
            </a:pP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With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those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caveats,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big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data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in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many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sectors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today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will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0000FF"/>
                </a:solidFill>
                <a:latin typeface="Tahoma"/>
                <a:cs typeface="Tahoma"/>
              </a:rPr>
              <a:t>range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from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a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0000FF"/>
                </a:solidFill>
                <a:latin typeface="Tahoma"/>
                <a:cs typeface="Tahoma"/>
              </a:rPr>
              <a:t>few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dozen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terabytes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to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multiple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petabytes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(thousands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of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terabytes)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0245" y="1098816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594802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0245" y="209078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9" name="object 9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9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dirty="0"/>
              <a:t>Data</a:t>
            </a:r>
            <a:r>
              <a:rPr spc="-15" dirty="0"/>
              <a:t> </a:t>
            </a:r>
            <a:r>
              <a:rPr spc="-10" dirty="0"/>
              <a:t>Analytics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55712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8393" y="467447"/>
            <a:ext cx="3991610" cy="9105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Data:</a:t>
            </a:r>
            <a:r>
              <a:rPr sz="1100" spc="5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Set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values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qualitative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or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quantitative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variables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830"/>
              </a:spcBef>
            </a:pP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Information:</a:t>
            </a:r>
            <a:r>
              <a:rPr sz="1100" spc="5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Meaningful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or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organized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02699"/>
              </a:lnSpc>
              <a:spcBef>
                <a:spcPts val="800"/>
              </a:spcBef>
            </a:pP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Data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Analytics:</a:t>
            </a:r>
            <a:r>
              <a:rPr sz="1100" spc="7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process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examining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order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draw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and </a:t>
            </a:r>
            <a:r>
              <a:rPr sz="1100" spc="-40" dirty="0">
                <a:latin typeface="Tahoma"/>
                <a:cs typeface="Tahoma"/>
              </a:rPr>
              <a:t>communicate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useful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conclusions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about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information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it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contains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0245" y="83041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103706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6729" y="1684693"/>
            <a:ext cx="3022599" cy="1447952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2801429" y="2955001"/>
            <a:ext cx="906780" cy="9842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450" dirty="0">
                <a:latin typeface="Calibri"/>
                <a:cs typeface="Calibri"/>
              </a:rPr>
              <a:t>Source:</a:t>
            </a:r>
            <a:r>
              <a:rPr sz="450" spc="350" dirty="0">
                <a:latin typeface="Calibri"/>
                <a:cs typeface="Calibri"/>
              </a:rPr>
              <a:t> </a:t>
            </a:r>
            <a:r>
              <a:rPr sz="450" spc="-10" dirty="0">
                <a:latin typeface="Calibri"/>
                <a:cs typeface="Calibri"/>
              </a:rPr>
              <a:t>https://enablecomp.com/</a:t>
            </a:r>
            <a:endParaRPr sz="450"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0" name="object 10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10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3204" y="1021930"/>
            <a:ext cx="4400550" cy="777875"/>
            <a:chOff x="93204" y="1021930"/>
            <a:chExt cx="4400550" cy="777875"/>
          </a:xfrm>
        </p:grpSpPr>
        <p:sp>
          <p:nvSpPr>
            <p:cNvPr id="3" name="object 3"/>
            <p:cNvSpPr/>
            <p:nvPr/>
          </p:nvSpPr>
          <p:spPr>
            <a:xfrm>
              <a:off x="93204" y="1021930"/>
              <a:ext cx="4349750" cy="82550"/>
            </a:xfrm>
            <a:custGeom>
              <a:avLst/>
              <a:gdLst/>
              <a:ahLst/>
              <a:cxnLst/>
              <a:rect l="l" t="t" r="r" b="b"/>
              <a:pathLst>
                <a:path w="4349750" h="82550">
                  <a:moveTo>
                    <a:pt x="4298856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349657" y="82384"/>
                  </a:lnTo>
                  <a:lnTo>
                    <a:pt x="4349657" y="50800"/>
                  </a:lnTo>
                  <a:lnTo>
                    <a:pt x="4345648" y="31075"/>
                  </a:lnTo>
                  <a:lnTo>
                    <a:pt x="4334734" y="14922"/>
                  </a:lnTo>
                  <a:lnTo>
                    <a:pt x="4318581" y="4008"/>
                  </a:lnTo>
                  <a:lnTo>
                    <a:pt x="4298856" y="0"/>
                  </a:lnTo>
                  <a:close/>
                </a:path>
              </a:pathLst>
            </a:custGeom>
            <a:solidFill>
              <a:srgbClr val="E9E9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4005" y="1085189"/>
              <a:ext cx="4349750" cy="715010"/>
            </a:xfrm>
            <a:custGeom>
              <a:avLst/>
              <a:gdLst/>
              <a:ahLst/>
              <a:cxnLst/>
              <a:rect l="l" t="t" r="r" b="b"/>
              <a:pathLst>
                <a:path w="4349750" h="715010">
                  <a:moveTo>
                    <a:pt x="4349657" y="0"/>
                  </a:moveTo>
                  <a:lnTo>
                    <a:pt x="0" y="0"/>
                  </a:lnTo>
                  <a:lnTo>
                    <a:pt x="0" y="714554"/>
                  </a:lnTo>
                  <a:lnTo>
                    <a:pt x="4349657" y="714554"/>
                  </a:lnTo>
                  <a:lnTo>
                    <a:pt x="434965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3204" y="1066352"/>
              <a:ext cx="4349750" cy="682625"/>
            </a:xfrm>
            <a:custGeom>
              <a:avLst/>
              <a:gdLst/>
              <a:ahLst/>
              <a:cxnLst/>
              <a:rect l="l" t="t" r="r" b="b"/>
              <a:pathLst>
                <a:path w="4349750" h="682625">
                  <a:moveTo>
                    <a:pt x="4349657" y="0"/>
                  </a:moveTo>
                  <a:lnTo>
                    <a:pt x="0" y="0"/>
                  </a:lnTo>
                  <a:lnTo>
                    <a:pt x="0" y="631789"/>
                  </a:lnTo>
                  <a:lnTo>
                    <a:pt x="4008" y="651514"/>
                  </a:lnTo>
                  <a:lnTo>
                    <a:pt x="14922" y="667667"/>
                  </a:lnTo>
                  <a:lnTo>
                    <a:pt x="31075" y="678581"/>
                  </a:lnTo>
                  <a:lnTo>
                    <a:pt x="50800" y="682590"/>
                  </a:lnTo>
                  <a:lnTo>
                    <a:pt x="4298856" y="682590"/>
                  </a:lnTo>
                  <a:lnTo>
                    <a:pt x="4318581" y="678581"/>
                  </a:lnTo>
                  <a:lnTo>
                    <a:pt x="4334734" y="667667"/>
                  </a:lnTo>
                  <a:lnTo>
                    <a:pt x="4345648" y="651514"/>
                  </a:lnTo>
                  <a:lnTo>
                    <a:pt x="4349657" y="631789"/>
                  </a:lnTo>
                  <a:lnTo>
                    <a:pt x="4349657" y="0"/>
                  </a:lnTo>
                  <a:close/>
                </a:path>
              </a:pathLst>
            </a:custGeom>
            <a:solidFill>
              <a:srgbClr val="E9E9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18110" rIns="0" bIns="0" rtlCol="0">
            <a:spAutoFit/>
          </a:bodyPr>
          <a:lstStyle/>
          <a:p>
            <a:pPr marL="27305" marR="140970" algn="ctr">
              <a:lnSpc>
                <a:spcPct val="100000"/>
              </a:lnSpc>
              <a:spcBef>
                <a:spcPts val="930"/>
              </a:spcBef>
            </a:pPr>
            <a:r>
              <a:rPr dirty="0"/>
              <a:t>Big</a:t>
            </a:r>
            <a:r>
              <a:rPr spc="-135" dirty="0"/>
              <a:t> </a:t>
            </a:r>
            <a:r>
              <a:rPr spc="-50" dirty="0"/>
              <a:t>Data</a:t>
            </a:r>
            <a:r>
              <a:rPr spc="-105" dirty="0"/>
              <a:t> </a:t>
            </a:r>
            <a:r>
              <a:rPr spc="-65" dirty="0"/>
              <a:t>Analytics:</a:t>
            </a:r>
            <a:r>
              <a:rPr spc="50" dirty="0"/>
              <a:t> </a:t>
            </a:r>
            <a:r>
              <a:rPr spc="-10" dirty="0"/>
              <a:t>Market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8" name="object 8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pc="55" dirty="0"/>
              <a:t>I</a:t>
            </a:r>
            <a:r>
              <a:rPr cap="small" spc="55" dirty="0"/>
              <a:t>mdad</a:t>
            </a:r>
            <a:r>
              <a:rPr spc="90" dirty="0"/>
              <a:t> </a:t>
            </a:r>
            <a:r>
              <a:rPr cap="small" spc="70" dirty="0"/>
              <a:t>ullah</a:t>
            </a:r>
            <a:r>
              <a:rPr spc="95" dirty="0"/>
              <a:t> </a:t>
            </a:r>
            <a:r>
              <a:rPr spc="85" dirty="0"/>
              <a:t>K</a:t>
            </a:r>
            <a:r>
              <a:rPr cap="small" spc="85" dirty="0"/>
              <a:t>han</a:t>
            </a:r>
            <a:r>
              <a:rPr spc="310" dirty="0"/>
              <a:t> </a:t>
            </a:r>
            <a:r>
              <a:rPr spc="-10" dirty="0">
                <a:latin typeface="Arial MT"/>
                <a:cs typeface="Arial MT"/>
              </a:rPr>
              <a:t>(LUMS)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11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dirty="0"/>
              <a:t>Data</a:t>
            </a:r>
            <a:r>
              <a:rPr spc="-70" dirty="0"/>
              <a:t> </a:t>
            </a:r>
            <a:r>
              <a:rPr spc="-10" dirty="0"/>
              <a:t>Analytics:</a:t>
            </a:r>
            <a:r>
              <a:rPr spc="50" dirty="0"/>
              <a:t> </a:t>
            </a:r>
            <a:r>
              <a:rPr dirty="0"/>
              <a:t>Then</a:t>
            </a:r>
            <a:r>
              <a:rPr spc="-70" dirty="0"/>
              <a:t> </a:t>
            </a:r>
            <a:r>
              <a:rPr spc="-30" dirty="0"/>
              <a:t>and</a:t>
            </a:r>
            <a:r>
              <a:rPr spc="-65" dirty="0"/>
              <a:t> </a:t>
            </a:r>
            <a:r>
              <a:rPr spc="-25" dirty="0"/>
              <a:t>Now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60284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8393" y="513167"/>
            <a:ext cx="3949700" cy="20237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Tahoma"/>
                <a:cs typeface="Tahoma"/>
              </a:rPr>
              <a:t>Data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Analytics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has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been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around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years</a:t>
            </a:r>
            <a:endParaRPr sz="1100">
              <a:latin typeface="Tahoma"/>
              <a:cs typeface="Tahoma"/>
            </a:endParaRPr>
          </a:p>
          <a:p>
            <a:pPr marL="12700" marR="276225">
              <a:lnSpc>
                <a:spcPct val="102600"/>
              </a:lnSpc>
              <a:spcBef>
                <a:spcPts val="894"/>
              </a:spcBef>
            </a:pPr>
            <a:r>
              <a:rPr sz="1100" spc="-20" dirty="0">
                <a:latin typeface="Tahoma"/>
                <a:cs typeface="Tahoma"/>
              </a:rPr>
              <a:t>Even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30" dirty="0">
                <a:latin typeface="Tahoma"/>
                <a:cs typeface="Tahoma"/>
              </a:rPr>
              <a:t> 1950’s,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businesses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75" dirty="0">
                <a:latin typeface="Tahoma"/>
                <a:cs typeface="Tahoma"/>
              </a:rPr>
              <a:t>were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using </a:t>
            </a:r>
            <a:r>
              <a:rPr sz="1100" spc="-25" dirty="0">
                <a:latin typeface="Tahoma"/>
                <a:cs typeface="Tahoma"/>
              </a:rPr>
              <a:t>basic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analytics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(manual </a:t>
            </a:r>
            <a:r>
              <a:rPr sz="1100" spc="-35" dirty="0">
                <a:latin typeface="Tahoma"/>
                <a:cs typeface="Tahoma"/>
              </a:rPr>
              <a:t>examination)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(essentially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numbers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spreadsheet)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to </a:t>
            </a:r>
            <a:r>
              <a:rPr sz="1100" spc="-50" dirty="0">
                <a:latin typeface="Tahoma"/>
                <a:cs typeface="Tahoma"/>
              </a:rPr>
              <a:t>uncover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insights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trends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935"/>
              </a:spcBef>
            </a:pPr>
            <a:r>
              <a:rPr sz="1100" spc="-20" dirty="0">
                <a:latin typeface="Tahoma"/>
                <a:cs typeface="Tahoma"/>
              </a:rPr>
              <a:t>New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tools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technologies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bring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speed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efficiency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techniques</a:t>
            </a:r>
            <a:endParaRPr sz="1100">
              <a:latin typeface="Tahoma"/>
              <a:cs typeface="Tahoma"/>
            </a:endParaRPr>
          </a:p>
          <a:p>
            <a:pPr marL="12700" marR="490855">
              <a:lnSpc>
                <a:spcPct val="102600"/>
              </a:lnSpc>
              <a:spcBef>
                <a:spcPts val="894"/>
              </a:spcBef>
            </a:pPr>
            <a:r>
              <a:rPr sz="1100" spc="-55" dirty="0">
                <a:latin typeface="Tahoma"/>
                <a:cs typeface="Tahoma"/>
              </a:rPr>
              <a:t>Today,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businesses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analyze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can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identify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insights</a:t>
            </a:r>
            <a:r>
              <a:rPr sz="1100" spc="-30" dirty="0">
                <a:latin typeface="Tahoma"/>
                <a:cs typeface="Tahoma"/>
              </a:rPr>
              <a:t> for </a:t>
            </a:r>
            <a:r>
              <a:rPr sz="1100" spc="-35" dirty="0">
                <a:latin typeface="Tahoma"/>
                <a:cs typeface="Tahoma"/>
              </a:rPr>
              <a:t>immediate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decisions</a:t>
            </a:r>
            <a:endParaRPr sz="1100">
              <a:latin typeface="Tahoma"/>
              <a:cs typeface="Tahoma"/>
            </a:endParaRPr>
          </a:p>
          <a:p>
            <a:pPr marL="12700" marR="373380">
              <a:lnSpc>
                <a:spcPct val="102600"/>
              </a:lnSpc>
              <a:spcBef>
                <a:spcPts val="900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ability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work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faster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stay</a:t>
            </a:r>
            <a:r>
              <a:rPr sz="1100" spc="-25" dirty="0">
                <a:latin typeface="Tahoma"/>
                <a:cs typeface="Tahoma"/>
              </a:rPr>
              <a:t> agile </a:t>
            </a:r>
            <a:r>
              <a:rPr sz="1100" spc="-50" dirty="0">
                <a:latin typeface="Tahoma"/>
                <a:cs typeface="Tahoma"/>
              </a:rPr>
              <a:t>gives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organizations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a </a:t>
            </a:r>
            <a:r>
              <a:rPr sz="1100" spc="-30" dirty="0">
                <a:latin typeface="Tahoma"/>
                <a:cs typeface="Tahoma"/>
              </a:rPr>
              <a:t>competitive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edge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they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did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not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have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before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0245" y="888784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518881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0245" y="180483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90245" y="226286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9" name="object 9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0" name="object 10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12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dirty="0"/>
              <a:t>Why</a:t>
            </a:r>
            <a:r>
              <a:rPr spc="-30" dirty="0"/>
              <a:t> </a:t>
            </a:r>
            <a:r>
              <a:rPr dirty="0"/>
              <a:t>is</a:t>
            </a:r>
            <a:r>
              <a:rPr spc="-25" dirty="0"/>
              <a:t> </a:t>
            </a:r>
            <a:r>
              <a:rPr dirty="0"/>
              <a:t>Big</a:t>
            </a:r>
            <a:r>
              <a:rPr spc="-25" dirty="0"/>
              <a:t> </a:t>
            </a:r>
            <a:r>
              <a:rPr dirty="0"/>
              <a:t>Data</a:t>
            </a:r>
            <a:r>
              <a:rPr spc="-25" dirty="0"/>
              <a:t> </a:t>
            </a:r>
            <a:r>
              <a:rPr spc="-10" dirty="0"/>
              <a:t>Analytics</a:t>
            </a:r>
            <a:r>
              <a:rPr spc="-30" dirty="0"/>
              <a:t> </a:t>
            </a:r>
            <a:r>
              <a:rPr spc="-10" dirty="0"/>
              <a:t>Important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829779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90245" y="106511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90245" y="1300454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53578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0245" y="1771129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66242" y="2605151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66242" y="2853144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266242" y="3101136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07302" y="475207"/>
            <a:ext cx="3489960" cy="272796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6195">
              <a:lnSpc>
                <a:spcPct val="100000"/>
              </a:lnSpc>
              <a:spcBef>
                <a:spcPts val="90"/>
              </a:spcBef>
            </a:pPr>
            <a:r>
              <a:rPr sz="1100" spc="-30" dirty="0">
                <a:latin typeface="Tahoma"/>
                <a:cs typeface="Tahoma"/>
              </a:rPr>
              <a:t>Organizations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analyze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</a:t>
            </a:r>
            <a:endParaRPr sz="1100">
              <a:latin typeface="Tahoma"/>
              <a:cs typeface="Tahoma"/>
            </a:endParaRPr>
          </a:p>
          <a:p>
            <a:pPr marL="313690">
              <a:lnSpc>
                <a:spcPct val="100000"/>
              </a:lnSpc>
              <a:spcBef>
                <a:spcPts val="765"/>
              </a:spcBef>
            </a:pPr>
            <a:r>
              <a:rPr sz="1100" dirty="0">
                <a:latin typeface="Tahoma"/>
                <a:cs typeface="Tahoma"/>
              </a:rPr>
              <a:t>to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identify </a:t>
            </a:r>
            <a:r>
              <a:rPr sz="1100" spc="-60" dirty="0">
                <a:latin typeface="Tahoma"/>
                <a:cs typeface="Tahoma"/>
              </a:rPr>
              <a:t>new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opportunities</a:t>
            </a:r>
            <a:endParaRPr sz="1100">
              <a:latin typeface="Tahoma"/>
              <a:cs typeface="Tahoma"/>
            </a:endParaRPr>
          </a:p>
          <a:p>
            <a:pPr marL="313690" marR="5080">
              <a:lnSpc>
                <a:spcPct val="140400"/>
              </a:lnSpc>
            </a:pPr>
            <a:r>
              <a:rPr sz="1100" dirty="0">
                <a:latin typeface="Tahoma"/>
                <a:cs typeface="Tahoma"/>
              </a:rPr>
              <a:t>to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gain</a:t>
            </a:r>
            <a:r>
              <a:rPr sz="1100" spc="-25" dirty="0">
                <a:latin typeface="Tahoma"/>
                <a:cs typeface="Tahoma"/>
              </a:rPr>
              <a:t> insights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that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lead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smarter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business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decisions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identify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methods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more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efficient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operations</a:t>
            </a:r>
            <a:endParaRPr sz="1100">
              <a:latin typeface="Tahoma"/>
              <a:cs typeface="Tahoma"/>
            </a:endParaRPr>
          </a:p>
          <a:p>
            <a:pPr marL="313690" marR="493395">
              <a:lnSpc>
                <a:spcPct val="140400"/>
              </a:lnSpc>
            </a:pPr>
            <a:r>
              <a:rPr sz="1100" dirty="0">
                <a:latin typeface="Tahoma"/>
                <a:cs typeface="Tahoma"/>
              </a:rPr>
              <a:t>to</a:t>
            </a:r>
            <a:r>
              <a:rPr sz="1100" spc="-35" dirty="0">
                <a:latin typeface="Tahoma"/>
                <a:cs typeface="Tahoma"/>
              </a:rPr>
              <a:t> maximize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larger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revenues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higher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profits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keeps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customers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satisfied</a:t>
            </a:r>
            <a:endParaRPr sz="11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55"/>
              </a:spcBef>
            </a:pPr>
            <a:endParaRPr sz="1100">
              <a:latin typeface="Tahoma"/>
              <a:cs typeface="Tahoma"/>
            </a:endParaRPr>
          </a:p>
          <a:p>
            <a:pPr marL="12700" marR="1610360">
              <a:lnSpc>
                <a:spcPct val="102600"/>
              </a:lnSpc>
            </a:pPr>
            <a:r>
              <a:rPr sz="1100" dirty="0">
                <a:latin typeface="Tahoma"/>
                <a:cs typeface="Tahoma"/>
              </a:rPr>
              <a:t>Top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three</a:t>
            </a:r>
            <a:r>
              <a:rPr sz="1100" spc="-30" dirty="0">
                <a:latin typeface="Tahoma"/>
                <a:cs typeface="Tahoma"/>
              </a:rPr>
              <a:t> factors </a:t>
            </a:r>
            <a:r>
              <a:rPr sz="1100" spc="-60" dirty="0">
                <a:latin typeface="Tahoma"/>
                <a:cs typeface="Tahoma"/>
              </a:rPr>
              <a:t>businesses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got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most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value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in</a:t>
            </a:r>
            <a:endParaRPr sz="11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1055"/>
              </a:spcBef>
            </a:pP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Cost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reduction</a:t>
            </a:r>
            <a:endParaRPr sz="1100">
              <a:latin typeface="Tahoma"/>
              <a:cs typeface="Tahoma"/>
            </a:endParaRPr>
          </a:p>
          <a:p>
            <a:pPr marL="289560" marR="1441450">
              <a:lnSpc>
                <a:spcPct val="147900"/>
              </a:lnSpc>
            </a:pP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Faster,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better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decision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making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New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products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and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services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19730" y="2128189"/>
            <a:ext cx="1327594" cy="1156715"/>
          </a:xfrm>
          <a:prstGeom prst="rect">
            <a:avLst/>
          </a:prstGeom>
        </p:spPr>
      </p:pic>
      <p:grpSp>
        <p:nvGrpSpPr>
          <p:cNvPr id="13" name="object 13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4" name="object 14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13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dirty="0"/>
              <a:t>Why</a:t>
            </a:r>
            <a:r>
              <a:rPr spc="-20" dirty="0"/>
              <a:t> </a:t>
            </a:r>
            <a:r>
              <a:rPr spc="-55" dirty="0"/>
              <a:t>enterprises</a:t>
            </a:r>
            <a:r>
              <a:rPr spc="-15" dirty="0"/>
              <a:t> </a:t>
            </a:r>
            <a:r>
              <a:rPr spc="-75" dirty="0"/>
              <a:t>use</a:t>
            </a:r>
            <a:r>
              <a:rPr spc="-15" dirty="0"/>
              <a:t> </a:t>
            </a:r>
            <a:r>
              <a:rPr dirty="0"/>
              <a:t>Big</a:t>
            </a:r>
            <a:r>
              <a:rPr spc="-20" dirty="0"/>
              <a:t> </a:t>
            </a:r>
            <a:r>
              <a:rPr dirty="0"/>
              <a:t>Data</a:t>
            </a:r>
            <a:r>
              <a:rPr spc="-15" dirty="0"/>
              <a:t> </a:t>
            </a:r>
            <a:r>
              <a:rPr spc="-10" dirty="0"/>
              <a:t>Analytics</a:t>
            </a:r>
            <a:r>
              <a:rPr dirty="0"/>
              <a:t>	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305" y="475207"/>
            <a:ext cx="37179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45" dirty="0">
                <a:latin typeface="Tahoma"/>
                <a:cs typeface="Tahoma"/>
              </a:rPr>
              <a:t>Companies </a:t>
            </a:r>
            <a:r>
              <a:rPr sz="1100" spc="-60" dirty="0">
                <a:latin typeface="Tahoma"/>
                <a:cs typeface="Tahoma"/>
              </a:rPr>
              <a:t>are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using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big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analytics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all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types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decisions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30756" y="907923"/>
            <a:ext cx="1878177" cy="99852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6" name="object 6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14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dirty="0"/>
              <a:t>What</a:t>
            </a:r>
            <a:r>
              <a:rPr spc="-20" dirty="0"/>
              <a:t> </a:t>
            </a:r>
            <a:r>
              <a:rPr spc="-55" dirty="0"/>
              <a:t>enterprises</a:t>
            </a:r>
            <a:r>
              <a:rPr spc="-15" dirty="0"/>
              <a:t> </a:t>
            </a:r>
            <a:r>
              <a:rPr spc="-75" dirty="0"/>
              <a:t>use</a:t>
            </a:r>
            <a:r>
              <a:rPr spc="-20" dirty="0"/>
              <a:t> </a:t>
            </a:r>
            <a:r>
              <a:rPr dirty="0"/>
              <a:t>Big</a:t>
            </a:r>
            <a:r>
              <a:rPr spc="-15" dirty="0"/>
              <a:t> </a:t>
            </a:r>
            <a:r>
              <a:rPr dirty="0"/>
              <a:t>Data</a:t>
            </a:r>
            <a:r>
              <a:rPr spc="-20" dirty="0"/>
              <a:t> </a:t>
            </a:r>
            <a:r>
              <a:rPr spc="-10" dirty="0"/>
              <a:t>Analytics</a:t>
            </a:r>
            <a:r>
              <a:rPr spc="-15" dirty="0"/>
              <a:t> </a:t>
            </a:r>
            <a:r>
              <a:rPr spc="-25" dirty="0"/>
              <a:t>for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582599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572681" y="765073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5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90245" y="98747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572681" y="1169949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5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0245" y="1392364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72681" y="1574825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90245" y="179724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72681" y="1979714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290245" y="2353957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72681" y="2536431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290245" y="275883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72681" y="2941307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382993" y="467842"/>
            <a:ext cx="3964304" cy="2567940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285"/>
              </a:spcBef>
            </a:pP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Competitor</a:t>
            </a:r>
            <a:r>
              <a:rPr sz="1100" spc="1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Analysis</a:t>
            </a:r>
            <a:endParaRPr sz="1100">
              <a:latin typeface="Tahoma"/>
              <a:cs typeface="Tahoma"/>
            </a:endParaRPr>
          </a:p>
          <a:p>
            <a:pPr marL="314960">
              <a:lnSpc>
                <a:spcPct val="100000"/>
              </a:lnSpc>
              <a:spcBef>
                <a:spcPts val="175"/>
              </a:spcBef>
            </a:pPr>
            <a:r>
              <a:rPr sz="1000" spc="-10" dirty="0">
                <a:latin typeface="Tahoma"/>
                <a:cs typeface="Tahoma"/>
              </a:rPr>
              <a:t>Online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traffic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to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spc="-45" dirty="0">
                <a:latin typeface="Tahoma"/>
                <a:cs typeface="Tahoma"/>
              </a:rPr>
              <a:t>websites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and</a:t>
            </a:r>
            <a:r>
              <a:rPr sz="1000" spc="-30" dirty="0">
                <a:latin typeface="Tahoma"/>
                <a:cs typeface="Tahoma"/>
              </a:rPr>
              <a:t> related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social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media</a:t>
            </a:r>
            <a:endParaRPr sz="1000">
              <a:latin typeface="Tahoma"/>
              <a:cs typeface="Tahoma"/>
            </a:endParaRPr>
          </a:p>
          <a:p>
            <a:pPr marL="38100">
              <a:lnSpc>
                <a:spcPct val="100000"/>
              </a:lnSpc>
              <a:spcBef>
                <a:spcPts val="495"/>
              </a:spcBef>
            </a:pP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Market</a:t>
            </a:r>
            <a:r>
              <a:rPr sz="1100" spc="-5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Analysis</a:t>
            </a:r>
            <a:endParaRPr sz="1100">
              <a:latin typeface="Tahoma"/>
              <a:cs typeface="Tahoma"/>
            </a:endParaRPr>
          </a:p>
          <a:p>
            <a:pPr marL="314960">
              <a:lnSpc>
                <a:spcPct val="100000"/>
              </a:lnSpc>
              <a:spcBef>
                <a:spcPts val="175"/>
              </a:spcBef>
            </a:pPr>
            <a:r>
              <a:rPr sz="1000" spc="-35" dirty="0">
                <a:latin typeface="Tahoma"/>
                <a:cs typeface="Tahoma"/>
              </a:rPr>
              <a:t>Trends</a:t>
            </a:r>
            <a:r>
              <a:rPr sz="1000" spc="-45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and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35" dirty="0">
                <a:latin typeface="Tahoma"/>
                <a:cs typeface="Tahoma"/>
              </a:rPr>
              <a:t>market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50" dirty="0">
                <a:latin typeface="Tahoma"/>
                <a:cs typeface="Tahoma"/>
              </a:rPr>
              <a:t>segment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analysis</a:t>
            </a:r>
            <a:endParaRPr sz="1000">
              <a:latin typeface="Tahoma"/>
              <a:cs typeface="Tahoma"/>
            </a:endParaRPr>
          </a:p>
          <a:p>
            <a:pPr marL="38100">
              <a:lnSpc>
                <a:spcPct val="100000"/>
              </a:lnSpc>
              <a:spcBef>
                <a:spcPts val="495"/>
              </a:spcBef>
            </a:pP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Productivity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Enhancement</a:t>
            </a:r>
            <a:endParaRPr sz="1100">
              <a:latin typeface="Tahoma"/>
              <a:cs typeface="Tahoma"/>
            </a:endParaRPr>
          </a:p>
          <a:p>
            <a:pPr marL="314960">
              <a:lnSpc>
                <a:spcPct val="100000"/>
              </a:lnSpc>
              <a:spcBef>
                <a:spcPts val="175"/>
              </a:spcBef>
            </a:pPr>
            <a:r>
              <a:rPr sz="1000" spc="-20" dirty="0">
                <a:latin typeface="Tahoma"/>
                <a:cs typeface="Tahoma"/>
              </a:rPr>
              <a:t>Analyze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60" dirty="0">
                <a:latin typeface="Tahoma"/>
                <a:cs typeface="Tahoma"/>
              </a:rPr>
              <a:t>employees</a:t>
            </a:r>
            <a:r>
              <a:rPr sz="1000" spc="-5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tracking</a:t>
            </a:r>
            <a:r>
              <a:rPr sz="1000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data</a:t>
            </a:r>
            <a:endParaRPr sz="1000">
              <a:latin typeface="Tahoma"/>
              <a:cs typeface="Tahoma"/>
            </a:endParaRPr>
          </a:p>
          <a:p>
            <a:pPr marL="38100">
              <a:lnSpc>
                <a:spcPct val="100000"/>
              </a:lnSpc>
              <a:spcBef>
                <a:spcPts val="490"/>
              </a:spcBef>
            </a:pP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Cost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Cutting</a:t>
            </a:r>
            <a:endParaRPr sz="1100">
              <a:latin typeface="Tahoma"/>
              <a:cs typeface="Tahoma"/>
            </a:endParaRPr>
          </a:p>
          <a:p>
            <a:pPr marL="314960" marR="340995">
              <a:lnSpc>
                <a:spcPct val="100000"/>
              </a:lnSpc>
              <a:spcBef>
                <a:spcPts val="175"/>
              </a:spcBef>
            </a:pPr>
            <a:r>
              <a:rPr sz="1000" spc="-35" dirty="0">
                <a:latin typeface="Tahoma"/>
                <a:cs typeface="Tahoma"/>
              </a:rPr>
              <a:t>Reduce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60" dirty="0">
                <a:latin typeface="Tahoma"/>
                <a:cs typeface="Tahoma"/>
              </a:rPr>
              <a:t>energy</a:t>
            </a:r>
            <a:r>
              <a:rPr sz="1000" spc="-10" dirty="0">
                <a:latin typeface="Tahoma"/>
                <a:cs typeface="Tahoma"/>
              </a:rPr>
              <a:t> bills, </a:t>
            </a:r>
            <a:r>
              <a:rPr sz="1000" spc="-20" dirty="0">
                <a:latin typeface="Tahoma"/>
                <a:cs typeface="Tahoma"/>
              </a:rPr>
              <a:t>optimize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35" dirty="0">
                <a:latin typeface="Tahoma"/>
                <a:cs typeface="Tahoma"/>
              </a:rPr>
              <a:t>routes,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predict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50" dirty="0">
                <a:latin typeface="Tahoma"/>
                <a:cs typeface="Tahoma"/>
              </a:rPr>
              <a:t>demands,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35" dirty="0">
                <a:latin typeface="Tahoma"/>
                <a:cs typeface="Tahoma"/>
              </a:rPr>
              <a:t>process </a:t>
            </a:r>
            <a:r>
              <a:rPr sz="1000" spc="-30" dirty="0">
                <a:latin typeface="Tahoma"/>
                <a:cs typeface="Tahoma"/>
              </a:rPr>
              <a:t>efficiency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and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automation</a:t>
            </a:r>
            <a:r>
              <a:rPr sz="1050" spc="-15" baseline="27777" dirty="0">
                <a:latin typeface="Arial MT"/>
                <a:cs typeface="Arial MT"/>
              </a:rPr>
              <a:t>6</a:t>
            </a:r>
            <a:endParaRPr sz="1050" baseline="27777">
              <a:latin typeface="Arial MT"/>
              <a:cs typeface="Arial MT"/>
            </a:endParaRPr>
          </a:p>
          <a:p>
            <a:pPr marL="38100">
              <a:lnSpc>
                <a:spcPct val="100000"/>
              </a:lnSpc>
              <a:spcBef>
                <a:spcPts val="490"/>
              </a:spcBef>
            </a:pP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Targeted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Marketing</a:t>
            </a:r>
            <a:endParaRPr sz="1100">
              <a:latin typeface="Tahoma"/>
              <a:cs typeface="Tahoma"/>
            </a:endParaRPr>
          </a:p>
          <a:p>
            <a:pPr marL="314960">
              <a:lnSpc>
                <a:spcPct val="100000"/>
              </a:lnSpc>
              <a:spcBef>
                <a:spcPts val="175"/>
              </a:spcBef>
            </a:pPr>
            <a:r>
              <a:rPr sz="1000" spc="-20" dirty="0">
                <a:latin typeface="Tahoma"/>
                <a:cs typeface="Tahoma"/>
              </a:rPr>
              <a:t>Analyze</a:t>
            </a:r>
            <a:r>
              <a:rPr sz="1000" spc="-35" dirty="0">
                <a:latin typeface="Tahoma"/>
                <a:cs typeface="Tahoma"/>
              </a:rPr>
              <a:t> purchasing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history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and target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the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right</a:t>
            </a:r>
            <a:r>
              <a:rPr sz="1000" spc="-35" dirty="0">
                <a:latin typeface="Tahoma"/>
                <a:cs typeface="Tahoma"/>
              </a:rPr>
              <a:t> people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for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a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product</a:t>
            </a:r>
            <a:endParaRPr sz="1000">
              <a:latin typeface="Tahoma"/>
              <a:cs typeface="Tahoma"/>
            </a:endParaRPr>
          </a:p>
          <a:p>
            <a:pPr marL="38100">
              <a:lnSpc>
                <a:spcPct val="100000"/>
              </a:lnSpc>
              <a:spcBef>
                <a:spcPts val="495"/>
              </a:spcBef>
            </a:pPr>
            <a:r>
              <a:rPr sz="1100" spc="-70" dirty="0">
                <a:solidFill>
                  <a:srgbClr val="0000FF"/>
                </a:solidFill>
                <a:latin typeface="Tahoma"/>
                <a:cs typeface="Tahoma"/>
              </a:rPr>
              <a:t>Improved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Customer</a:t>
            </a:r>
            <a:r>
              <a:rPr sz="1100" spc="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Relations</a:t>
            </a:r>
            <a:endParaRPr sz="1100">
              <a:latin typeface="Tahoma"/>
              <a:cs typeface="Tahoma"/>
            </a:endParaRPr>
          </a:p>
          <a:p>
            <a:pPr marL="314960">
              <a:lnSpc>
                <a:spcPct val="100000"/>
              </a:lnSpc>
              <a:spcBef>
                <a:spcPts val="170"/>
              </a:spcBef>
            </a:pPr>
            <a:r>
              <a:rPr sz="1000" spc="-20" dirty="0">
                <a:latin typeface="Tahoma"/>
                <a:cs typeface="Tahoma"/>
              </a:rPr>
              <a:t>Analyze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35" dirty="0">
                <a:latin typeface="Tahoma"/>
                <a:cs typeface="Tahoma"/>
              </a:rPr>
              <a:t>customer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feedback</a:t>
            </a:r>
            <a:r>
              <a:rPr sz="1000" spc="-25" dirty="0">
                <a:latin typeface="Tahoma"/>
                <a:cs typeface="Tahoma"/>
              </a:rPr>
              <a:t> and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50" dirty="0">
                <a:latin typeface="Tahoma"/>
                <a:cs typeface="Tahoma"/>
              </a:rPr>
              <a:t>make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adjustments</a:t>
            </a:r>
            <a:endParaRPr sz="1000">
              <a:latin typeface="Tahoma"/>
              <a:cs typeface="Tahoma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44005" y="3162109"/>
            <a:ext cx="1699260" cy="0"/>
          </a:xfrm>
          <a:custGeom>
            <a:avLst/>
            <a:gdLst/>
            <a:ahLst/>
            <a:cxnLst/>
            <a:rect l="l" t="t" r="r" b="b"/>
            <a:pathLst>
              <a:path w="1699260">
                <a:moveTo>
                  <a:pt x="0" y="0"/>
                </a:moveTo>
                <a:lnTo>
                  <a:pt x="1699171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269913" y="3207123"/>
            <a:ext cx="35058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900" spc="-15" baseline="37037" dirty="0">
                <a:latin typeface="Arial MT"/>
                <a:cs typeface="Arial MT"/>
              </a:rPr>
              <a:t>6</a:t>
            </a:r>
            <a:r>
              <a:rPr sz="600" spc="-10" dirty="0">
                <a:latin typeface="Arial MT"/>
                <a:cs typeface="Arial MT"/>
              </a:rPr>
              <a:t>Forbes</a:t>
            </a:r>
            <a:r>
              <a:rPr sz="600" spc="75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(01/08/2016)</a:t>
            </a:r>
            <a:r>
              <a:rPr sz="600" spc="80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Big</a:t>
            </a:r>
            <a:r>
              <a:rPr sz="600" spc="80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Data</a:t>
            </a:r>
            <a:r>
              <a:rPr sz="600" spc="75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Analytics’</a:t>
            </a:r>
            <a:r>
              <a:rPr sz="600" spc="80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Potential</a:t>
            </a:r>
            <a:r>
              <a:rPr sz="600" spc="80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to</a:t>
            </a:r>
            <a:r>
              <a:rPr sz="600" spc="75" dirty="0">
                <a:latin typeface="Arial MT"/>
                <a:cs typeface="Arial MT"/>
              </a:rPr>
              <a:t> </a:t>
            </a:r>
            <a:r>
              <a:rPr sz="600" spc="-10" dirty="0">
                <a:latin typeface="Arial MT"/>
                <a:cs typeface="Arial MT"/>
              </a:rPr>
              <a:t>Revolutionize</a:t>
            </a:r>
            <a:r>
              <a:rPr sz="600" spc="80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Manufacturing</a:t>
            </a:r>
            <a:r>
              <a:rPr sz="600" spc="80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Is</a:t>
            </a:r>
            <a:r>
              <a:rPr sz="600" spc="75" dirty="0">
                <a:latin typeface="Arial MT"/>
                <a:cs typeface="Arial MT"/>
              </a:rPr>
              <a:t> </a:t>
            </a:r>
            <a:r>
              <a:rPr sz="600" dirty="0">
                <a:latin typeface="Arial MT"/>
                <a:cs typeface="Arial MT"/>
              </a:rPr>
              <a:t>Within</a:t>
            </a:r>
            <a:r>
              <a:rPr sz="600" spc="80" dirty="0">
                <a:latin typeface="Arial MT"/>
                <a:cs typeface="Arial MT"/>
              </a:rPr>
              <a:t> </a:t>
            </a:r>
            <a:r>
              <a:rPr sz="600" spc="-10" dirty="0">
                <a:latin typeface="Arial MT"/>
                <a:cs typeface="Arial MT"/>
              </a:rPr>
              <a:t>Reach</a:t>
            </a:r>
            <a:endParaRPr sz="600">
              <a:latin typeface="Arial MT"/>
              <a:cs typeface="Arial MT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9" name="object 19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24" name="object 2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15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50" dirty="0"/>
              <a:t>Industries</a:t>
            </a:r>
            <a:r>
              <a:rPr spc="-25" dirty="0"/>
              <a:t> Benefiting </a:t>
            </a:r>
            <a:r>
              <a:rPr spc="-20" dirty="0"/>
              <a:t>from </a:t>
            </a:r>
            <a:r>
              <a:rPr dirty="0"/>
              <a:t>Big</a:t>
            </a:r>
            <a:r>
              <a:rPr spc="-20" dirty="0"/>
              <a:t> </a:t>
            </a:r>
            <a:r>
              <a:rPr dirty="0"/>
              <a:t>Data</a:t>
            </a:r>
            <a:r>
              <a:rPr spc="-25" dirty="0"/>
              <a:t> </a:t>
            </a:r>
            <a:r>
              <a:rPr spc="-10" dirty="0"/>
              <a:t>Analytics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55712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8393" y="467447"/>
            <a:ext cx="3997325" cy="2044064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170180">
              <a:lnSpc>
                <a:spcPct val="102600"/>
              </a:lnSpc>
              <a:spcBef>
                <a:spcPts val="55"/>
              </a:spcBef>
            </a:pP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Retail:</a:t>
            </a:r>
            <a:r>
              <a:rPr sz="1100" spc="7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Advertising,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Targeted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marketing,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recommendation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system, customer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loyalty,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inventory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management,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demand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prediction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02600"/>
              </a:lnSpc>
              <a:spcBef>
                <a:spcPts val="600"/>
              </a:spcBef>
            </a:pP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Banking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and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Financial:</a:t>
            </a:r>
            <a:r>
              <a:rPr sz="1100" spc="7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Customer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loyalty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and </a:t>
            </a:r>
            <a:r>
              <a:rPr sz="1100" spc="-30" dirty="0">
                <a:latin typeface="Tahoma"/>
                <a:cs typeface="Tahoma"/>
              </a:rPr>
              <a:t>churn,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fraud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detection, </a:t>
            </a:r>
            <a:r>
              <a:rPr sz="1100" spc="-10" dirty="0">
                <a:latin typeface="Tahoma"/>
                <a:cs typeface="Tahoma"/>
              </a:rPr>
              <a:t>risk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assessment</a:t>
            </a:r>
            <a:endParaRPr sz="1100">
              <a:latin typeface="Tahoma"/>
              <a:cs typeface="Tahoma"/>
            </a:endParaRPr>
          </a:p>
          <a:p>
            <a:pPr marL="12700" marR="342265">
              <a:lnSpc>
                <a:spcPct val="102600"/>
              </a:lnSpc>
              <a:spcBef>
                <a:spcPts val="595"/>
              </a:spcBef>
            </a:pP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Brands:</a:t>
            </a:r>
            <a:r>
              <a:rPr sz="1100" spc="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0" dirty="0">
                <a:latin typeface="Tahoma"/>
                <a:cs typeface="Tahoma"/>
              </a:rPr>
              <a:t>66%</a:t>
            </a:r>
            <a:r>
              <a:rPr sz="1100" spc="1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brands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use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25" dirty="0">
                <a:latin typeface="Tahoma"/>
                <a:cs typeface="Tahoma"/>
              </a:rPr>
              <a:t> analytics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30" dirty="0">
                <a:latin typeface="Tahoma"/>
                <a:cs typeface="Tahoma"/>
              </a:rPr>
              <a:t> product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service </a:t>
            </a:r>
            <a:r>
              <a:rPr sz="1100" spc="-30" dirty="0">
                <a:latin typeface="Tahoma"/>
                <a:cs typeface="Tahoma"/>
              </a:rPr>
              <a:t>launch,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appropriate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timings</a:t>
            </a:r>
            <a:endParaRPr sz="1100">
              <a:latin typeface="Tahoma"/>
              <a:cs typeface="Tahoma"/>
            </a:endParaRPr>
          </a:p>
          <a:p>
            <a:pPr marL="12700" marR="345440">
              <a:lnSpc>
                <a:spcPct val="102600"/>
              </a:lnSpc>
              <a:spcBef>
                <a:spcPts val="600"/>
              </a:spcBef>
            </a:pP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Logistics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and 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Transportation:</a:t>
            </a:r>
            <a:r>
              <a:rPr sz="1100" spc="6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Fleet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management,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maintenance </a:t>
            </a:r>
            <a:r>
              <a:rPr sz="1100" spc="-70" dirty="0">
                <a:latin typeface="Tahoma"/>
                <a:cs typeface="Tahoma"/>
              </a:rPr>
              <a:t>needs,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drivers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risk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assessment,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real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time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tracking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02600"/>
              </a:lnSpc>
              <a:spcBef>
                <a:spcPts val="600"/>
              </a:spcBef>
            </a:pP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Health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Care:</a:t>
            </a:r>
            <a:r>
              <a:rPr sz="1100" spc="8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Efficiency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healthcare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operations,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predictive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analytics, </a:t>
            </a:r>
            <a:r>
              <a:rPr sz="1100" spc="-40" dirty="0">
                <a:latin typeface="Tahoma"/>
                <a:cs typeface="Tahoma"/>
              </a:rPr>
              <a:t>outbreak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prediction,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immunization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strategy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0245" y="97718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397254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0245" y="1817319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90245" y="2237384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8959" y="2548566"/>
            <a:ext cx="3367814" cy="257917"/>
          </a:xfrm>
          <a:prstGeom prst="rect">
            <a:avLst/>
          </a:prstGeom>
        </p:spPr>
      </p:pic>
      <p:sp>
        <p:nvSpPr>
          <p:cNvPr id="10" name="object 10"/>
          <p:cNvSpPr/>
          <p:nvPr/>
        </p:nvSpPr>
        <p:spPr>
          <a:xfrm>
            <a:off x="290245" y="2992907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408393" y="2903231"/>
            <a:ext cx="3900804" cy="36385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2600"/>
              </a:lnSpc>
              <a:spcBef>
                <a:spcPts val="55"/>
              </a:spcBef>
            </a:pP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Government</a:t>
            </a:r>
            <a:r>
              <a:rPr sz="1100" spc="-1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85" dirty="0">
                <a:solidFill>
                  <a:srgbClr val="0000FF"/>
                </a:solidFill>
                <a:latin typeface="Tahoma"/>
                <a:cs typeface="Tahoma"/>
              </a:rPr>
              <a:t>&amp;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Utility</a:t>
            </a:r>
            <a:r>
              <a:rPr sz="1100" spc="-1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Companies:</a:t>
            </a:r>
            <a:r>
              <a:rPr sz="1100" spc="10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Surveys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85" dirty="0">
                <a:latin typeface="Tahoma"/>
                <a:cs typeface="Tahoma"/>
              </a:rPr>
              <a:t>&amp;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census,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development </a:t>
            </a:r>
            <a:r>
              <a:rPr sz="1100" spc="-35" dirty="0">
                <a:latin typeface="Tahoma"/>
                <a:cs typeface="Tahoma"/>
              </a:rPr>
              <a:t>planning,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health,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education,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energy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supply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85" dirty="0">
                <a:latin typeface="Tahoma"/>
                <a:cs typeface="Tahoma"/>
              </a:rPr>
              <a:t>&amp;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demand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management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3" name="object 13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16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Industries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Benefiting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from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1017" y="644849"/>
            <a:ext cx="2400643" cy="1066950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17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Industries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Benefiting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from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2958" y="677238"/>
            <a:ext cx="2957757" cy="503119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pc="55" dirty="0"/>
              <a:t>I</a:t>
            </a:r>
            <a:r>
              <a:rPr cap="small" spc="55" dirty="0"/>
              <a:t>mdad</a:t>
            </a:r>
            <a:r>
              <a:rPr spc="90" dirty="0"/>
              <a:t> </a:t>
            </a:r>
            <a:r>
              <a:rPr cap="small" spc="70" dirty="0"/>
              <a:t>ullah</a:t>
            </a:r>
            <a:r>
              <a:rPr spc="95" dirty="0"/>
              <a:t> </a:t>
            </a:r>
            <a:r>
              <a:rPr spc="85" dirty="0"/>
              <a:t>K</a:t>
            </a:r>
            <a:r>
              <a:rPr cap="small" spc="85" dirty="0"/>
              <a:t>han</a:t>
            </a:r>
            <a:r>
              <a:rPr spc="310" dirty="0"/>
              <a:t> </a:t>
            </a:r>
            <a:r>
              <a:rPr spc="-10" dirty="0">
                <a:latin typeface="Arial MT"/>
                <a:cs typeface="Arial MT"/>
              </a:rPr>
              <a:t>(LUMS)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18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Industries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Benefiting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from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83535" y="673429"/>
            <a:ext cx="2568979" cy="644148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19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Industries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Benefiting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from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8884" y="642215"/>
            <a:ext cx="2976153" cy="625240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20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Industries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Benefiting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from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8720" y="646753"/>
            <a:ext cx="2774800" cy="472632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21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Industries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Benefiting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from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6852" y="669625"/>
            <a:ext cx="2629961" cy="472628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pc="55" dirty="0"/>
              <a:t>I</a:t>
            </a:r>
            <a:r>
              <a:rPr cap="small" spc="55" dirty="0"/>
              <a:t>mdad</a:t>
            </a:r>
            <a:r>
              <a:rPr spc="90" dirty="0"/>
              <a:t> </a:t>
            </a:r>
            <a:r>
              <a:rPr cap="small" spc="70" dirty="0"/>
              <a:t>ullah</a:t>
            </a:r>
            <a:r>
              <a:rPr spc="95" dirty="0"/>
              <a:t> </a:t>
            </a:r>
            <a:r>
              <a:rPr spc="85" dirty="0"/>
              <a:t>K</a:t>
            </a:r>
            <a:r>
              <a:rPr cap="small" spc="85" dirty="0"/>
              <a:t>han</a:t>
            </a:r>
            <a:r>
              <a:rPr spc="310" dirty="0"/>
              <a:t> </a:t>
            </a:r>
            <a:r>
              <a:rPr spc="-10" dirty="0">
                <a:latin typeface="Arial MT"/>
                <a:cs typeface="Arial MT"/>
              </a:rPr>
              <a:t>(LUMS)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22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Industries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Benefiting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from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6444" y="665808"/>
            <a:ext cx="2359344" cy="301109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23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Industries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Benefiting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from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1261" y="631510"/>
            <a:ext cx="3008068" cy="511515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24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Industries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Benefiting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from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7836" y="665803"/>
            <a:ext cx="2496555" cy="644148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25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Industries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Benefiting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from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0237" y="646746"/>
            <a:ext cx="2443194" cy="647964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pc="55" dirty="0"/>
              <a:t>I</a:t>
            </a:r>
            <a:r>
              <a:rPr cap="small" spc="55" dirty="0"/>
              <a:t>mdad</a:t>
            </a:r>
            <a:r>
              <a:rPr spc="90" dirty="0"/>
              <a:t> </a:t>
            </a:r>
            <a:r>
              <a:rPr cap="small" spc="70" dirty="0"/>
              <a:t>ullah</a:t>
            </a:r>
            <a:r>
              <a:rPr spc="95" dirty="0"/>
              <a:t> </a:t>
            </a:r>
            <a:r>
              <a:rPr spc="85" dirty="0"/>
              <a:t>K</a:t>
            </a:r>
            <a:r>
              <a:rPr cap="small" spc="85" dirty="0"/>
              <a:t>han</a:t>
            </a:r>
            <a:r>
              <a:rPr spc="310" dirty="0"/>
              <a:t> </a:t>
            </a:r>
            <a:r>
              <a:rPr spc="-10" dirty="0">
                <a:latin typeface="Arial MT"/>
                <a:cs typeface="Arial MT"/>
              </a:rPr>
              <a:t>(LUMS)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26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Industries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Benefiting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from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66855" y="654555"/>
            <a:ext cx="2805227" cy="495374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27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Industries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Benefiting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from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3021" y="673437"/>
            <a:ext cx="2717628" cy="47644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28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Industries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Benefiting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from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31172" y="654379"/>
            <a:ext cx="2477501" cy="476444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29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Industries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Benefiting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from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4496" y="681052"/>
            <a:ext cx="2523240" cy="647958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30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Industries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Benefiting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from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81629" y="669625"/>
            <a:ext cx="2568979" cy="47644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31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dirty="0"/>
              <a:t>Big</a:t>
            </a:r>
            <a:r>
              <a:rPr spc="-10" dirty="0"/>
              <a:t> </a:t>
            </a:r>
            <a:r>
              <a:rPr dirty="0"/>
              <a:t>Data</a:t>
            </a:r>
            <a:r>
              <a:rPr spc="-10" dirty="0"/>
              <a:t> Analytics </a:t>
            </a:r>
            <a:r>
              <a:rPr dirty="0"/>
              <a:t>-</a:t>
            </a:r>
            <a:r>
              <a:rPr spc="-10" dirty="0"/>
              <a:t> Market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60284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90245" y="111147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90245" y="162011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212873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44893" y="513167"/>
            <a:ext cx="4045585" cy="188976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76200" marR="182245">
              <a:lnSpc>
                <a:spcPct val="102600"/>
              </a:lnSpc>
              <a:spcBef>
                <a:spcPts val="55"/>
              </a:spcBef>
            </a:pPr>
            <a:r>
              <a:rPr sz="1100" spc="-100" dirty="0">
                <a:latin typeface="Tahoma"/>
                <a:cs typeface="Tahoma"/>
              </a:rPr>
              <a:t>12%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-</a:t>
            </a:r>
            <a:r>
              <a:rPr sz="1100" spc="-8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rate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increase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big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business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analytics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use </a:t>
            </a:r>
            <a:r>
              <a:rPr sz="1100" spc="-20" dirty="0">
                <a:latin typeface="Tahoma"/>
                <a:cs typeface="Tahoma"/>
              </a:rPr>
              <a:t>from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2018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2019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200" spc="-75" baseline="27777" dirty="0">
                <a:latin typeface="Arial MT"/>
                <a:cs typeface="Arial MT"/>
              </a:rPr>
              <a:t>7</a:t>
            </a:r>
            <a:endParaRPr sz="1200" baseline="27777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100">
              <a:latin typeface="Arial MT"/>
              <a:cs typeface="Arial MT"/>
            </a:endParaRPr>
          </a:p>
          <a:p>
            <a:pPr marL="76200" marR="363855">
              <a:lnSpc>
                <a:spcPct val="102600"/>
              </a:lnSpc>
            </a:pPr>
            <a:r>
              <a:rPr sz="1100" spc="-35" dirty="0">
                <a:latin typeface="Tahoma"/>
                <a:cs typeface="Tahoma"/>
              </a:rPr>
              <a:t>$189</a:t>
            </a:r>
            <a:r>
              <a:rPr sz="1100" i="1" spc="-35" dirty="0">
                <a:latin typeface="Calibri"/>
                <a:cs typeface="Calibri"/>
              </a:rPr>
              <a:t>.</a:t>
            </a:r>
            <a:r>
              <a:rPr sz="1100" spc="-35" dirty="0">
                <a:latin typeface="Tahoma"/>
                <a:cs typeface="Tahoma"/>
              </a:rPr>
              <a:t>1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billion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–</a:t>
            </a:r>
            <a:r>
              <a:rPr sz="1100" spc="-45" dirty="0">
                <a:latin typeface="Tahoma"/>
                <a:cs typeface="Tahoma"/>
              </a:rPr>
              <a:t> projected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worldwide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revenues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big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and </a:t>
            </a:r>
            <a:r>
              <a:rPr sz="1100" spc="-60" dirty="0">
                <a:latin typeface="Tahoma"/>
                <a:cs typeface="Tahoma"/>
              </a:rPr>
              <a:t>business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analytics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solutions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2019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200" spc="-75" baseline="27777" dirty="0">
                <a:latin typeface="Arial MT"/>
                <a:cs typeface="Arial MT"/>
                <a:hlinkClick r:id="rId2" action="ppaction://hlinksldjump"/>
              </a:rPr>
              <a:t>7</a:t>
            </a:r>
            <a:endParaRPr sz="1200" baseline="27777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100">
              <a:latin typeface="Arial MT"/>
              <a:cs typeface="Arial MT"/>
            </a:endParaRPr>
          </a:p>
          <a:p>
            <a:pPr marL="76200" marR="363855">
              <a:lnSpc>
                <a:spcPct val="102600"/>
              </a:lnSpc>
            </a:pPr>
            <a:r>
              <a:rPr sz="1100" spc="-35" dirty="0">
                <a:latin typeface="Tahoma"/>
                <a:cs typeface="Tahoma"/>
              </a:rPr>
              <a:t>$274</a:t>
            </a:r>
            <a:r>
              <a:rPr sz="1100" i="1" spc="-35" dirty="0">
                <a:latin typeface="Calibri"/>
                <a:cs typeface="Calibri"/>
              </a:rPr>
              <a:t>.</a:t>
            </a:r>
            <a:r>
              <a:rPr sz="1100" spc="-35" dirty="0">
                <a:latin typeface="Tahoma"/>
                <a:cs typeface="Tahoma"/>
              </a:rPr>
              <a:t>3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billion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–</a:t>
            </a:r>
            <a:r>
              <a:rPr sz="1100" spc="-45" dirty="0">
                <a:latin typeface="Tahoma"/>
                <a:cs typeface="Tahoma"/>
              </a:rPr>
              <a:t> projected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worldwide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revenues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big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and </a:t>
            </a:r>
            <a:r>
              <a:rPr sz="1100" spc="-60" dirty="0">
                <a:latin typeface="Tahoma"/>
                <a:cs typeface="Tahoma"/>
              </a:rPr>
              <a:t>business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analytics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solutions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by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2022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200" spc="-75" baseline="27777" dirty="0">
                <a:latin typeface="Arial MT"/>
                <a:cs typeface="Arial MT"/>
                <a:hlinkClick r:id="rId2" action="ppaction://hlinksldjump"/>
              </a:rPr>
              <a:t>7</a:t>
            </a:r>
            <a:endParaRPr sz="1200" baseline="27777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100">
              <a:latin typeface="Arial MT"/>
              <a:cs typeface="Arial MT"/>
            </a:endParaRPr>
          </a:p>
          <a:p>
            <a:pPr marL="76200" marR="43180">
              <a:lnSpc>
                <a:spcPct val="102699"/>
              </a:lnSpc>
            </a:pPr>
            <a:r>
              <a:rPr sz="1100" spc="-65" dirty="0">
                <a:latin typeface="Tahoma"/>
                <a:cs typeface="Tahoma"/>
              </a:rPr>
              <a:t>13</a:t>
            </a:r>
            <a:r>
              <a:rPr sz="1100" i="1" spc="-65" dirty="0">
                <a:latin typeface="Calibri"/>
                <a:cs typeface="Calibri"/>
              </a:rPr>
              <a:t>.</a:t>
            </a:r>
            <a:r>
              <a:rPr sz="1100" spc="-65" dirty="0">
                <a:latin typeface="Tahoma"/>
                <a:cs typeface="Tahoma"/>
              </a:rPr>
              <a:t>2%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-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projected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compound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annual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growth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rate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(CAGR)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big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35" dirty="0">
                <a:latin typeface="Tahoma"/>
                <a:cs typeface="Tahoma"/>
              </a:rPr>
              <a:t> and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business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analytics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within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five-</a:t>
            </a:r>
            <a:r>
              <a:rPr sz="1100" spc="-65" dirty="0">
                <a:latin typeface="Tahoma"/>
                <a:cs typeface="Tahoma"/>
              </a:rPr>
              <a:t>year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period,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2018-</a:t>
            </a:r>
            <a:r>
              <a:rPr sz="1100" spc="-50" dirty="0">
                <a:latin typeface="Tahoma"/>
                <a:cs typeface="Tahoma"/>
              </a:rPr>
              <a:t>2022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200" spc="-75" baseline="27777" dirty="0">
                <a:latin typeface="Arial MT"/>
                <a:cs typeface="Arial MT"/>
                <a:hlinkClick r:id="rId2" action="ppaction://hlinksldjump"/>
              </a:rPr>
              <a:t>7</a:t>
            </a:r>
            <a:endParaRPr sz="1200" baseline="27777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44005" y="3162109"/>
            <a:ext cx="1699260" cy="0"/>
          </a:xfrm>
          <a:custGeom>
            <a:avLst/>
            <a:gdLst/>
            <a:ahLst/>
            <a:cxnLst/>
            <a:rect l="l" t="t" r="r" b="b"/>
            <a:pathLst>
              <a:path w="1699260">
                <a:moveTo>
                  <a:pt x="0" y="0"/>
                </a:moveTo>
                <a:lnTo>
                  <a:pt x="1699171" y="0"/>
                </a:lnTo>
              </a:path>
            </a:pathLst>
          </a:custGeom>
          <a:ln w="50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95313" y="3169165"/>
            <a:ext cx="34137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aseline="37037" dirty="0">
                <a:latin typeface="Arial MT"/>
                <a:cs typeface="Arial MT"/>
              </a:rPr>
              <a:t>7</a:t>
            </a:r>
            <a:r>
              <a:rPr sz="900" spc="209" baseline="37037" dirty="0">
                <a:latin typeface="Arial MT"/>
                <a:cs typeface="Arial MT"/>
              </a:rPr>
              <a:t> </a:t>
            </a:r>
            <a:r>
              <a:rPr sz="900" dirty="0">
                <a:latin typeface="Arial MT"/>
                <a:cs typeface="Arial MT"/>
              </a:rPr>
              <a:t>International</a:t>
            </a:r>
            <a:r>
              <a:rPr sz="900" spc="25" dirty="0">
                <a:latin typeface="Arial MT"/>
                <a:cs typeface="Arial MT"/>
              </a:rPr>
              <a:t> </a:t>
            </a:r>
            <a:r>
              <a:rPr sz="900" dirty="0">
                <a:latin typeface="Arial MT"/>
                <a:cs typeface="Arial MT"/>
              </a:rPr>
              <a:t>Data</a:t>
            </a:r>
            <a:r>
              <a:rPr sz="900" spc="25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Corporation</a:t>
            </a:r>
            <a:r>
              <a:rPr sz="900" spc="25" dirty="0">
                <a:latin typeface="Arial MT"/>
                <a:cs typeface="Arial MT"/>
              </a:rPr>
              <a:t> </a:t>
            </a:r>
            <a:r>
              <a:rPr sz="900" dirty="0">
                <a:latin typeface="Arial MT"/>
                <a:cs typeface="Arial MT"/>
              </a:rPr>
              <a:t>(IDC)</a:t>
            </a:r>
            <a:r>
              <a:rPr sz="900" spc="20" dirty="0">
                <a:latin typeface="Arial MT"/>
                <a:cs typeface="Arial MT"/>
              </a:rPr>
              <a:t> </a:t>
            </a:r>
            <a:r>
              <a:rPr sz="900" dirty="0">
                <a:latin typeface="Arial MT"/>
                <a:cs typeface="Arial MT"/>
              </a:rPr>
              <a:t>-</a:t>
            </a:r>
            <a:r>
              <a:rPr sz="900" spc="25" dirty="0">
                <a:latin typeface="Arial MT"/>
                <a:cs typeface="Arial MT"/>
              </a:rPr>
              <a:t> </a:t>
            </a:r>
            <a:r>
              <a:rPr sz="900" dirty="0">
                <a:latin typeface="Arial MT"/>
                <a:cs typeface="Arial MT"/>
              </a:rPr>
              <a:t>Big</a:t>
            </a:r>
            <a:r>
              <a:rPr sz="900" spc="25" dirty="0">
                <a:latin typeface="Arial MT"/>
                <a:cs typeface="Arial MT"/>
              </a:rPr>
              <a:t> </a:t>
            </a:r>
            <a:r>
              <a:rPr sz="900" dirty="0">
                <a:latin typeface="Arial MT"/>
                <a:cs typeface="Arial MT"/>
              </a:rPr>
              <a:t>data</a:t>
            </a:r>
            <a:r>
              <a:rPr sz="900" spc="25" dirty="0">
                <a:latin typeface="Arial MT"/>
                <a:cs typeface="Arial MT"/>
              </a:rPr>
              <a:t> </a:t>
            </a:r>
            <a:r>
              <a:rPr sz="900" spc="-20" dirty="0">
                <a:latin typeface="Arial MT"/>
                <a:cs typeface="Arial MT"/>
              </a:rPr>
              <a:t>analytics</a:t>
            </a:r>
            <a:r>
              <a:rPr sz="900" spc="20" dirty="0">
                <a:latin typeface="Arial MT"/>
                <a:cs typeface="Arial MT"/>
              </a:rPr>
              <a:t> </a:t>
            </a:r>
            <a:r>
              <a:rPr sz="900" spc="-10" dirty="0">
                <a:latin typeface="Arial MT"/>
                <a:cs typeface="Arial MT"/>
              </a:rPr>
              <a:t>company</a:t>
            </a:r>
            <a:endParaRPr sz="900">
              <a:latin typeface="Arial MT"/>
              <a:cs typeface="Arial MT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1" name="object 11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32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Analytics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-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Market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2294" y="631489"/>
            <a:ext cx="2871469" cy="1850750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33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3204" y="1021930"/>
            <a:ext cx="4400550" cy="777875"/>
            <a:chOff x="93204" y="1021930"/>
            <a:chExt cx="4400550" cy="777875"/>
          </a:xfrm>
        </p:grpSpPr>
        <p:sp>
          <p:nvSpPr>
            <p:cNvPr id="3" name="object 3"/>
            <p:cNvSpPr/>
            <p:nvPr/>
          </p:nvSpPr>
          <p:spPr>
            <a:xfrm>
              <a:off x="93204" y="1021930"/>
              <a:ext cx="4349750" cy="82550"/>
            </a:xfrm>
            <a:custGeom>
              <a:avLst/>
              <a:gdLst/>
              <a:ahLst/>
              <a:cxnLst/>
              <a:rect l="l" t="t" r="r" b="b"/>
              <a:pathLst>
                <a:path w="4349750" h="82550">
                  <a:moveTo>
                    <a:pt x="4298856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349657" y="82384"/>
                  </a:lnTo>
                  <a:lnTo>
                    <a:pt x="4349657" y="50800"/>
                  </a:lnTo>
                  <a:lnTo>
                    <a:pt x="4345648" y="31075"/>
                  </a:lnTo>
                  <a:lnTo>
                    <a:pt x="4334734" y="14922"/>
                  </a:lnTo>
                  <a:lnTo>
                    <a:pt x="4318581" y="4008"/>
                  </a:lnTo>
                  <a:lnTo>
                    <a:pt x="4298856" y="0"/>
                  </a:lnTo>
                  <a:close/>
                </a:path>
              </a:pathLst>
            </a:custGeom>
            <a:solidFill>
              <a:srgbClr val="E9E9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4005" y="1085189"/>
              <a:ext cx="4349750" cy="715010"/>
            </a:xfrm>
            <a:custGeom>
              <a:avLst/>
              <a:gdLst/>
              <a:ahLst/>
              <a:cxnLst/>
              <a:rect l="l" t="t" r="r" b="b"/>
              <a:pathLst>
                <a:path w="4349750" h="715010">
                  <a:moveTo>
                    <a:pt x="4349657" y="0"/>
                  </a:moveTo>
                  <a:lnTo>
                    <a:pt x="0" y="0"/>
                  </a:lnTo>
                  <a:lnTo>
                    <a:pt x="0" y="714554"/>
                  </a:lnTo>
                  <a:lnTo>
                    <a:pt x="4349657" y="714554"/>
                  </a:lnTo>
                  <a:lnTo>
                    <a:pt x="434965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3204" y="1066352"/>
              <a:ext cx="4349750" cy="682625"/>
            </a:xfrm>
            <a:custGeom>
              <a:avLst/>
              <a:gdLst/>
              <a:ahLst/>
              <a:cxnLst/>
              <a:rect l="l" t="t" r="r" b="b"/>
              <a:pathLst>
                <a:path w="4349750" h="682625">
                  <a:moveTo>
                    <a:pt x="4349657" y="0"/>
                  </a:moveTo>
                  <a:lnTo>
                    <a:pt x="0" y="0"/>
                  </a:lnTo>
                  <a:lnTo>
                    <a:pt x="0" y="631789"/>
                  </a:lnTo>
                  <a:lnTo>
                    <a:pt x="4008" y="651514"/>
                  </a:lnTo>
                  <a:lnTo>
                    <a:pt x="14922" y="667667"/>
                  </a:lnTo>
                  <a:lnTo>
                    <a:pt x="31075" y="678581"/>
                  </a:lnTo>
                  <a:lnTo>
                    <a:pt x="50800" y="682590"/>
                  </a:lnTo>
                  <a:lnTo>
                    <a:pt x="4298856" y="682590"/>
                  </a:lnTo>
                  <a:lnTo>
                    <a:pt x="4318581" y="678581"/>
                  </a:lnTo>
                  <a:lnTo>
                    <a:pt x="4334734" y="667667"/>
                  </a:lnTo>
                  <a:lnTo>
                    <a:pt x="4345648" y="651514"/>
                  </a:lnTo>
                  <a:lnTo>
                    <a:pt x="4349657" y="631789"/>
                  </a:lnTo>
                  <a:lnTo>
                    <a:pt x="4349657" y="0"/>
                  </a:lnTo>
                  <a:close/>
                </a:path>
              </a:pathLst>
            </a:custGeom>
            <a:solidFill>
              <a:srgbClr val="E9E9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18110" rIns="0" bIns="0" rtlCol="0">
            <a:spAutoFit/>
          </a:bodyPr>
          <a:lstStyle/>
          <a:p>
            <a:pPr marL="1087755">
              <a:lnSpc>
                <a:spcPct val="100000"/>
              </a:lnSpc>
              <a:spcBef>
                <a:spcPts val="930"/>
              </a:spcBef>
            </a:pPr>
            <a:r>
              <a:rPr spc="-130" dirty="0"/>
              <a:t>Sources</a:t>
            </a:r>
            <a:r>
              <a:rPr spc="-30" dirty="0"/>
              <a:t> </a:t>
            </a:r>
            <a:r>
              <a:rPr spc="-50" dirty="0"/>
              <a:t>of</a:t>
            </a:r>
            <a:r>
              <a:rPr spc="-110" dirty="0"/>
              <a:t> </a:t>
            </a:r>
            <a:r>
              <a:rPr dirty="0"/>
              <a:t>Big</a:t>
            </a:r>
            <a:r>
              <a:rPr spc="-80" dirty="0"/>
              <a:t> </a:t>
            </a:r>
            <a:r>
              <a:rPr spc="-20" dirty="0"/>
              <a:t>Data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8" name="object 8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34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Sources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of Big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9831" y="631519"/>
            <a:ext cx="3576319" cy="143052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31526" y="2123893"/>
            <a:ext cx="2251929" cy="86923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6" name="object 6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35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45" dirty="0"/>
              <a:t>Sources:</a:t>
            </a:r>
            <a:r>
              <a:rPr spc="70" dirty="0"/>
              <a:t> </a:t>
            </a:r>
            <a:r>
              <a:rPr spc="-20" dirty="0"/>
              <a:t>Machine</a:t>
            </a:r>
            <a:r>
              <a:rPr spc="-50" dirty="0"/>
              <a:t> Generated </a:t>
            </a:r>
            <a:r>
              <a:rPr spc="-20" dirty="0"/>
              <a:t>Data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60284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8393" y="513167"/>
            <a:ext cx="3949700" cy="217614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20" dirty="0">
                <a:latin typeface="Tahoma"/>
                <a:cs typeface="Tahoma"/>
              </a:rPr>
              <a:t>Biggest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source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big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</a:t>
            </a:r>
            <a:endParaRPr sz="1100">
              <a:latin typeface="Tahoma"/>
              <a:cs typeface="Tahoma"/>
            </a:endParaRPr>
          </a:p>
          <a:p>
            <a:pPr marL="12700" marR="370840">
              <a:lnSpc>
                <a:spcPct val="163000"/>
              </a:lnSpc>
            </a:pPr>
            <a:r>
              <a:rPr sz="1100" spc="-40" dirty="0">
                <a:latin typeface="Tahoma"/>
                <a:cs typeface="Tahoma"/>
              </a:rPr>
              <a:t>Temperature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sensors,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GPS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navigator,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Satellite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imagery,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Apps, </a:t>
            </a:r>
            <a:r>
              <a:rPr sz="1100" spc="-55" dirty="0">
                <a:latin typeface="Tahoma"/>
                <a:cs typeface="Tahoma"/>
              </a:rPr>
              <a:t>Increasing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number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smart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devices,</a:t>
            </a:r>
            <a:r>
              <a:rPr sz="1100" spc="-25" dirty="0">
                <a:latin typeface="Tahoma"/>
                <a:cs typeface="Tahoma"/>
              </a:rPr>
              <a:t> IoT</a:t>
            </a:r>
            <a:endParaRPr sz="1100">
              <a:latin typeface="Tahoma"/>
              <a:cs typeface="Tahoma"/>
            </a:endParaRPr>
          </a:p>
          <a:p>
            <a:pPr marL="12700" marR="248285">
              <a:lnSpc>
                <a:spcPct val="102600"/>
              </a:lnSpc>
              <a:spcBef>
                <a:spcPts val="795"/>
              </a:spcBef>
            </a:pPr>
            <a:r>
              <a:rPr sz="1100" spc="55" dirty="0">
                <a:latin typeface="Tahoma"/>
                <a:cs typeface="Tahoma"/>
              </a:rPr>
              <a:t>A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12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hours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flight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produces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84TB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20" dirty="0">
                <a:latin typeface="Tahoma"/>
                <a:cs typeface="Tahoma"/>
              </a:rPr>
              <a:t> data,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sensors,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temperature, </a:t>
            </a:r>
            <a:r>
              <a:rPr sz="1100" spc="-65" dirty="0">
                <a:latin typeface="Tahoma"/>
                <a:cs typeface="Tahoma"/>
              </a:rPr>
              <a:t>pressure,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accelerometer,</a:t>
            </a:r>
            <a:r>
              <a:rPr sz="1100" spc="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turbulence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835"/>
              </a:spcBef>
            </a:pPr>
            <a:r>
              <a:rPr sz="1100" spc="-20" dirty="0">
                <a:latin typeface="Tahoma"/>
                <a:cs typeface="Tahoma"/>
              </a:rPr>
              <a:t>Smart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City,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Smart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Transportation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02600"/>
              </a:lnSpc>
              <a:spcBef>
                <a:spcPts val="795"/>
              </a:spcBef>
            </a:pP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Think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about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the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volume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of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video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data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collected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at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Lahore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Safe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City Authority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Control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 Room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835"/>
              </a:spcBef>
            </a:pPr>
            <a:r>
              <a:rPr sz="1100" spc="-45" dirty="0">
                <a:solidFill>
                  <a:srgbClr val="FF0000"/>
                </a:solidFill>
                <a:latin typeface="Tahoma"/>
                <a:cs typeface="Tahoma"/>
              </a:rPr>
              <a:t>Generally,</a:t>
            </a: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 such </a:t>
            </a:r>
            <a:r>
              <a:rPr sz="1100" spc="-10" dirty="0">
                <a:solidFill>
                  <a:srgbClr val="FF0000"/>
                </a:solidFill>
                <a:latin typeface="Tahoma"/>
                <a:cs typeface="Tahoma"/>
              </a:rPr>
              <a:t>data</a:t>
            </a: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is</a:t>
            </a: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FF0000"/>
                </a:solidFill>
                <a:latin typeface="Tahoma"/>
                <a:cs typeface="Tahoma"/>
              </a:rPr>
              <a:t>unstructured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0245" y="876134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14943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0245" y="142273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90245" y="186809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90245" y="2141397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290245" y="2586761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1" name="object 11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2" name="object 12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36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45" dirty="0"/>
              <a:t>Sources:</a:t>
            </a:r>
            <a:r>
              <a:rPr spc="60" dirty="0"/>
              <a:t> </a:t>
            </a:r>
            <a:r>
              <a:rPr spc="-30" dirty="0"/>
              <a:t>People</a:t>
            </a:r>
            <a:r>
              <a:rPr spc="-60" dirty="0"/>
              <a:t> </a:t>
            </a:r>
            <a:r>
              <a:rPr spc="-50" dirty="0"/>
              <a:t>Generated</a:t>
            </a:r>
            <a:r>
              <a:rPr spc="-60" dirty="0"/>
              <a:t> </a:t>
            </a:r>
            <a:r>
              <a:rPr spc="-20" dirty="0"/>
              <a:t>Data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48641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8393" y="396734"/>
            <a:ext cx="3823335" cy="133858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319405">
              <a:lnSpc>
                <a:spcPct val="102600"/>
              </a:lnSpc>
              <a:spcBef>
                <a:spcPts val="55"/>
              </a:spcBef>
            </a:pPr>
            <a:r>
              <a:rPr sz="1100" spc="-10" dirty="0">
                <a:latin typeface="Tahoma"/>
                <a:cs typeface="Tahoma"/>
              </a:rPr>
              <a:t>Blogs,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social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network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posts, </a:t>
            </a:r>
            <a:r>
              <a:rPr sz="1100" spc="-70" dirty="0">
                <a:latin typeface="Tahoma"/>
                <a:cs typeface="Tahoma"/>
              </a:rPr>
              <a:t>keywords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search,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photo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sharing, </a:t>
            </a:r>
            <a:r>
              <a:rPr sz="1100" spc="-30" dirty="0">
                <a:latin typeface="Tahoma"/>
                <a:cs typeface="Tahoma"/>
              </a:rPr>
              <a:t>pictures,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emails,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ratings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reviews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1100" dirty="0">
                <a:latin typeface="Tahoma"/>
                <a:cs typeface="Tahoma"/>
              </a:rPr>
              <a:t>Daily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facebook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 </a:t>
            </a:r>
            <a:r>
              <a:rPr sz="1100" dirty="0">
                <a:latin typeface="Tahoma"/>
                <a:cs typeface="Tahoma"/>
              </a:rPr>
              <a:t>30+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75" dirty="0">
                <a:latin typeface="Tahoma"/>
                <a:cs typeface="Tahoma"/>
              </a:rPr>
              <a:t>PB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i="1" spc="295" dirty="0">
                <a:latin typeface="Calibri"/>
                <a:cs typeface="Calibri"/>
              </a:rPr>
              <a:t>&gt;</a:t>
            </a:r>
            <a:r>
              <a:rPr sz="1100" i="1" spc="85" dirty="0">
                <a:latin typeface="Calibri"/>
                <a:cs typeface="Calibri"/>
              </a:rPr>
              <a:t> </a:t>
            </a:r>
            <a:r>
              <a:rPr sz="1100" dirty="0">
                <a:latin typeface="Tahoma"/>
                <a:cs typeface="Tahoma"/>
              </a:rPr>
              <a:t>All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US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Academic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libraries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(2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25" dirty="0">
                <a:latin typeface="Tahoma"/>
                <a:cs typeface="Tahoma"/>
              </a:rPr>
              <a:t>PB)</a:t>
            </a:r>
            <a:endParaRPr sz="1100">
              <a:latin typeface="Tahoma"/>
              <a:cs typeface="Tahoma"/>
            </a:endParaRPr>
          </a:p>
          <a:p>
            <a:pPr marL="12700" marR="236854">
              <a:lnSpc>
                <a:spcPct val="102600"/>
              </a:lnSpc>
              <a:spcBef>
                <a:spcPts val="300"/>
              </a:spcBef>
            </a:pPr>
            <a:r>
              <a:rPr sz="1100" spc="-45" dirty="0">
                <a:latin typeface="Tahoma"/>
                <a:cs typeface="Tahoma"/>
              </a:rPr>
              <a:t>Companies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use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12PB/day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Twitter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for </a:t>
            </a:r>
            <a:r>
              <a:rPr sz="1100" spc="-40" dirty="0">
                <a:latin typeface="Tahoma"/>
                <a:cs typeface="Tahoma"/>
              </a:rPr>
              <a:t>sentiment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analysis </a:t>
            </a:r>
            <a:r>
              <a:rPr sz="1100" spc="-55" dirty="0">
                <a:latin typeface="Tahoma"/>
                <a:cs typeface="Tahoma"/>
              </a:rPr>
              <a:t>around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their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products</a:t>
            </a:r>
            <a:endParaRPr sz="1100">
              <a:latin typeface="Tahoma"/>
              <a:cs typeface="Tahoma"/>
            </a:endParaRPr>
          </a:p>
          <a:p>
            <a:pPr marL="12700" marR="309245">
              <a:lnSpc>
                <a:spcPct val="102699"/>
              </a:lnSpc>
              <a:spcBef>
                <a:spcPts val="295"/>
              </a:spcBef>
            </a:pP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Could</a:t>
            </a:r>
            <a:r>
              <a:rPr sz="1100" spc="-6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be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0000FF"/>
                </a:solidFill>
                <a:latin typeface="Tahoma"/>
                <a:cs typeface="Tahoma"/>
              </a:rPr>
              <a:t>used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for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disaster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0000FF"/>
                </a:solidFill>
                <a:latin typeface="Tahoma"/>
                <a:cs typeface="Tahoma"/>
              </a:rPr>
              <a:t>management,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e.g.</a:t>
            </a:r>
            <a:r>
              <a:rPr sz="1100" spc="6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to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identify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and </a:t>
            </a:r>
            <a:r>
              <a:rPr sz="1100" spc="-65" dirty="0">
                <a:solidFill>
                  <a:srgbClr val="0000FF"/>
                </a:solidFill>
                <a:latin typeface="Tahoma"/>
                <a:cs typeface="Tahoma"/>
              </a:rPr>
              <a:t>measure</a:t>
            </a:r>
            <a:r>
              <a:rPr sz="1100" spc="-1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affected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0000FF"/>
                </a:solidFill>
                <a:latin typeface="Tahoma"/>
                <a:cs typeface="Tahoma"/>
              </a:rPr>
              <a:t>areas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and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channel</a:t>
            </a:r>
            <a:r>
              <a:rPr sz="1100" spc="-1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resources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0245" y="86851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078547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0245" y="1460652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54429" y="1719904"/>
            <a:ext cx="1904237" cy="796714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290245" y="264008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08393" y="2550412"/>
            <a:ext cx="3902075" cy="74612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2600"/>
              </a:lnSpc>
              <a:spcBef>
                <a:spcPts val="55"/>
              </a:spcBef>
            </a:pP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Typically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unstructured,</a:t>
            </a: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 or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at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best </a:t>
            </a:r>
            <a:r>
              <a:rPr sz="1100" spc="-50" dirty="0">
                <a:solidFill>
                  <a:srgbClr val="FF0000"/>
                </a:solidFill>
                <a:latin typeface="Tahoma"/>
                <a:cs typeface="Tahoma"/>
              </a:rPr>
              <a:t>semi-</a:t>
            </a:r>
            <a:r>
              <a:rPr sz="1100" spc="-35" dirty="0">
                <a:solidFill>
                  <a:srgbClr val="FF0000"/>
                </a:solidFill>
                <a:latin typeface="Tahoma"/>
                <a:cs typeface="Tahoma"/>
              </a:rPr>
              <a:t>structured</a:t>
            </a: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such</a:t>
            </a:r>
            <a:r>
              <a:rPr sz="1100" spc="-1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FF0000"/>
                </a:solidFill>
                <a:latin typeface="Tahoma"/>
                <a:cs typeface="Tahoma"/>
              </a:rPr>
              <a:t>as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FF0000"/>
                </a:solidFill>
                <a:latin typeface="Tahoma"/>
                <a:cs typeface="Tahoma"/>
              </a:rPr>
              <a:t>emails, </a:t>
            </a:r>
            <a:r>
              <a:rPr sz="1100" spc="-60" dirty="0">
                <a:solidFill>
                  <a:srgbClr val="FF0000"/>
                </a:solidFill>
                <a:latin typeface="Tahoma"/>
                <a:cs typeface="Tahoma"/>
              </a:rPr>
              <a:t>where</a:t>
            </a:r>
            <a:r>
              <a:rPr sz="11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FF0000"/>
                </a:solidFill>
                <a:latin typeface="Tahoma"/>
                <a:cs typeface="Tahoma"/>
              </a:rPr>
              <a:t>the</a:t>
            </a:r>
            <a:r>
              <a:rPr sz="11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FF0000"/>
                </a:solidFill>
                <a:latin typeface="Tahoma"/>
                <a:cs typeface="Tahoma"/>
              </a:rPr>
              <a:t>header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FF0000"/>
                </a:solidFill>
                <a:latin typeface="Tahoma"/>
                <a:cs typeface="Tahoma"/>
              </a:rPr>
              <a:t>has</a:t>
            </a:r>
            <a:r>
              <a:rPr sz="1100" spc="-3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FF0000"/>
                </a:solidFill>
                <a:latin typeface="Tahoma"/>
                <a:cs typeface="Tahoma"/>
              </a:rPr>
              <a:t>somewhat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of</a:t>
            </a:r>
            <a:r>
              <a:rPr sz="11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a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FF0000"/>
                </a:solidFill>
                <a:latin typeface="Tahoma"/>
                <a:cs typeface="Tahoma"/>
              </a:rPr>
              <a:t>structure, </a:t>
            </a: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except</a:t>
            </a:r>
            <a:r>
              <a:rPr sz="11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in</a:t>
            </a:r>
            <a:r>
              <a:rPr sz="11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FF0000"/>
                </a:solidFill>
                <a:latin typeface="Tahoma"/>
                <a:cs typeface="Tahoma"/>
              </a:rPr>
              <a:t>few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FF0000"/>
                </a:solidFill>
                <a:latin typeface="Tahoma"/>
                <a:cs typeface="Tahoma"/>
              </a:rPr>
              <a:t>cases </a:t>
            </a: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such</a:t>
            </a:r>
            <a:r>
              <a:rPr sz="1100" spc="-4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as</a:t>
            </a: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FF0000"/>
                </a:solidFill>
                <a:latin typeface="Tahoma"/>
                <a:cs typeface="Tahoma"/>
              </a:rPr>
              <a:t>filling</a:t>
            </a:r>
            <a:r>
              <a:rPr sz="1100" spc="-4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FF0000"/>
                </a:solidFill>
                <a:latin typeface="Tahoma"/>
                <a:cs typeface="Tahoma"/>
              </a:rPr>
              <a:t>up</a:t>
            </a: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a</a:t>
            </a: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FF0000"/>
                </a:solidFill>
                <a:latin typeface="Tahoma"/>
                <a:cs typeface="Tahoma"/>
              </a:rPr>
              <a:t>survey</a:t>
            </a:r>
            <a:r>
              <a:rPr sz="1100" spc="-3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form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1100" spc="-35" dirty="0">
                <a:latin typeface="Tahoma"/>
                <a:cs typeface="Tahoma"/>
              </a:rPr>
              <a:t>Generally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more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text:</a:t>
            </a:r>
            <a:r>
              <a:rPr sz="1100" spc="4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500 </a:t>
            </a:r>
            <a:r>
              <a:rPr sz="1100" spc="-10" dirty="0">
                <a:latin typeface="Tahoma"/>
                <a:cs typeface="Tahoma"/>
              </a:rPr>
              <a:t>million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tweets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per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day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90245" y="3194266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3" name="object 13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37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45" dirty="0"/>
              <a:t>Sources:</a:t>
            </a:r>
            <a:r>
              <a:rPr spc="80" dirty="0"/>
              <a:t> </a:t>
            </a:r>
            <a:r>
              <a:rPr spc="-25" dirty="0"/>
              <a:t>Organization</a:t>
            </a:r>
            <a:r>
              <a:rPr spc="-45" dirty="0"/>
              <a:t> </a:t>
            </a:r>
            <a:r>
              <a:rPr spc="-50" dirty="0"/>
              <a:t>Generated</a:t>
            </a:r>
            <a:r>
              <a:rPr spc="-45" dirty="0"/>
              <a:t> </a:t>
            </a:r>
            <a:r>
              <a:rPr spc="-20" dirty="0"/>
              <a:t>Data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60284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8393" y="513167"/>
            <a:ext cx="3927475" cy="244919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Tahoma"/>
                <a:cs typeface="Tahoma"/>
              </a:rPr>
              <a:t>LUMS</a:t>
            </a:r>
            <a:r>
              <a:rPr sz="1100" spc="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Students</a:t>
            </a:r>
            <a:r>
              <a:rPr sz="1100" spc="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Data,</a:t>
            </a:r>
            <a:r>
              <a:rPr sz="1100" spc="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ESPN</a:t>
            </a:r>
            <a:r>
              <a:rPr sz="1100" spc="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Cricinfo,</a:t>
            </a:r>
            <a:r>
              <a:rPr sz="1100" spc="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TCS</a:t>
            </a:r>
            <a:r>
              <a:rPr sz="1100" spc="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shipment</a:t>
            </a:r>
            <a:r>
              <a:rPr sz="1100" spc="2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tracking</a:t>
            </a:r>
            <a:r>
              <a:rPr sz="1100" spc="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</a:t>
            </a:r>
            <a:endParaRPr sz="1100">
              <a:latin typeface="Tahoma"/>
              <a:cs typeface="Tahoma"/>
            </a:endParaRPr>
          </a:p>
          <a:p>
            <a:pPr marL="12700" marR="379730">
              <a:lnSpc>
                <a:spcPct val="163000"/>
              </a:lnSpc>
            </a:pPr>
            <a:r>
              <a:rPr sz="1100" spc="-50" dirty="0">
                <a:latin typeface="Tahoma"/>
                <a:cs typeface="Tahoma"/>
              </a:rPr>
              <a:t>Governments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open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Stock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Records,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Banks,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e-Commerce </a:t>
            </a:r>
            <a:r>
              <a:rPr sz="1100" spc="-10" dirty="0">
                <a:latin typeface="Tahoma"/>
                <a:cs typeface="Tahoma"/>
              </a:rPr>
              <a:t>Medical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Records</a:t>
            </a:r>
            <a:endParaRPr sz="1100">
              <a:latin typeface="Tahoma"/>
              <a:cs typeface="Tahoma"/>
            </a:endParaRPr>
          </a:p>
          <a:p>
            <a:pPr marL="12700" marR="124460">
              <a:lnSpc>
                <a:spcPct val="102600"/>
              </a:lnSpc>
              <a:spcBef>
                <a:spcPts val="795"/>
              </a:spcBef>
            </a:pP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Optimize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routs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and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optimal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scheduling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can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0000FF"/>
                </a:solidFill>
                <a:latin typeface="Tahoma"/>
                <a:cs typeface="Tahoma"/>
              </a:rPr>
              <a:t>save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50m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by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reducing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each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drivers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route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by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one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mile</a:t>
            </a:r>
            <a:endParaRPr sz="1100">
              <a:latin typeface="Tahoma"/>
              <a:cs typeface="Tahoma"/>
            </a:endParaRPr>
          </a:p>
          <a:p>
            <a:pPr marL="12700" marR="186690">
              <a:lnSpc>
                <a:spcPct val="102699"/>
              </a:lnSpc>
              <a:spcBef>
                <a:spcPts val="800"/>
              </a:spcBef>
            </a:pP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Combine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Walmart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0000FF"/>
                </a:solidFill>
                <a:latin typeface="Tahoma"/>
                <a:cs typeface="Tahoma"/>
              </a:rPr>
              <a:t>sales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data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with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Twitter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sentiment 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analyses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or 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events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to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launch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a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65" dirty="0">
                <a:solidFill>
                  <a:srgbClr val="0000FF"/>
                </a:solidFill>
                <a:latin typeface="Tahoma"/>
                <a:cs typeface="Tahoma"/>
              </a:rPr>
              <a:t>new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product</a:t>
            </a:r>
            <a:endParaRPr sz="1100">
              <a:latin typeface="Tahoma"/>
              <a:cs typeface="Tahoma"/>
            </a:endParaRPr>
          </a:p>
          <a:p>
            <a:pPr marL="12700" marR="2847340">
              <a:lnSpc>
                <a:spcPct val="163000"/>
              </a:lnSpc>
            </a:pP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Estimate</a:t>
            </a:r>
            <a:r>
              <a:rPr sz="1100" spc="-70" dirty="0">
                <a:solidFill>
                  <a:srgbClr val="0000FF"/>
                </a:solidFill>
                <a:latin typeface="Tahoma"/>
                <a:cs typeface="Tahoma"/>
              </a:rPr>
              <a:t> demands 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Fraud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Detection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830"/>
              </a:spcBef>
            </a:pPr>
            <a:r>
              <a:rPr sz="1100" spc="-10" dirty="0">
                <a:solidFill>
                  <a:srgbClr val="FF0000"/>
                </a:solidFill>
                <a:latin typeface="Tahoma"/>
                <a:cs typeface="Tahoma"/>
              </a:rPr>
              <a:t>Highly</a:t>
            </a:r>
            <a:r>
              <a:rPr sz="1100" spc="-4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Structured</a:t>
            </a:r>
            <a:r>
              <a:rPr sz="1100" spc="-3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Data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0245" y="876134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14943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0245" y="142273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90245" y="186809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90245" y="231347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290245" y="2586761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290245" y="2860052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3" name="object 13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38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4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Categories</a:t>
            </a:r>
            <a:r>
              <a:rPr sz="1400" u="sng" spc="-6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of</a:t>
            </a:r>
            <a:r>
              <a:rPr sz="1400" u="sng" spc="-5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7570" y="540086"/>
            <a:ext cx="3017519" cy="2519838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39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3204" y="1042352"/>
            <a:ext cx="4400550" cy="727075"/>
            <a:chOff x="93204" y="1042352"/>
            <a:chExt cx="4400550" cy="727075"/>
          </a:xfrm>
        </p:grpSpPr>
        <p:sp>
          <p:nvSpPr>
            <p:cNvPr id="3" name="object 3"/>
            <p:cNvSpPr/>
            <p:nvPr/>
          </p:nvSpPr>
          <p:spPr>
            <a:xfrm>
              <a:off x="93204" y="1042352"/>
              <a:ext cx="4349750" cy="82550"/>
            </a:xfrm>
            <a:custGeom>
              <a:avLst/>
              <a:gdLst/>
              <a:ahLst/>
              <a:cxnLst/>
              <a:rect l="l" t="t" r="r" b="b"/>
              <a:pathLst>
                <a:path w="4349750" h="82550">
                  <a:moveTo>
                    <a:pt x="4298856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349657" y="82384"/>
                  </a:lnTo>
                  <a:lnTo>
                    <a:pt x="4349657" y="50800"/>
                  </a:lnTo>
                  <a:lnTo>
                    <a:pt x="4345648" y="31075"/>
                  </a:lnTo>
                  <a:lnTo>
                    <a:pt x="4334734" y="14922"/>
                  </a:lnTo>
                  <a:lnTo>
                    <a:pt x="4318581" y="4008"/>
                  </a:lnTo>
                  <a:lnTo>
                    <a:pt x="4298856" y="0"/>
                  </a:lnTo>
                  <a:close/>
                </a:path>
              </a:pathLst>
            </a:custGeom>
            <a:solidFill>
              <a:srgbClr val="E9E9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4005" y="1105599"/>
              <a:ext cx="4349750" cy="663575"/>
            </a:xfrm>
            <a:custGeom>
              <a:avLst/>
              <a:gdLst/>
              <a:ahLst/>
              <a:cxnLst/>
              <a:rect l="l" t="t" r="r" b="b"/>
              <a:pathLst>
                <a:path w="4349750" h="663575">
                  <a:moveTo>
                    <a:pt x="4349657" y="0"/>
                  </a:moveTo>
                  <a:lnTo>
                    <a:pt x="0" y="0"/>
                  </a:lnTo>
                  <a:lnTo>
                    <a:pt x="0" y="663511"/>
                  </a:lnTo>
                  <a:lnTo>
                    <a:pt x="4349657" y="663511"/>
                  </a:lnTo>
                  <a:lnTo>
                    <a:pt x="434965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3204" y="1086762"/>
              <a:ext cx="4349750" cy="631825"/>
            </a:xfrm>
            <a:custGeom>
              <a:avLst/>
              <a:gdLst/>
              <a:ahLst/>
              <a:cxnLst/>
              <a:rect l="l" t="t" r="r" b="b"/>
              <a:pathLst>
                <a:path w="4349750" h="631825">
                  <a:moveTo>
                    <a:pt x="4349657" y="0"/>
                  </a:moveTo>
                  <a:lnTo>
                    <a:pt x="0" y="0"/>
                  </a:lnTo>
                  <a:lnTo>
                    <a:pt x="0" y="580747"/>
                  </a:lnTo>
                  <a:lnTo>
                    <a:pt x="4008" y="600471"/>
                  </a:lnTo>
                  <a:lnTo>
                    <a:pt x="14922" y="616624"/>
                  </a:lnTo>
                  <a:lnTo>
                    <a:pt x="31075" y="627539"/>
                  </a:lnTo>
                  <a:lnTo>
                    <a:pt x="50800" y="631547"/>
                  </a:lnTo>
                  <a:lnTo>
                    <a:pt x="4298856" y="631547"/>
                  </a:lnTo>
                  <a:lnTo>
                    <a:pt x="4318581" y="627539"/>
                  </a:lnTo>
                  <a:lnTo>
                    <a:pt x="4334734" y="616624"/>
                  </a:lnTo>
                  <a:lnTo>
                    <a:pt x="4345648" y="600471"/>
                  </a:lnTo>
                  <a:lnTo>
                    <a:pt x="4349657" y="580747"/>
                  </a:lnTo>
                  <a:lnTo>
                    <a:pt x="4349657" y="0"/>
                  </a:lnTo>
                  <a:close/>
                </a:path>
              </a:pathLst>
            </a:custGeom>
            <a:solidFill>
              <a:srgbClr val="E9E9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144005" y="1105599"/>
            <a:ext cx="4349750" cy="663575"/>
          </a:xfrm>
          <a:prstGeom prst="rect">
            <a:avLst/>
          </a:prstGeom>
        </p:spPr>
        <p:txBody>
          <a:bodyPr vert="horz" wrap="square" lIns="0" tIns="118110" rIns="0" bIns="0" rtlCol="0">
            <a:spAutoFit/>
          </a:bodyPr>
          <a:lstStyle/>
          <a:p>
            <a:pPr marL="1156970">
              <a:lnSpc>
                <a:spcPct val="100000"/>
              </a:lnSpc>
              <a:spcBef>
                <a:spcPts val="930"/>
              </a:spcBef>
            </a:pPr>
            <a:r>
              <a:rPr sz="2050" u="none" spc="-40" dirty="0">
                <a:solidFill>
                  <a:srgbClr val="0000FF"/>
                </a:solidFill>
              </a:rPr>
              <a:t>The</a:t>
            </a:r>
            <a:r>
              <a:rPr sz="2050" u="none" spc="-100" dirty="0">
                <a:solidFill>
                  <a:srgbClr val="0000FF"/>
                </a:solidFill>
              </a:rPr>
              <a:t> </a:t>
            </a:r>
            <a:r>
              <a:rPr sz="2050" u="none" dirty="0">
                <a:solidFill>
                  <a:srgbClr val="0000FF"/>
                </a:solidFill>
              </a:rPr>
              <a:t>5</a:t>
            </a:r>
            <a:r>
              <a:rPr sz="2050" u="none" spc="-100" dirty="0">
                <a:solidFill>
                  <a:srgbClr val="0000FF"/>
                </a:solidFill>
              </a:rPr>
              <a:t> </a:t>
            </a:r>
            <a:r>
              <a:rPr sz="2050" u="none" dirty="0">
                <a:solidFill>
                  <a:srgbClr val="0000FF"/>
                </a:solidFill>
              </a:rPr>
              <a:t>V’s</a:t>
            </a:r>
            <a:r>
              <a:rPr sz="2050" u="none" spc="-100" dirty="0">
                <a:solidFill>
                  <a:srgbClr val="0000FF"/>
                </a:solidFill>
              </a:rPr>
              <a:t> </a:t>
            </a:r>
            <a:r>
              <a:rPr sz="2050" u="none" spc="-50" dirty="0">
                <a:solidFill>
                  <a:srgbClr val="0000FF"/>
                </a:solidFill>
              </a:rPr>
              <a:t>of</a:t>
            </a:r>
            <a:r>
              <a:rPr sz="2050" u="none" spc="-95" dirty="0">
                <a:solidFill>
                  <a:srgbClr val="0000FF"/>
                </a:solidFill>
              </a:rPr>
              <a:t> </a:t>
            </a:r>
            <a:r>
              <a:rPr sz="2050" u="none" spc="-20" dirty="0">
                <a:solidFill>
                  <a:srgbClr val="0000FF"/>
                </a:solidFill>
              </a:rPr>
              <a:t>Data</a:t>
            </a:r>
            <a:endParaRPr sz="2050"/>
          </a:p>
        </p:txBody>
      </p:sp>
      <p:grpSp>
        <p:nvGrpSpPr>
          <p:cNvPr id="7" name="object 7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8" name="object 8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40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Aspects</a:t>
            </a:r>
            <a:r>
              <a:rPr sz="1400" u="sng" spc="-4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of</a:t>
            </a:r>
            <a:r>
              <a:rPr sz="1400" u="sng" spc="-4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Big:</a:t>
            </a:r>
            <a:r>
              <a:rPr sz="1400" u="sng" spc="9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The</a:t>
            </a:r>
            <a:r>
              <a:rPr sz="1400" u="sng" spc="-4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5</a:t>
            </a:r>
            <a:r>
              <a:rPr sz="1400" u="sng" spc="-3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2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V’s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97408" y="1147102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219" y="0"/>
                </a:moveTo>
                <a:lnTo>
                  <a:pt x="0" y="0"/>
                </a:lnTo>
                <a:lnTo>
                  <a:pt x="0" y="101218"/>
                </a:lnTo>
                <a:lnTo>
                  <a:pt x="101219" y="101218"/>
                </a:lnTo>
                <a:lnTo>
                  <a:pt x="10121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97408" y="1445704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219" y="0"/>
                </a:moveTo>
                <a:lnTo>
                  <a:pt x="0" y="0"/>
                </a:lnTo>
                <a:lnTo>
                  <a:pt x="0" y="101218"/>
                </a:lnTo>
                <a:lnTo>
                  <a:pt x="101219" y="101218"/>
                </a:lnTo>
                <a:lnTo>
                  <a:pt x="10121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97408" y="1744294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219" y="0"/>
                </a:moveTo>
                <a:lnTo>
                  <a:pt x="0" y="0"/>
                </a:lnTo>
                <a:lnTo>
                  <a:pt x="0" y="101218"/>
                </a:lnTo>
                <a:lnTo>
                  <a:pt x="101219" y="101218"/>
                </a:lnTo>
                <a:lnTo>
                  <a:pt x="10121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7408" y="2042896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219" y="0"/>
                </a:moveTo>
                <a:lnTo>
                  <a:pt x="0" y="0"/>
                </a:lnTo>
                <a:lnTo>
                  <a:pt x="0" y="101218"/>
                </a:lnTo>
                <a:lnTo>
                  <a:pt x="101219" y="101218"/>
                </a:lnTo>
                <a:lnTo>
                  <a:pt x="10121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7408" y="2341499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219" y="0"/>
                </a:moveTo>
                <a:lnTo>
                  <a:pt x="0" y="0"/>
                </a:lnTo>
                <a:lnTo>
                  <a:pt x="0" y="101218"/>
                </a:lnTo>
                <a:lnTo>
                  <a:pt x="101219" y="101218"/>
                </a:lnTo>
                <a:lnTo>
                  <a:pt x="10121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308419" y="1079079"/>
            <a:ext cx="640715" cy="13862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90"/>
              </a:spcBef>
              <a:buClr>
                <a:srgbClr val="FFFFFF"/>
              </a:buClr>
              <a:buSzPct val="72727"/>
              <a:buFont typeface="Arial MT"/>
              <a:buAutoNum type="arabicPlain"/>
              <a:tabLst>
                <a:tab pos="160020" algn="l"/>
              </a:tabLst>
            </a:pPr>
            <a:r>
              <a:rPr sz="1100" spc="-10" dirty="0">
                <a:latin typeface="Tahoma"/>
                <a:cs typeface="Tahoma"/>
              </a:rPr>
              <a:t>Volume</a:t>
            </a:r>
            <a:endParaRPr sz="1100">
              <a:latin typeface="Tahoma"/>
              <a:cs typeface="Tahoma"/>
            </a:endParaRPr>
          </a:p>
          <a:p>
            <a:pPr marL="160020" indent="-147320">
              <a:lnSpc>
                <a:spcPct val="100000"/>
              </a:lnSpc>
              <a:spcBef>
                <a:spcPts val="1030"/>
              </a:spcBef>
              <a:buClr>
                <a:srgbClr val="FFFFFF"/>
              </a:buClr>
              <a:buSzPct val="72727"/>
              <a:buFont typeface="Arial MT"/>
              <a:buAutoNum type="arabicPlain"/>
              <a:tabLst>
                <a:tab pos="160020" algn="l"/>
              </a:tabLst>
            </a:pPr>
            <a:r>
              <a:rPr sz="1100" spc="-10" dirty="0">
                <a:latin typeface="Tahoma"/>
                <a:cs typeface="Tahoma"/>
              </a:rPr>
              <a:t>Velocity</a:t>
            </a:r>
            <a:endParaRPr sz="1100">
              <a:latin typeface="Tahoma"/>
              <a:cs typeface="Tahoma"/>
            </a:endParaRPr>
          </a:p>
          <a:p>
            <a:pPr marL="160020" indent="-147320">
              <a:lnSpc>
                <a:spcPct val="100000"/>
              </a:lnSpc>
              <a:spcBef>
                <a:spcPts val="1030"/>
              </a:spcBef>
              <a:buClr>
                <a:srgbClr val="FFFFFF"/>
              </a:buClr>
              <a:buSzPct val="72727"/>
              <a:buFont typeface="Arial MT"/>
              <a:buAutoNum type="arabicPlain"/>
              <a:tabLst>
                <a:tab pos="160020" algn="l"/>
              </a:tabLst>
            </a:pPr>
            <a:r>
              <a:rPr sz="1100" spc="-10" dirty="0">
                <a:latin typeface="Tahoma"/>
                <a:cs typeface="Tahoma"/>
              </a:rPr>
              <a:t>Variety</a:t>
            </a:r>
            <a:endParaRPr sz="1100">
              <a:latin typeface="Tahoma"/>
              <a:cs typeface="Tahoma"/>
            </a:endParaRPr>
          </a:p>
          <a:p>
            <a:pPr marL="160020" indent="-147320">
              <a:lnSpc>
                <a:spcPct val="100000"/>
              </a:lnSpc>
              <a:spcBef>
                <a:spcPts val="1035"/>
              </a:spcBef>
              <a:buClr>
                <a:srgbClr val="FFFFFF"/>
              </a:buClr>
              <a:buSzPct val="72727"/>
              <a:buFont typeface="Arial MT"/>
              <a:buAutoNum type="arabicPlain"/>
              <a:tabLst>
                <a:tab pos="160020" algn="l"/>
              </a:tabLst>
            </a:pPr>
            <a:r>
              <a:rPr sz="1100" spc="-25" dirty="0">
                <a:latin typeface="Tahoma"/>
                <a:cs typeface="Tahoma"/>
              </a:rPr>
              <a:t>Veracity</a:t>
            </a:r>
            <a:endParaRPr sz="1100">
              <a:latin typeface="Tahoma"/>
              <a:cs typeface="Tahoma"/>
            </a:endParaRPr>
          </a:p>
          <a:p>
            <a:pPr marL="160020" indent="-147320">
              <a:lnSpc>
                <a:spcPct val="100000"/>
              </a:lnSpc>
              <a:spcBef>
                <a:spcPts val="1030"/>
              </a:spcBef>
              <a:buClr>
                <a:srgbClr val="FFFFFF"/>
              </a:buClr>
              <a:buSzPct val="72727"/>
              <a:buFont typeface="Arial MT"/>
              <a:buAutoNum type="arabicPlain"/>
              <a:tabLst>
                <a:tab pos="160020" algn="l"/>
              </a:tabLst>
            </a:pPr>
            <a:r>
              <a:rPr sz="1100" spc="-10" dirty="0">
                <a:latin typeface="Tahoma"/>
                <a:cs typeface="Tahoma"/>
              </a:rPr>
              <a:t>Value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93113" y="644131"/>
            <a:ext cx="2674619" cy="2301239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1" name="object 11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41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20" dirty="0"/>
              <a:t>Aspects </a:t>
            </a:r>
            <a:r>
              <a:rPr dirty="0"/>
              <a:t>of</a:t>
            </a:r>
            <a:r>
              <a:rPr spc="-15" dirty="0"/>
              <a:t> </a:t>
            </a:r>
            <a:r>
              <a:rPr dirty="0"/>
              <a:t>Big:</a:t>
            </a:r>
            <a:r>
              <a:rPr spc="12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5</a:t>
            </a:r>
            <a:r>
              <a:rPr spc="-15" dirty="0"/>
              <a:t> </a:t>
            </a:r>
            <a:r>
              <a:rPr dirty="0"/>
              <a:t>V’s</a:t>
            </a:r>
            <a:r>
              <a:rPr spc="-15" dirty="0"/>
              <a:t> </a:t>
            </a:r>
            <a:r>
              <a:rPr dirty="0"/>
              <a:t>–</a:t>
            </a:r>
            <a:r>
              <a:rPr spc="-20" dirty="0"/>
              <a:t> </a:t>
            </a:r>
            <a:r>
              <a:rPr spc="-10" dirty="0"/>
              <a:t>Volume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86636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31305" y="475207"/>
            <a:ext cx="3708400" cy="49339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20" dirty="0">
                <a:solidFill>
                  <a:srgbClr val="0000FF"/>
                </a:solidFill>
                <a:latin typeface="Arial"/>
                <a:cs typeface="Arial"/>
              </a:rPr>
              <a:t>Volume:</a:t>
            </a:r>
            <a:r>
              <a:rPr sz="1100" b="1" spc="65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1100" spc="-30" dirty="0">
                <a:latin typeface="Tahoma"/>
                <a:cs typeface="Tahoma"/>
              </a:rPr>
              <a:t>size,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scale,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dimensionality,</a:t>
            </a:r>
            <a:endParaRPr sz="11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1055"/>
              </a:spcBef>
            </a:pPr>
            <a:r>
              <a:rPr sz="1100" spc="-50" dirty="0">
                <a:latin typeface="Tahoma"/>
                <a:cs typeface="Tahoma"/>
              </a:rPr>
              <a:t>204m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emails/minute,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if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email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100KB,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85" dirty="0">
                <a:latin typeface="Tahoma"/>
                <a:cs typeface="Tahoma"/>
              </a:rPr>
              <a:t>see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volume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6408" y="1104633"/>
            <a:ext cx="2040254" cy="949832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290245" y="2294369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08393" y="2160915"/>
            <a:ext cx="3940810" cy="828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02590">
              <a:lnSpc>
                <a:spcPct val="125299"/>
              </a:lnSpc>
              <a:spcBef>
                <a:spcPts val="100"/>
              </a:spcBef>
            </a:pP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Challenges:</a:t>
            </a:r>
            <a:r>
              <a:rPr sz="1100" spc="10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Acquisition,</a:t>
            </a:r>
            <a:r>
              <a:rPr sz="1100" spc="-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FF0000"/>
                </a:solidFill>
                <a:latin typeface="Tahoma"/>
                <a:cs typeface="Tahoma"/>
              </a:rPr>
              <a:t>Storage,</a:t>
            </a:r>
            <a:r>
              <a:rPr sz="1100" spc="-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FF0000"/>
                </a:solidFill>
                <a:latin typeface="Tahoma"/>
                <a:cs typeface="Tahoma"/>
              </a:rPr>
              <a:t>Retrieval,</a:t>
            </a:r>
            <a:r>
              <a:rPr sz="1100" spc="-1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FF0000"/>
                </a:solidFill>
                <a:latin typeface="Tahoma"/>
                <a:cs typeface="Tahoma"/>
              </a:rPr>
              <a:t>Processing</a:t>
            </a:r>
            <a:r>
              <a:rPr sz="1100" spc="-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Time </a:t>
            </a:r>
            <a:r>
              <a:rPr sz="1100" spc="-40" dirty="0">
                <a:latin typeface="Tahoma"/>
                <a:cs typeface="Tahoma"/>
              </a:rPr>
              <a:t>Large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dimensional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has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more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information,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it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blessing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02600"/>
              </a:lnSpc>
              <a:spcBef>
                <a:spcPts val="300"/>
              </a:spcBef>
            </a:pPr>
            <a:r>
              <a:rPr sz="1100" dirty="0">
                <a:latin typeface="Tahoma"/>
                <a:cs typeface="Tahoma"/>
              </a:rPr>
              <a:t>It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also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big</a:t>
            </a:r>
            <a:r>
              <a:rPr sz="1100" spc="-45" dirty="0">
                <a:latin typeface="Tahoma"/>
                <a:cs typeface="Tahoma"/>
              </a:rPr>
              <a:t> curse,</a:t>
            </a:r>
            <a:r>
              <a:rPr sz="1100" spc="-40" dirty="0">
                <a:latin typeface="Tahoma"/>
                <a:cs typeface="Tahoma"/>
              </a:rPr>
              <a:t> dealing </a:t>
            </a:r>
            <a:r>
              <a:rPr sz="1100" dirty="0">
                <a:latin typeface="Tahoma"/>
                <a:cs typeface="Tahoma"/>
              </a:rPr>
              <a:t>with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large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dimensions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core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topic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this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course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90245" y="2504401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90245" y="2714434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0" name="object 10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1" name="object 11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675"/>
              </a:lnSpc>
            </a:pPr>
            <a:fld id="{81D60167-4931-47E6-BA6A-407CBD079E47}" type="slidenum">
              <a:rPr spc="-30" dirty="0"/>
              <a:t>42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20" dirty="0"/>
              <a:t>Aspects </a:t>
            </a:r>
            <a:r>
              <a:rPr dirty="0"/>
              <a:t>of</a:t>
            </a:r>
            <a:r>
              <a:rPr spc="-15" dirty="0"/>
              <a:t> </a:t>
            </a:r>
            <a:r>
              <a:rPr dirty="0"/>
              <a:t>Big:</a:t>
            </a:r>
            <a:r>
              <a:rPr spc="12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5</a:t>
            </a:r>
            <a:r>
              <a:rPr spc="-15" dirty="0"/>
              <a:t> </a:t>
            </a:r>
            <a:r>
              <a:rPr dirty="0"/>
              <a:t>V’s</a:t>
            </a:r>
            <a:r>
              <a:rPr spc="-15" dirty="0"/>
              <a:t> </a:t>
            </a:r>
            <a:r>
              <a:rPr dirty="0"/>
              <a:t>–</a:t>
            </a:r>
            <a:r>
              <a:rPr spc="-20" dirty="0"/>
              <a:t> </a:t>
            </a:r>
            <a:r>
              <a:rPr spc="-10" dirty="0"/>
              <a:t>Velocity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86636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31305" y="475207"/>
            <a:ext cx="4217670" cy="49339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20" dirty="0">
                <a:solidFill>
                  <a:srgbClr val="0000FF"/>
                </a:solidFill>
                <a:latin typeface="Arial"/>
                <a:cs typeface="Arial"/>
              </a:rPr>
              <a:t>Velocity:</a:t>
            </a:r>
            <a:r>
              <a:rPr sz="1100" b="1" spc="90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1100" spc="-50" dirty="0">
                <a:latin typeface="Tahoma"/>
                <a:cs typeface="Tahoma"/>
              </a:rPr>
              <a:t>Speed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very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high</a:t>
            </a:r>
            <a:endParaRPr sz="11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1055"/>
              </a:spcBef>
            </a:pPr>
            <a:r>
              <a:rPr sz="1100" spc="-30" dirty="0">
                <a:latin typeface="Tahoma"/>
                <a:cs typeface="Tahoma"/>
              </a:rPr>
              <a:t>Number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emails, </a:t>
            </a:r>
            <a:r>
              <a:rPr sz="1100" spc="-10" dirty="0">
                <a:latin typeface="Tahoma"/>
                <a:cs typeface="Tahoma"/>
              </a:rPr>
              <a:t>twitter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75" dirty="0">
                <a:latin typeface="Tahoma"/>
                <a:cs typeface="Tahoma"/>
              </a:rPr>
              <a:t>messages,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photos, </a:t>
            </a:r>
            <a:r>
              <a:rPr sz="1100" spc="-40" dirty="0">
                <a:latin typeface="Tahoma"/>
                <a:cs typeface="Tahoma"/>
              </a:rPr>
              <a:t>videos </a:t>
            </a:r>
            <a:r>
              <a:rPr sz="1100" dirty="0">
                <a:latin typeface="Tahoma"/>
                <a:cs typeface="Tahoma"/>
              </a:rPr>
              <a:t>etc.</a:t>
            </a:r>
            <a:r>
              <a:rPr sz="1100" spc="6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per</a:t>
            </a:r>
            <a:r>
              <a:rPr sz="1100" spc="-35" dirty="0">
                <a:latin typeface="Tahoma"/>
                <a:cs typeface="Tahoma"/>
              </a:rPr>
              <a:t> second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60499" y="1096868"/>
            <a:ext cx="1292161" cy="1457050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290245" y="2793822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08393" y="2660368"/>
            <a:ext cx="3414395" cy="44577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Late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decisions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FF0000"/>
                </a:solidFill>
                <a:latin typeface="Tahoma"/>
                <a:cs typeface="Tahoma"/>
              </a:rPr>
              <a:t>implies </a:t>
            </a:r>
            <a:r>
              <a:rPr sz="1100" spc="-55" dirty="0">
                <a:solidFill>
                  <a:srgbClr val="FF0000"/>
                </a:solidFill>
                <a:latin typeface="Tahoma"/>
                <a:cs typeface="Tahoma"/>
              </a:rPr>
              <a:t>missed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FF0000"/>
                </a:solidFill>
                <a:latin typeface="Tahoma"/>
                <a:cs typeface="Tahoma"/>
              </a:rPr>
              <a:t>opportunities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34"/>
              </a:spcBef>
            </a:pPr>
            <a:r>
              <a:rPr sz="1100" spc="-10" dirty="0">
                <a:latin typeface="Tahoma"/>
                <a:cs typeface="Tahoma"/>
              </a:rPr>
              <a:t>Real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time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processing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vs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Batch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Processing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(end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day)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90245" y="3003854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9" name="object 9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0" name="object 10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pc="55" dirty="0"/>
              <a:t>I</a:t>
            </a:r>
            <a:r>
              <a:rPr cap="small" spc="55" dirty="0"/>
              <a:t>mdad</a:t>
            </a:r>
            <a:r>
              <a:rPr spc="90" dirty="0"/>
              <a:t> </a:t>
            </a:r>
            <a:r>
              <a:rPr cap="small" spc="70" dirty="0"/>
              <a:t>ullah</a:t>
            </a:r>
            <a:r>
              <a:rPr spc="95" dirty="0"/>
              <a:t> </a:t>
            </a:r>
            <a:r>
              <a:rPr spc="85" dirty="0"/>
              <a:t>K</a:t>
            </a:r>
            <a:r>
              <a:rPr cap="small" spc="85" dirty="0"/>
              <a:t>han</a:t>
            </a:r>
            <a:r>
              <a:rPr spc="310" dirty="0"/>
              <a:t> </a:t>
            </a:r>
            <a:r>
              <a:rPr spc="-10" dirty="0">
                <a:latin typeface="Arial MT"/>
                <a:cs typeface="Arial MT"/>
              </a:rPr>
              <a:t>(LUMS)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43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20" dirty="0"/>
              <a:t>Aspects </a:t>
            </a:r>
            <a:r>
              <a:rPr dirty="0"/>
              <a:t>of</a:t>
            </a:r>
            <a:r>
              <a:rPr spc="-15" dirty="0"/>
              <a:t> </a:t>
            </a:r>
            <a:r>
              <a:rPr dirty="0"/>
              <a:t>Big:</a:t>
            </a:r>
            <a:r>
              <a:rPr spc="12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5</a:t>
            </a:r>
            <a:r>
              <a:rPr spc="-15" dirty="0"/>
              <a:t> </a:t>
            </a:r>
            <a:r>
              <a:rPr dirty="0"/>
              <a:t>V’s</a:t>
            </a:r>
            <a:r>
              <a:rPr spc="-15" dirty="0"/>
              <a:t> </a:t>
            </a:r>
            <a:r>
              <a:rPr dirty="0"/>
              <a:t>–</a:t>
            </a:r>
            <a:r>
              <a:rPr spc="-20" dirty="0"/>
              <a:t> </a:t>
            </a:r>
            <a:r>
              <a:rPr spc="-10" dirty="0"/>
              <a:t>Variety</a:t>
            </a:r>
            <a:r>
              <a:rPr dirty="0"/>
              <a:t>	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305" y="475207"/>
            <a:ext cx="30943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10" dirty="0">
                <a:solidFill>
                  <a:srgbClr val="0000FF"/>
                </a:solidFill>
                <a:latin typeface="Arial"/>
                <a:cs typeface="Arial"/>
              </a:rPr>
              <a:t>Variety:</a:t>
            </a:r>
            <a:r>
              <a:rPr sz="1100" b="1" spc="55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latin typeface="Tahoma"/>
                <a:cs typeface="Tahoma"/>
              </a:rPr>
              <a:t>Structural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variety, </a:t>
            </a:r>
            <a:r>
              <a:rPr sz="1100" spc="-35" dirty="0">
                <a:latin typeface="Tahoma"/>
                <a:cs typeface="Tahoma"/>
              </a:rPr>
              <a:t>different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formats,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models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02206" y="871372"/>
            <a:ext cx="1131569" cy="102869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097557" y="1825775"/>
            <a:ext cx="721995" cy="6667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50" dirty="0">
                <a:latin typeface="Calibri"/>
                <a:cs typeface="Calibri"/>
              </a:rPr>
              <a:t>Source:</a:t>
            </a:r>
            <a:r>
              <a:rPr sz="250" spc="400" dirty="0">
                <a:latin typeface="Calibri"/>
                <a:cs typeface="Calibri"/>
              </a:rPr>
              <a:t> </a:t>
            </a:r>
            <a:r>
              <a:rPr sz="250" spc="-10" dirty="0">
                <a:latin typeface="Calibri"/>
                <a:cs typeface="Calibri"/>
              </a:rPr>
              <a:t>https://openautomationsoftware.com/</a:t>
            </a:r>
            <a:endParaRPr sz="25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290245" y="2208136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08393" y="2049371"/>
            <a:ext cx="3761740" cy="12026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623060">
              <a:lnSpc>
                <a:spcPct val="140400"/>
              </a:lnSpc>
              <a:spcBef>
                <a:spcPts val="100"/>
              </a:spcBef>
            </a:pPr>
            <a:r>
              <a:rPr sz="1100" spc="-10" dirty="0">
                <a:latin typeface="Tahoma"/>
                <a:cs typeface="Tahoma"/>
              </a:rPr>
              <a:t>Medium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variety,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audio,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text,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video, </a:t>
            </a:r>
            <a:r>
              <a:rPr sz="1100" dirty="0">
                <a:latin typeface="Tahoma"/>
                <a:cs typeface="Tahoma"/>
              </a:rPr>
              <a:t>DBMS,</a:t>
            </a:r>
            <a:r>
              <a:rPr sz="1100" spc="5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files,</a:t>
            </a:r>
            <a:r>
              <a:rPr sz="1100" spc="6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traffic</a:t>
            </a:r>
            <a:r>
              <a:rPr sz="1100" spc="6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logs,</a:t>
            </a:r>
            <a:r>
              <a:rPr sz="1100" spc="6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XML,</a:t>
            </a:r>
            <a:r>
              <a:rPr sz="1100" spc="6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code </a:t>
            </a:r>
            <a:r>
              <a:rPr sz="1100" spc="-10" dirty="0">
                <a:latin typeface="Tahoma"/>
                <a:cs typeface="Tahoma"/>
              </a:rPr>
              <a:t>Online</a:t>
            </a:r>
            <a:r>
              <a:rPr sz="1100" spc="-7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vs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Offline,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40400"/>
              </a:lnSpc>
            </a:pPr>
            <a:r>
              <a:rPr sz="1100" spc="-10" dirty="0">
                <a:latin typeface="Tahoma"/>
                <a:cs typeface="Tahoma"/>
              </a:rPr>
              <a:t>Real</a:t>
            </a:r>
            <a:r>
              <a:rPr sz="1100" spc="-7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time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vs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Intermittent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(another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75" dirty="0">
                <a:latin typeface="Tahoma"/>
                <a:cs typeface="Tahoma"/>
              </a:rPr>
              <a:t>way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varies) </a:t>
            </a:r>
            <a:r>
              <a:rPr sz="1100" spc="-40" dirty="0">
                <a:solidFill>
                  <a:srgbClr val="FF0000"/>
                </a:solidFill>
                <a:latin typeface="Tahoma"/>
                <a:cs typeface="Tahoma"/>
              </a:rPr>
              <a:t>Challenges:</a:t>
            </a:r>
            <a:r>
              <a:rPr sz="1100" spc="8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FF0000"/>
                </a:solidFill>
                <a:latin typeface="Tahoma"/>
                <a:cs typeface="Tahoma"/>
              </a:rPr>
              <a:t>requirement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of</a:t>
            </a: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FF0000"/>
                </a:solidFill>
                <a:latin typeface="Tahoma"/>
                <a:cs typeface="Tahoma"/>
              </a:rPr>
              <a:t>analytics,</a:t>
            </a: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Semantic,</a:t>
            </a: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65" dirty="0">
                <a:solidFill>
                  <a:srgbClr val="FF0000"/>
                </a:solidFill>
                <a:latin typeface="Tahoma"/>
                <a:cs typeface="Tahoma"/>
              </a:rPr>
              <a:t>how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to</a:t>
            </a:r>
            <a:r>
              <a:rPr sz="1100" spc="-2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FF0000"/>
                </a:solidFill>
                <a:latin typeface="Tahoma"/>
                <a:cs typeface="Tahoma"/>
              </a:rPr>
              <a:t>interpret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90245" y="244348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90245" y="2678811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290245" y="2914154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290245" y="314948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3" name="object 13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44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20" dirty="0"/>
              <a:t>Aspects </a:t>
            </a:r>
            <a:r>
              <a:rPr dirty="0"/>
              <a:t>of</a:t>
            </a:r>
            <a:r>
              <a:rPr spc="-15" dirty="0"/>
              <a:t> </a:t>
            </a:r>
            <a:r>
              <a:rPr dirty="0"/>
              <a:t>Big:</a:t>
            </a:r>
            <a:r>
              <a:rPr spc="12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5</a:t>
            </a:r>
            <a:r>
              <a:rPr spc="-15" dirty="0"/>
              <a:t> </a:t>
            </a:r>
            <a:r>
              <a:rPr dirty="0"/>
              <a:t>V’s</a:t>
            </a:r>
            <a:r>
              <a:rPr spc="-15" dirty="0"/>
              <a:t> </a:t>
            </a:r>
            <a:r>
              <a:rPr dirty="0"/>
              <a:t>–</a:t>
            </a:r>
            <a:r>
              <a:rPr spc="-20" dirty="0"/>
              <a:t> </a:t>
            </a:r>
            <a:r>
              <a:rPr spc="-10" dirty="0"/>
              <a:t>Veracity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76158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90245" y="1168984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90245" y="1404327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639659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3910" y="1820824"/>
            <a:ext cx="1984203" cy="1411376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31305" y="353324"/>
            <a:ext cx="4211320" cy="1551940"/>
          </a:xfrm>
          <a:prstGeom prst="rect">
            <a:avLst/>
          </a:prstGeom>
        </p:spPr>
        <p:txBody>
          <a:bodyPr vert="horz" wrap="square" lIns="0" tIns="876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90"/>
              </a:spcBef>
            </a:pPr>
            <a:r>
              <a:rPr sz="1100" b="1" spc="-20" dirty="0">
                <a:solidFill>
                  <a:srgbClr val="0000FF"/>
                </a:solidFill>
                <a:latin typeface="Arial"/>
                <a:cs typeface="Arial"/>
              </a:rPr>
              <a:t>Veracity:</a:t>
            </a:r>
            <a:r>
              <a:rPr sz="1100" b="1" spc="90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latin typeface="Tahoma"/>
                <a:cs typeface="Tahoma"/>
              </a:rPr>
              <a:t>Quality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</a:t>
            </a:r>
            <a:endParaRPr sz="1100">
              <a:latin typeface="Tahoma"/>
              <a:cs typeface="Tahoma"/>
            </a:endParaRPr>
          </a:p>
          <a:p>
            <a:pPr marL="289560" marR="384175">
              <a:lnSpc>
                <a:spcPct val="102600"/>
              </a:lnSpc>
              <a:spcBef>
                <a:spcPts val="555"/>
              </a:spcBef>
            </a:pPr>
            <a:r>
              <a:rPr sz="1100" dirty="0">
                <a:latin typeface="Tahoma"/>
                <a:cs typeface="Tahoma"/>
              </a:rPr>
              <a:t>Data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could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have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many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issues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(biases,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anomalies,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inconsistent </a:t>
            </a:r>
            <a:r>
              <a:rPr sz="1100" spc="-60" dirty="0">
                <a:latin typeface="Tahoma"/>
                <a:cs typeface="Tahoma"/>
              </a:rPr>
              <a:t>measurements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20" dirty="0">
                <a:latin typeface="Tahoma"/>
                <a:cs typeface="Tahoma"/>
              </a:rPr>
              <a:t> units,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incomplete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duplicate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records)</a:t>
            </a:r>
            <a:endParaRPr sz="1100">
              <a:latin typeface="Tahoma"/>
              <a:cs typeface="Tahoma"/>
            </a:endParaRPr>
          </a:p>
          <a:p>
            <a:pPr marL="289560" marR="5080">
              <a:lnSpc>
                <a:spcPct val="140400"/>
              </a:lnSpc>
            </a:pPr>
            <a:r>
              <a:rPr sz="1100" dirty="0">
                <a:latin typeface="Tahoma"/>
                <a:cs typeface="Tahoma"/>
              </a:rPr>
              <a:t>Volatility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20" dirty="0">
                <a:latin typeface="Tahoma"/>
                <a:cs typeface="Tahoma"/>
              </a:rPr>
              <a:t> data,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updated/outdated,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changing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trends/sentiments </a:t>
            </a:r>
            <a:r>
              <a:rPr sz="1100" spc="-45" dirty="0">
                <a:latin typeface="Tahoma"/>
                <a:cs typeface="Tahoma"/>
              </a:rPr>
              <a:t>Trustworthiness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reliability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sources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generation/processing </a:t>
            </a:r>
            <a:r>
              <a:rPr sz="1100" spc="-30" dirty="0">
                <a:latin typeface="Tahoma"/>
                <a:cs typeface="Tahoma"/>
              </a:rPr>
              <a:t>Fake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news,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rumours,</a:t>
            </a:r>
            <a:r>
              <a:rPr sz="1100" spc="-35" dirty="0">
                <a:latin typeface="Tahoma"/>
                <a:cs typeface="Tahoma"/>
              </a:rPr>
              <a:t> fake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likes,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fake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followers</a:t>
            </a:r>
            <a:endParaRPr sz="1100">
              <a:latin typeface="Tahoma"/>
              <a:cs typeface="Tahoma"/>
            </a:endParaRPr>
          </a:p>
          <a:p>
            <a:pPr marL="2366645">
              <a:lnSpc>
                <a:spcPct val="100000"/>
              </a:lnSpc>
              <a:spcBef>
                <a:spcPts val="735"/>
              </a:spcBef>
            </a:pPr>
            <a:r>
              <a:rPr sz="450" dirty="0">
                <a:latin typeface="Calibri"/>
                <a:cs typeface="Calibri"/>
              </a:rPr>
              <a:t>Source:</a:t>
            </a:r>
            <a:r>
              <a:rPr sz="450" spc="245" dirty="0">
                <a:latin typeface="Calibri"/>
                <a:cs typeface="Calibri"/>
              </a:rPr>
              <a:t>  </a:t>
            </a:r>
            <a:r>
              <a:rPr sz="450" spc="-10" dirty="0">
                <a:latin typeface="Calibri"/>
                <a:cs typeface="Calibri"/>
              </a:rPr>
              <a:t>https://datafloq.com/</a:t>
            </a:r>
            <a:endParaRPr sz="450"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0" name="object 10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45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20" dirty="0"/>
              <a:t>Aspects </a:t>
            </a:r>
            <a:r>
              <a:rPr dirty="0"/>
              <a:t>of</a:t>
            </a:r>
            <a:r>
              <a:rPr spc="-15" dirty="0"/>
              <a:t> </a:t>
            </a:r>
            <a:r>
              <a:rPr dirty="0"/>
              <a:t>Big:</a:t>
            </a:r>
            <a:r>
              <a:rPr spc="12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5</a:t>
            </a:r>
            <a:r>
              <a:rPr spc="-15" dirty="0"/>
              <a:t> </a:t>
            </a:r>
            <a:r>
              <a:rPr dirty="0"/>
              <a:t>V’s</a:t>
            </a:r>
            <a:r>
              <a:rPr spc="-15" dirty="0"/>
              <a:t> </a:t>
            </a:r>
            <a:r>
              <a:rPr dirty="0"/>
              <a:t>–</a:t>
            </a:r>
            <a:r>
              <a:rPr spc="-20" dirty="0"/>
              <a:t> </a:t>
            </a:r>
            <a:r>
              <a:rPr spc="-10" dirty="0"/>
              <a:t>Value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86636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90245" y="112701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90245" y="1387652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31305" y="475207"/>
            <a:ext cx="3303270" cy="101473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10" dirty="0">
                <a:solidFill>
                  <a:srgbClr val="0000FF"/>
                </a:solidFill>
                <a:latin typeface="Arial"/>
                <a:cs typeface="Arial"/>
              </a:rPr>
              <a:t>Value:</a:t>
            </a:r>
            <a:r>
              <a:rPr sz="1100" b="1" spc="55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1100" dirty="0">
                <a:latin typeface="Tahoma"/>
                <a:cs typeface="Tahoma"/>
              </a:rPr>
              <a:t>Data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can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be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turned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into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big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value</a:t>
            </a:r>
            <a:endParaRPr sz="1100">
              <a:latin typeface="Tahoma"/>
              <a:cs typeface="Tahoma"/>
            </a:endParaRPr>
          </a:p>
          <a:p>
            <a:pPr marL="289560" marR="5080">
              <a:lnSpc>
                <a:spcPct val="155500"/>
              </a:lnSpc>
              <a:spcBef>
                <a:spcPts val="320"/>
              </a:spcBef>
            </a:pPr>
            <a:r>
              <a:rPr sz="1100" dirty="0">
                <a:latin typeface="Tahoma"/>
                <a:cs typeface="Tahoma"/>
              </a:rPr>
              <a:t>Data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having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no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value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no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good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company </a:t>
            </a:r>
            <a:r>
              <a:rPr sz="1100" spc="-30" dirty="0">
                <a:latin typeface="Tahoma"/>
                <a:cs typeface="Tahoma"/>
              </a:rPr>
              <a:t>Should </a:t>
            </a:r>
            <a:r>
              <a:rPr sz="1100" spc="-10" dirty="0">
                <a:latin typeface="Tahoma"/>
                <a:cs typeface="Tahoma"/>
              </a:rPr>
              <a:t>be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able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meet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strategic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objectives</a:t>
            </a:r>
            <a:endParaRPr sz="11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735"/>
              </a:spcBef>
            </a:pPr>
            <a:r>
              <a:rPr sz="1100" spc="-30" dirty="0">
                <a:latin typeface="Tahoma"/>
                <a:cs typeface="Tahoma"/>
              </a:rPr>
              <a:t>Should </a:t>
            </a:r>
            <a:r>
              <a:rPr sz="1100" spc="-25" dirty="0">
                <a:latin typeface="Tahoma"/>
                <a:cs typeface="Tahoma"/>
              </a:rPr>
              <a:t>amplify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other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technology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innovations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8" name="object 8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46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dirty="0"/>
              <a:t>5</a:t>
            </a:r>
            <a:r>
              <a:rPr spc="-20" dirty="0"/>
              <a:t> </a:t>
            </a:r>
            <a:r>
              <a:rPr dirty="0"/>
              <a:t>Vs</a:t>
            </a:r>
            <a:r>
              <a:rPr spc="-20" dirty="0"/>
              <a:t> </a:t>
            </a:r>
            <a:r>
              <a:rPr dirty="0"/>
              <a:t>of</a:t>
            </a:r>
            <a:r>
              <a:rPr spc="-20" dirty="0"/>
              <a:t> </a:t>
            </a:r>
            <a:r>
              <a:rPr dirty="0"/>
              <a:t>Big</a:t>
            </a:r>
            <a:r>
              <a:rPr spc="-20" dirty="0"/>
              <a:t> </a:t>
            </a:r>
            <a:r>
              <a:rPr dirty="0"/>
              <a:t>Data:</a:t>
            </a:r>
            <a:r>
              <a:rPr spc="114" dirty="0"/>
              <a:t> </a:t>
            </a:r>
            <a:r>
              <a:rPr spc="-10" dirty="0"/>
              <a:t>Value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86636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90245" y="112701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90245" y="1387652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820367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31305" y="475207"/>
            <a:ext cx="4187190" cy="14471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Tahoma"/>
                <a:cs typeface="Tahoma"/>
              </a:rPr>
              <a:t>The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Economist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Intelligence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Unit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report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surveying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476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executives</a:t>
            </a:r>
            <a:endParaRPr sz="1100">
              <a:latin typeface="Tahoma"/>
              <a:cs typeface="Tahoma"/>
            </a:endParaRPr>
          </a:p>
          <a:p>
            <a:pPr marL="289560" marR="5080">
              <a:lnSpc>
                <a:spcPct val="155500"/>
              </a:lnSpc>
              <a:spcBef>
                <a:spcPts val="320"/>
              </a:spcBef>
            </a:pPr>
            <a:r>
              <a:rPr sz="1100" spc="-100" dirty="0">
                <a:latin typeface="Tahoma"/>
                <a:cs typeface="Tahoma"/>
              </a:rPr>
              <a:t>60%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feel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that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generating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revenue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within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their</a:t>
            </a:r>
            <a:r>
              <a:rPr sz="1100" spc="-25" dirty="0">
                <a:latin typeface="Tahoma"/>
                <a:cs typeface="Tahoma"/>
              </a:rPr>
              <a:t> organizations </a:t>
            </a:r>
            <a:r>
              <a:rPr sz="1100" spc="-100" dirty="0">
                <a:latin typeface="Tahoma"/>
                <a:cs typeface="Tahoma"/>
              </a:rPr>
              <a:t>83%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say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it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making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existing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services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products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more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profitable</a:t>
            </a:r>
            <a:endParaRPr sz="1100">
              <a:latin typeface="Tahoma"/>
              <a:cs typeface="Tahoma"/>
            </a:endParaRPr>
          </a:p>
          <a:p>
            <a:pPr marL="289560" marR="217804">
              <a:lnSpc>
                <a:spcPct val="102600"/>
              </a:lnSpc>
              <a:spcBef>
                <a:spcPts val="700"/>
              </a:spcBef>
            </a:pPr>
            <a:r>
              <a:rPr sz="1100" spc="-100" dirty="0">
                <a:latin typeface="Tahoma"/>
                <a:cs typeface="Tahoma"/>
              </a:rPr>
              <a:t>63%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executives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based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Asia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said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they </a:t>
            </a:r>
            <a:r>
              <a:rPr sz="1100" spc="-60" dirty="0">
                <a:latin typeface="Tahoma"/>
                <a:cs typeface="Tahoma"/>
              </a:rPr>
              <a:t>are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routinely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generating </a:t>
            </a:r>
            <a:r>
              <a:rPr sz="1100" spc="-40" dirty="0">
                <a:latin typeface="Tahoma"/>
                <a:cs typeface="Tahoma"/>
              </a:rPr>
              <a:t>value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from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</a:t>
            </a:r>
            <a:endParaRPr sz="11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730"/>
              </a:spcBef>
            </a:pPr>
            <a:r>
              <a:rPr sz="1100" spc="-60" dirty="0">
                <a:latin typeface="Tahoma"/>
                <a:cs typeface="Tahoma"/>
              </a:rPr>
              <a:t>In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7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US,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0" dirty="0">
                <a:latin typeface="Tahoma"/>
                <a:cs typeface="Tahoma"/>
              </a:rPr>
              <a:t> figure </a:t>
            </a:r>
            <a:r>
              <a:rPr sz="1100" spc="-75" dirty="0">
                <a:latin typeface="Tahoma"/>
                <a:cs typeface="Tahoma"/>
              </a:rPr>
              <a:t>was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0" dirty="0">
                <a:latin typeface="Tahoma"/>
                <a:cs typeface="Tahoma"/>
              </a:rPr>
              <a:t>58%</a:t>
            </a:r>
            <a:r>
              <a:rPr sz="1100" spc="1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30" dirty="0">
                <a:latin typeface="Tahoma"/>
                <a:cs typeface="Tahoma"/>
              </a:rPr>
              <a:t> Europe, </a:t>
            </a:r>
            <a:r>
              <a:rPr sz="1100" spc="-25" dirty="0">
                <a:latin typeface="Tahoma"/>
                <a:cs typeface="Tahoma"/>
              </a:rPr>
              <a:t>56%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24854" y="2084798"/>
            <a:ext cx="2057694" cy="914528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0" name="object 10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47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dirty="0"/>
              <a:t>5</a:t>
            </a:r>
            <a:r>
              <a:rPr spc="-20" dirty="0"/>
              <a:t> </a:t>
            </a:r>
            <a:r>
              <a:rPr dirty="0"/>
              <a:t>Vs</a:t>
            </a:r>
            <a:r>
              <a:rPr spc="-20" dirty="0"/>
              <a:t> </a:t>
            </a:r>
            <a:r>
              <a:rPr dirty="0"/>
              <a:t>of</a:t>
            </a:r>
            <a:r>
              <a:rPr spc="-20" dirty="0"/>
              <a:t> </a:t>
            </a:r>
            <a:r>
              <a:rPr dirty="0"/>
              <a:t>Big</a:t>
            </a:r>
            <a:r>
              <a:rPr spc="-20" dirty="0"/>
              <a:t> </a:t>
            </a:r>
            <a:r>
              <a:rPr dirty="0"/>
              <a:t>Data:</a:t>
            </a:r>
            <a:r>
              <a:rPr spc="114" dirty="0"/>
              <a:t> </a:t>
            </a:r>
            <a:r>
              <a:rPr spc="-10" dirty="0"/>
              <a:t>Value</a:t>
            </a:r>
            <a:r>
              <a:rPr dirty="0"/>
              <a:t>	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50108" y="412715"/>
            <a:ext cx="2035789" cy="282335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242414" y="2901511"/>
            <a:ext cx="976630" cy="184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409"/>
              </a:lnSpc>
              <a:spcBef>
                <a:spcPts val="100"/>
              </a:spcBef>
            </a:pPr>
            <a:r>
              <a:rPr sz="350" spc="10" dirty="0">
                <a:solidFill>
                  <a:srgbClr val="FFD600"/>
                </a:solidFill>
                <a:latin typeface="Calibri"/>
                <a:cs typeface="Calibri"/>
              </a:rPr>
              <a:t>McKinsey</a:t>
            </a:r>
            <a:r>
              <a:rPr sz="350" spc="105" dirty="0">
                <a:solidFill>
                  <a:srgbClr val="FFD600"/>
                </a:solidFill>
                <a:latin typeface="Calibri"/>
                <a:cs typeface="Calibri"/>
              </a:rPr>
              <a:t> </a:t>
            </a:r>
            <a:r>
              <a:rPr sz="350" spc="10" dirty="0">
                <a:solidFill>
                  <a:srgbClr val="FFD600"/>
                </a:solidFill>
                <a:latin typeface="Calibri"/>
                <a:cs typeface="Calibri"/>
              </a:rPr>
              <a:t>Global</a:t>
            </a:r>
            <a:r>
              <a:rPr sz="350" spc="105" dirty="0">
                <a:solidFill>
                  <a:srgbClr val="FFD600"/>
                </a:solidFill>
                <a:latin typeface="Calibri"/>
                <a:cs typeface="Calibri"/>
              </a:rPr>
              <a:t> </a:t>
            </a:r>
            <a:r>
              <a:rPr sz="350" spc="10" dirty="0">
                <a:solidFill>
                  <a:srgbClr val="FFD600"/>
                </a:solidFill>
                <a:latin typeface="Calibri"/>
                <a:cs typeface="Calibri"/>
              </a:rPr>
              <a:t>Institute</a:t>
            </a:r>
            <a:r>
              <a:rPr sz="350" spc="105" dirty="0">
                <a:solidFill>
                  <a:srgbClr val="FFD600"/>
                </a:solidFill>
                <a:latin typeface="Calibri"/>
                <a:cs typeface="Calibri"/>
              </a:rPr>
              <a:t> </a:t>
            </a:r>
            <a:r>
              <a:rPr sz="350" spc="10" dirty="0">
                <a:solidFill>
                  <a:srgbClr val="FFD600"/>
                </a:solidFill>
                <a:latin typeface="Calibri"/>
                <a:cs typeface="Calibri"/>
              </a:rPr>
              <a:t>(May</a:t>
            </a:r>
            <a:r>
              <a:rPr sz="350" spc="105" dirty="0">
                <a:solidFill>
                  <a:srgbClr val="FFD600"/>
                </a:solidFill>
                <a:latin typeface="Calibri"/>
                <a:cs typeface="Calibri"/>
              </a:rPr>
              <a:t> </a:t>
            </a:r>
            <a:r>
              <a:rPr sz="350" spc="-10" dirty="0">
                <a:solidFill>
                  <a:srgbClr val="FFD600"/>
                </a:solidFill>
                <a:latin typeface="Calibri"/>
                <a:cs typeface="Calibri"/>
              </a:rPr>
              <a:t>2011)</a:t>
            </a:r>
            <a:endParaRPr sz="350">
              <a:latin typeface="Calibri"/>
              <a:cs typeface="Calibri"/>
            </a:endParaRPr>
          </a:p>
          <a:p>
            <a:pPr marL="12700">
              <a:lnSpc>
                <a:spcPts val="409"/>
              </a:lnSpc>
            </a:pPr>
            <a:r>
              <a:rPr sz="350" dirty="0">
                <a:solidFill>
                  <a:srgbClr val="FFD600"/>
                </a:solidFill>
                <a:latin typeface="Calibri"/>
                <a:cs typeface="Calibri"/>
              </a:rPr>
              <a:t>Big</a:t>
            </a:r>
            <a:r>
              <a:rPr sz="350" spc="180" dirty="0">
                <a:solidFill>
                  <a:srgbClr val="FFD600"/>
                </a:solidFill>
                <a:latin typeface="Calibri"/>
                <a:cs typeface="Calibri"/>
              </a:rPr>
              <a:t> </a:t>
            </a:r>
            <a:r>
              <a:rPr sz="350" dirty="0">
                <a:solidFill>
                  <a:srgbClr val="FFD600"/>
                </a:solidFill>
                <a:latin typeface="Calibri"/>
                <a:cs typeface="Calibri"/>
              </a:rPr>
              <a:t>Data</a:t>
            </a:r>
            <a:r>
              <a:rPr sz="350" spc="180" dirty="0">
                <a:solidFill>
                  <a:srgbClr val="FFD600"/>
                </a:solidFill>
                <a:latin typeface="Calibri"/>
                <a:cs typeface="Calibri"/>
              </a:rPr>
              <a:t> </a:t>
            </a:r>
            <a:r>
              <a:rPr sz="350" dirty="0">
                <a:solidFill>
                  <a:srgbClr val="FFD600"/>
                </a:solidFill>
                <a:latin typeface="Calibri"/>
                <a:cs typeface="Calibri"/>
              </a:rPr>
              <a:t>-</a:t>
            </a:r>
            <a:r>
              <a:rPr sz="350" spc="180" dirty="0">
                <a:solidFill>
                  <a:srgbClr val="FFD600"/>
                </a:solidFill>
                <a:latin typeface="Calibri"/>
                <a:cs typeface="Calibri"/>
              </a:rPr>
              <a:t> </a:t>
            </a:r>
            <a:r>
              <a:rPr sz="350" dirty="0">
                <a:solidFill>
                  <a:srgbClr val="FFD600"/>
                </a:solidFill>
                <a:latin typeface="Calibri"/>
                <a:cs typeface="Calibri"/>
              </a:rPr>
              <a:t>The</a:t>
            </a:r>
            <a:r>
              <a:rPr sz="350" spc="180" dirty="0">
                <a:solidFill>
                  <a:srgbClr val="FFD600"/>
                </a:solidFill>
                <a:latin typeface="Calibri"/>
                <a:cs typeface="Calibri"/>
              </a:rPr>
              <a:t> </a:t>
            </a:r>
            <a:r>
              <a:rPr sz="350" dirty="0">
                <a:solidFill>
                  <a:srgbClr val="FFD600"/>
                </a:solidFill>
                <a:latin typeface="Calibri"/>
                <a:cs typeface="Calibri"/>
              </a:rPr>
              <a:t>Next</a:t>
            </a:r>
            <a:r>
              <a:rPr sz="350" spc="180" dirty="0">
                <a:solidFill>
                  <a:srgbClr val="FFD600"/>
                </a:solidFill>
                <a:latin typeface="Calibri"/>
                <a:cs typeface="Calibri"/>
              </a:rPr>
              <a:t> </a:t>
            </a:r>
            <a:r>
              <a:rPr sz="350" dirty="0">
                <a:solidFill>
                  <a:srgbClr val="FFD600"/>
                </a:solidFill>
                <a:latin typeface="Calibri"/>
                <a:cs typeface="Calibri"/>
              </a:rPr>
              <a:t>Frontier</a:t>
            </a:r>
            <a:r>
              <a:rPr sz="350" spc="180" dirty="0">
                <a:solidFill>
                  <a:srgbClr val="FFD600"/>
                </a:solidFill>
                <a:latin typeface="Calibri"/>
                <a:cs typeface="Calibri"/>
              </a:rPr>
              <a:t> </a:t>
            </a:r>
            <a:r>
              <a:rPr sz="350" dirty="0">
                <a:solidFill>
                  <a:srgbClr val="FFD600"/>
                </a:solidFill>
                <a:latin typeface="Calibri"/>
                <a:cs typeface="Calibri"/>
              </a:rPr>
              <a:t>of</a:t>
            </a:r>
            <a:r>
              <a:rPr sz="350" spc="180" dirty="0">
                <a:solidFill>
                  <a:srgbClr val="FFD600"/>
                </a:solidFill>
                <a:latin typeface="Calibri"/>
                <a:cs typeface="Calibri"/>
              </a:rPr>
              <a:t> </a:t>
            </a:r>
            <a:r>
              <a:rPr sz="350" spc="-10" dirty="0">
                <a:solidFill>
                  <a:srgbClr val="FFD600"/>
                </a:solidFill>
                <a:latin typeface="Calibri"/>
                <a:cs typeface="Calibri"/>
              </a:rPr>
              <a:t>Innovation,</a:t>
            </a:r>
            <a:endParaRPr sz="3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350" spc="10" dirty="0">
                <a:solidFill>
                  <a:srgbClr val="FFD600"/>
                </a:solidFill>
                <a:latin typeface="Calibri"/>
                <a:cs typeface="Calibri"/>
              </a:rPr>
              <a:t>Competition</a:t>
            </a:r>
            <a:r>
              <a:rPr sz="350" spc="85" dirty="0">
                <a:solidFill>
                  <a:srgbClr val="FFD600"/>
                </a:solidFill>
                <a:latin typeface="Calibri"/>
                <a:cs typeface="Calibri"/>
              </a:rPr>
              <a:t> </a:t>
            </a:r>
            <a:r>
              <a:rPr sz="350" spc="10" dirty="0">
                <a:solidFill>
                  <a:srgbClr val="FFD600"/>
                </a:solidFill>
                <a:latin typeface="Calibri"/>
                <a:cs typeface="Calibri"/>
              </a:rPr>
              <a:t>and</a:t>
            </a:r>
            <a:r>
              <a:rPr sz="350" spc="85" dirty="0">
                <a:solidFill>
                  <a:srgbClr val="FFD600"/>
                </a:solidFill>
                <a:latin typeface="Calibri"/>
                <a:cs typeface="Calibri"/>
              </a:rPr>
              <a:t> </a:t>
            </a:r>
            <a:r>
              <a:rPr sz="350" spc="-10" dirty="0">
                <a:solidFill>
                  <a:srgbClr val="FFD600"/>
                </a:solidFill>
                <a:latin typeface="Calibri"/>
                <a:cs typeface="Calibri"/>
              </a:rPr>
              <a:t>Productivity</a:t>
            </a:r>
            <a:endParaRPr sz="35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6" name="object 6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48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5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Vs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of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Data:</a:t>
            </a:r>
            <a:r>
              <a:rPr sz="1400" u="sng" spc="114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Value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4005" y="752985"/>
            <a:ext cx="4307204" cy="116607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49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5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Vs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of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Big</a:t>
            </a:r>
            <a:r>
              <a:rPr sz="1400" u="sng" spc="-2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Data:</a:t>
            </a:r>
            <a:r>
              <a:rPr sz="1400" u="sng" spc="114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Value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425665"/>
            <a:ext cx="4608195" cy="3030855"/>
            <a:chOff x="0" y="425665"/>
            <a:chExt cx="4608195" cy="303085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57987" y="425665"/>
              <a:ext cx="4020057" cy="3030334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pc="55" dirty="0"/>
              <a:t>I</a:t>
            </a:r>
            <a:r>
              <a:rPr cap="small" spc="55" dirty="0"/>
              <a:t>mdad</a:t>
            </a:r>
            <a:r>
              <a:rPr spc="90" dirty="0"/>
              <a:t> </a:t>
            </a:r>
            <a:r>
              <a:rPr cap="small" spc="70" dirty="0"/>
              <a:t>ullah</a:t>
            </a:r>
            <a:r>
              <a:rPr spc="95" dirty="0"/>
              <a:t> </a:t>
            </a:r>
            <a:r>
              <a:rPr spc="85" dirty="0"/>
              <a:t>K</a:t>
            </a:r>
            <a:r>
              <a:rPr cap="small" spc="85" dirty="0"/>
              <a:t>han</a:t>
            </a:r>
            <a:r>
              <a:rPr spc="310" dirty="0"/>
              <a:t> </a:t>
            </a:r>
            <a:r>
              <a:rPr spc="-10" dirty="0">
                <a:latin typeface="Arial MT"/>
                <a:cs typeface="Arial MT"/>
              </a:rPr>
              <a:t>(LUMS)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50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3204" y="1021930"/>
            <a:ext cx="4400550" cy="777875"/>
            <a:chOff x="93204" y="1021930"/>
            <a:chExt cx="4400550" cy="777875"/>
          </a:xfrm>
        </p:grpSpPr>
        <p:sp>
          <p:nvSpPr>
            <p:cNvPr id="3" name="object 3"/>
            <p:cNvSpPr/>
            <p:nvPr/>
          </p:nvSpPr>
          <p:spPr>
            <a:xfrm>
              <a:off x="93204" y="1021930"/>
              <a:ext cx="4349750" cy="82550"/>
            </a:xfrm>
            <a:custGeom>
              <a:avLst/>
              <a:gdLst/>
              <a:ahLst/>
              <a:cxnLst/>
              <a:rect l="l" t="t" r="r" b="b"/>
              <a:pathLst>
                <a:path w="4349750" h="82550">
                  <a:moveTo>
                    <a:pt x="4298856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349657" y="82384"/>
                  </a:lnTo>
                  <a:lnTo>
                    <a:pt x="4349657" y="50800"/>
                  </a:lnTo>
                  <a:lnTo>
                    <a:pt x="4345648" y="31075"/>
                  </a:lnTo>
                  <a:lnTo>
                    <a:pt x="4334734" y="14922"/>
                  </a:lnTo>
                  <a:lnTo>
                    <a:pt x="4318581" y="4008"/>
                  </a:lnTo>
                  <a:lnTo>
                    <a:pt x="4298856" y="0"/>
                  </a:lnTo>
                  <a:close/>
                </a:path>
              </a:pathLst>
            </a:custGeom>
            <a:solidFill>
              <a:srgbClr val="E9E9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4005" y="1085189"/>
              <a:ext cx="4349750" cy="715010"/>
            </a:xfrm>
            <a:custGeom>
              <a:avLst/>
              <a:gdLst/>
              <a:ahLst/>
              <a:cxnLst/>
              <a:rect l="l" t="t" r="r" b="b"/>
              <a:pathLst>
                <a:path w="4349750" h="715010">
                  <a:moveTo>
                    <a:pt x="4349657" y="0"/>
                  </a:moveTo>
                  <a:lnTo>
                    <a:pt x="0" y="0"/>
                  </a:lnTo>
                  <a:lnTo>
                    <a:pt x="0" y="714554"/>
                  </a:lnTo>
                  <a:lnTo>
                    <a:pt x="4349657" y="714554"/>
                  </a:lnTo>
                  <a:lnTo>
                    <a:pt x="434965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3204" y="1066352"/>
              <a:ext cx="4349750" cy="682625"/>
            </a:xfrm>
            <a:custGeom>
              <a:avLst/>
              <a:gdLst/>
              <a:ahLst/>
              <a:cxnLst/>
              <a:rect l="l" t="t" r="r" b="b"/>
              <a:pathLst>
                <a:path w="4349750" h="682625">
                  <a:moveTo>
                    <a:pt x="4349657" y="0"/>
                  </a:moveTo>
                  <a:lnTo>
                    <a:pt x="0" y="0"/>
                  </a:lnTo>
                  <a:lnTo>
                    <a:pt x="0" y="631789"/>
                  </a:lnTo>
                  <a:lnTo>
                    <a:pt x="4008" y="651514"/>
                  </a:lnTo>
                  <a:lnTo>
                    <a:pt x="14922" y="667667"/>
                  </a:lnTo>
                  <a:lnTo>
                    <a:pt x="31075" y="678581"/>
                  </a:lnTo>
                  <a:lnTo>
                    <a:pt x="50800" y="682590"/>
                  </a:lnTo>
                  <a:lnTo>
                    <a:pt x="4298856" y="682590"/>
                  </a:lnTo>
                  <a:lnTo>
                    <a:pt x="4318581" y="678581"/>
                  </a:lnTo>
                  <a:lnTo>
                    <a:pt x="4334734" y="667667"/>
                  </a:lnTo>
                  <a:lnTo>
                    <a:pt x="4345648" y="651514"/>
                  </a:lnTo>
                  <a:lnTo>
                    <a:pt x="4349657" y="631789"/>
                  </a:lnTo>
                  <a:lnTo>
                    <a:pt x="4349657" y="0"/>
                  </a:lnTo>
                  <a:close/>
                </a:path>
              </a:pathLst>
            </a:custGeom>
            <a:solidFill>
              <a:srgbClr val="E9E9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18110" rIns="0" bIns="0" rtlCol="0">
            <a:spAutoFit/>
          </a:bodyPr>
          <a:lstStyle/>
          <a:p>
            <a:pPr marL="27305" marR="139700" algn="ctr">
              <a:lnSpc>
                <a:spcPct val="100000"/>
              </a:lnSpc>
              <a:spcBef>
                <a:spcPts val="930"/>
              </a:spcBef>
            </a:pPr>
            <a:r>
              <a:rPr spc="-130" dirty="0"/>
              <a:t>Types</a:t>
            </a:r>
            <a:r>
              <a:rPr spc="-30" dirty="0"/>
              <a:t> </a:t>
            </a:r>
            <a:r>
              <a:rPr spc="-50" dirty="0"/>
              <a:t>of</a:t>
            </a:r>
            <a:r>
              <a:rPr spc="-100" dirty="0"/>
              <a:t> </a:t>
            </a:r>
            <a:r>
              <a:rPr spc="-20" dirty="0"/>
              <a:t>Data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8" name="object 8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51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35" dirty="0"/>
              <a:t>Types</a:t>
            </a:r>
            <a:r>
              <a:rPr spc="-65" dirty="0"/>
              <a:t> </a:t>
            </a:r>
            <a:r>
              <a:rPr dirty="0"/>
              <a:t>of</a:t>
            </a:r>
            <a:r>
              <a:rPr spc="-60" dirty="0"/>
              <a:t> </a:t>
            </a:r>
            <a:r>
              <a:rPr spc="-20" dirty="0"/>
              <a:t>Data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60284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8393" y="513167"/>
            <a:ext cx="2152650" cy="210502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20" dirty="0">
                <a:latin typeface="Tahoma"/>
                <a:cs typeface="Tahoma"/>
              </a:rPr>
              <a:t>Relational Data</a:t>
            </a:r>
            <a:endParaRPr sz="1100">
              <a:latin typeface="Tahoma"/>
              <a:cs typeface="Tahoma"/>
            </a:endParaRPr>
          </a:p>
          <a:p>
            <a:pPr marL="12700" marR="1123315">
              <a:lnSpc>
                <a:spcPct val="163000"/>
              </a:lnSpc>
            </a:pPr>
            <a:r>
              <a:rPr sz="1100" spc="-10" dirty="0">
                <a:latin typeface="Tahoma"/>
                <a:cs typeface="Tahoma"/>
              </a:rPr>
              <a:t>Text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 </a:t>
            </a:r>
            <a:r>
              <a:rPr sz="1100" spc="-10" dirty="0">
                <a:latin typeface="Tahoma"/>
                <a:cs typeface="Tahoma"/>
              </a:rPr>
              <a:t>Multimedia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 </a:t>
            </a:r>
            <a:r>
              <a:rPr sz="1100" dirty="0">
                <a:latin typeface="Tahoma"/>
                <a:cs typeface="Tahoma"/>
              </a:rPr>
              <a:t>Time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Series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 </a:t>
            </a:r>
            <a:r>
              <a:rPr sz="1100" spc="-30" dirty="0">
                <a:latin typeface="Tahoma"/>
                <a:cs typeface="Tahoma"/>
              </a:rPr>
              <a:t>Sequential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 </a:t>
            </a:r>
            <a:r>
              <a:rPr sz="1100" spc="-10" dirty="0">
                <a:latin typeface="Tahoma"/>
                <a:cs typeface="Tahoma"/>
              </a:rPr>
              <a:t>Streams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63000"/>
              </a:lnSpc>
            </a:pPr>
            <a:r>
              <a:rPr sz="1100" spc="-35" dirty="0">
                <a:latin typeface="Tahoma"/>
                <a:cs typeface="Tahoma"/>
              </a:rPr>
              <a:t>Graphs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 </a:t>
            </a:r>
            <a:r>
              <a:rPr sz="1100" spc="-55" dirty="0">
                <a:latin typeface="Tahoma"/>
                <a:cs typeface="Tahoma"/>
              </a:rPr>
              <a:t>Homogeneous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Networks </a:t>
            </a:r>
            <a:r>
              <a:rPr sz="1100" spc="-35" dirty="0">
                <a:latin typeface="Tahoma"/>
                <a:cs typeface="Tahoma"/>
              </a:rPr>
              <a:t>Graphs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Heterogeneous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Networks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0245" y="876134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14943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0245" y="142273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90245" y="1696021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90245" y="1969312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290245" y="2242616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290245" y="251590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3" name="object 13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52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35" dirty="0"/>
              <a:t>Types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Data:</a:t>
            </a:r>
            <a:r>
              <a:rPr spc="55" dirty="0"/>
              <a:t> </a:t>
            </a:r>
            <a:r>
              <a:rPr spc="-20" dirty="0"/>
              <a:t>Text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57120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8393" y="399793"/>
            <a:ext cx="3910965" cy="1630045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35"/>
              </a:spcBef>
            </a:pPr>
            <a:r>
              <a:rPr sz="1100" spc="-40" dirty="0">
                <a:latin typeface="Tahoma"/>
                <a:cs typeface="Tahoma"/>
              </a:rPr>
              <a:t>blogs,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75" dirty="0">
                <a:latin typeface="Tahoma"/>
                <a:cs typeface="Tahoma"/>
              </a:rPr>
              <a:t>webpages,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tweets,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documents,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emails</a:t>
            </a:r>
            <a:endParaRPr sz="1100">
              <a:latin typeface="Tahoma"/>
              <a:cs typeface="Tahoma"/>
            </a:endParaRPr>
          </a:p>
          <a:p>
            <a:pPr marL="12700" marR="330200">
              <a:lnSpc>
                <a:spcPct val="102600"/>
              </a:lnSpc>
              <a:spcBef>
                <a:spcPts val="595"/>
              </a:spcBef>
            </a:pPr>
            <a:r>
              <a:rPr sz="1100" dirty="0">
                <a:solidFill>
                  <a:srgbClr val="FF0000"/>
                </a:solidFill>
                <a:latin typeface="Tahoma"/>
                <a:cs typeface="Tahoma"/>
              </a:rPr>
              <a:t>High</a:t>
            </a:r>
            <a:r>
              <a:rPr sz="1100" spc="-1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FF0000"/>
                </a:solidFill>
                <a:latin typeface="Tahoma"/>
                <a:cs typeface="Tahoma"/>
              </a:rPr>
              <a:t>dimensionality,</a:t>
            </a:r>
            <a:r>
              <a:rPr sz="1100" spc="-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FF0000"/>
                </a:solidFill>
                <a:latin typeface="Tahoma"/>
                <a:cs typeface="Tahoma"/>
              </a:rPr>
              <a:t>vocabulary,</a:t>
            </a:r>
            <a:r>
              <a:rPr sz="1100" spc="-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FF0000"/>
                </a:solidFill>
                <a:latin typeface="Tahoma"/>
                <a:cs typeface="Tahoma"/>
              </a:rPr>
              <a:t>information</a:t>
            </a:r>
            <a:r>
              <a:rPr sz="1100" spc="-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FF0000"/>
                </a:solidFill>
                <a:latin typeface="Tahoma"/>
                <a:cs typeface="Tahoma"/>
              </a:rPr>
              <a:t>retrieval,</a:t>
            </a:r>
            <a:r>
              <a:rPr sz="1100" spc="-10" dirty="0">
                <a:solidFill>
                  <a:srgbClr val="FF0000"/>
                </a:solidFill>
                <a:latin typeface="Tahoma"/>
                <a:cs typeface="Tahoma"/>
              </a:rPr>
              <a:t> natural </a:t>
            </a:r>
            <a:r>
              <a:rPr sz="1100" spc="-50" dirty="0">
                <a:solidFill>
                  <a:srgbClr val="FF0000"/>
                </a:solidFill>
                <a:latin typeface="Tahoma"/>
                <a:cs typeface="Tahoma"/>
              </a:rPr>
              <a:t>language</a:t>
            </a:r>
            <a:r>
              <a:rPr sz="1100" spc="-2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FF0000"/>
                </a:solidFill>
                <a:latin typeface="Tahoma"/>
                <a:cs typeface="Tahoma"/>
              </a:rPr>
              <a:t>processing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02600"/>
              </a:lnSpc>
              <a:spcBef>
                <a:spcPts val="600"/>
              </a:spcBef>
            </a:pP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Latest</a:t>
            </a:r>
            <a:r>
              <a:rPr sz="1100" spc="-6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search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engine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for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Walmart.com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0000FF"/>
                </a:solidFill>
                <a:latin typeface="Tahoma"/>
                <a:cs typeface="Tahoma"/>
              </a:rPr>
              <a:t>uses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text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analysis,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machine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learning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and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65" dirty="0">
                <a:solidFill>
                  <a:srgbClr val="0000FF"/>
                </a:solidFill>
                <a:latin typeface="Tahoma"/>
                <a:cs typeface="Tahoma"/>
              </a:rPr>
              <a:t>even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synonym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mining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to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produce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relevant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search 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results.</a:t>
            </a:r>
            <a:r>
              <a:rPr sz="1100" spc="8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Wal-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Mart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0000FF"/>
                </a:solidFill>
                <a:latin typeface="Tahoma"/>
                <a:cs typeface="Tahoma"/>
              </a:rPr>
              <a:t>says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adding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semantic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search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has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0000FF"/>
                </a:solidFill>
                <a:latin typeface="Tahoma"/>
                <a:cs typeface="Tahoma"/>
              </a:rPr>
              <a:t>improved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online </a:t>
            </a:r>
            <a:r>
              <a:rPr sz="1100" spc="-60" dirty="0">
                <a:solidFill>
                  <a:srgbClr val="0000FF"/>
                </a:solidFill>
                <a:latin typeface="Tahoma"/>
                <a:cs typeface="Tahoma"/>
              </a:rPr>
              <a:t>shoppers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completing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a</a:t>
            </a:r>
            <a:r>
              <a:rPr sz="1100" spc="-1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purchase</a:t>
            </a:r>
            <a:r>
              <a:rPr sz="1100" spc="-1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by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0" dirty="0">
                <a:solidFill>
                  <a:srgbClr val="0000FF"/>
                </a:solidFill>
                <a:latin typeface="Tahoma"/>
                <a:cs typeface="Tahoma"/>
              </a:rPr>
              <a:t>10%</a:t>
            </a:r>
            <a:r>
              <a:rPr sz="1100" spc="1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to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15%.</a:t>
            </a:r>
            <a:r>
              <a:rPr sz="1100" spc="9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”In</a:t>
            </a:r>
            <a:r>
              <a:rPr sz="1100" spc="-1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Wal-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Mart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terms,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that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is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billions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of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dollars,”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0245" y="81920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239266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0" y="2076046"/>
            <a:ext cx="4608195" cy="1380490"/>
            <a:chOff x="0" y="2076046"/>
            <a:chExt cx="4608195" cy="1380490"/>
          </a:xfrm>
        </p:grpSpPr>
        <p:pic>
          <p:nvPicPr>
            <p:cNvPr id="8" name="object 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67067" y="2076046"/>
              <a:ext cx="2201843" cy="1238082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53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35" dirty="0"/>
              <a:t>Types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Data:</a:t>
            </a:r>
            <a:r>
              <a:rPr spc="55" dirty="0"/>
              <a:t> </a:t>
            </a:r>
            <a:r>
              <a:rPr spc="-10" dirty="0"/>
              <a:t>Multimedia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60284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8393" y="431429"/>
            <a:ext cx="3963035" cy="1209675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35"/>
              </a:spcBef>
            </a:pPr>
            <a:r>
              <a:rPr sz="1100" spc="-40" dirty="0">
                <a:latin typeface="Tahoma"/>
                <a:cs typeface="Tahoma"/>
              </a:rPr>
              <a:t>image, </a:t>
            </a:r>
            <a:r>
              <a:rPr sz="1100" spc="-30" dirty="0">
                <a:latin typeface="Tahoma"/>
                <a:cs typeface="Tahoma"/>
              </a:rPr>
              <a:t>audio,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video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02600"/>
              </a:lnSpc>
              <a:spcBef>
                <a:spcPts val="595"/>
              </a:spcBef>
            </a:pP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‘Fast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food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and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video’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company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is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training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0000FF"/>
                </a:solidFill>
                <a:latin typeface="Tahoma"/>
                <a:cs typeface="Tahoma"/>
              </a:rPr>
              <a:t>cameras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on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drive-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through 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lanes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to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determine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what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to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display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on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its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digital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0000FF"/>
                </a:solidFill>
                <a:latin typeface="Tahoma"/>
                <a:cs typeface="Tahoma"/>
              </a:rPr>
              <a:t>menu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board.</a:t>
            </a:r>
            <a:r>
              <a:rPr sz="1100" spc="7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When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the</a:t>
            </a:r>
            <a:r>
              <a:rPr sz="1100" spc="-7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lines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0000FF"/>
                </a:solidFill>
                <a:latin typeface="Tahoma"/>
                <a:cs typeface="Tahoma"/>
              </a:rPr>
              <a:t>are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longer,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the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0000FF"/>
                </a:solidFill>
                <a:latin typeface="Tahoma"/>
                <a:cs typeface="Tahoma"/>
              </a:rPr>
              <a:t>menu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features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products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that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can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be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served up</a:t>
            </a:r>
            <a:r>
              <a:rPr sz="1100" spc="-7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quickly;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0000FF"/>
                </a:solidFill>
                <a:latin typeface="Tahoma"/>
                <a:cs typeface="Tahoma"/>
              </a:rPr>
              <a:t>when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the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lines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0000FF"/>
                </a:solidFill>
                <a:latin typeface="Tahoma"/>
                <a:cs typeface="Tahoma"/>
              </a:rPr>
              <a:t>are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shorter,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the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0000FF"/>
                </a:solidFill>
                <a:latin typeface="Tahoma"/>
                <a:cs typeface="Tahoma"/>
              </a:rPr>
              <a:t>menu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features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higher-margin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items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that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take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longer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to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prepare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0245" y="850836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9938" y="1883562"/>
            <a:ext cx="1137284" cy="741044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1549927" y="2214464"/>
            <a:ext cx="2716530" cy="410209"/>
            <a:chOff x="1549927" y="2214464"/>
            <a:chExt cx="2716530" cy="410209"/>
          </a:xfrm>
        </p:grpSpPr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49927" y="2214464"/>
              <a:ext cx="2716154" cy="410142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395859" y="2398830"/>
              <a:ext cx="853078" cy="214346"/>
            </a:xfrm>
            <a:prstGeom prst="rect">
              <a:avLst/>
            </a:prstGeom>
          </p:spPr>
        </p:pic>
      </p:grpSp>
      <p:grpSp>
        <p:nvGrpSpPr>
          <p:cNvPr id="10" name="object 10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1" name="object 11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5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5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5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5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5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5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5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54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35" dirty="0"/>
              <a:t>Types</a:t>
            </a:r>
            <a:r>
              <a:rPr spc="-60" dirty="0"/>
              <a:t> </a:t>
            </a:r>
            <a:r>
              <a:rPr dirty="0"/>
              <a:t>of</a:t>
            </a:r>
            <a:r>
              <a:rPr spc="-55" dirty="0"/>
              <a:t> </a:t>
            </a:r>
            <a:r>
              <a:rPr dirty="0"/>
              <a:t>Data:</a:t>
            </a:r>
            <a:r>
              <a:rPr spc="70" dirty="0"/>
              <a:t> </a:t>
            </a:r>
            <a:r>
              <a:rPr dirty="0"/>
              <a:t>Time</a:t>
            </a:r>
            <a:r>
              <a:rPr spc="-55" dirty="0"/>
              <a:t> </a:t>
            </a:r>
            <a:r>
              <a:rPr spc="-10" dirty="0"/>
              <a:t>Series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525564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90245" y="74824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90245" y="114300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537766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9587" y="2099921"/>
            <a:ext cx="1389186" cy="1040983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6659" y="2122590"/>
            <a:ext cx="1378985" cy="1031552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408393" y="379460"/>
            <a:ext cx="3927475" cy="1790700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35"/>
              </a:spcBef>
            </a:pPr>
            <a:r>
              <a:rPr sz="1100" spc="-55" dirty="0">
                <a:latin typeface="Tahoma"/>
                <a:cs typeface="Tahoma"/>
              </a:rPr>
              <a:t>Sequence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points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at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equally </a:t>
            </a:r>
            <a:r>
              <a:rPr sz="1100" spc="-60" dirty="0">
                <a:latin typeface="Tahoma"/>
                <a:cs typeface="Tahoma"/>
              </a:rPr>
              <a:t>spaced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time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intervals</a:t>
            </a:r>
            <a:endParaRPr sz="1100">
              <a:latin typeface="Tahoma"/>
              <a:cs typeface="Tahoma"/>
            </a:endParaRPr>
          </a:p>
          <a:p>
            <a:pPr marL="12700" marR="209550">
              <a:lnSpc>
                <a:spcPct val="102600"/>
              </a:lnSpc>
              <a:spcBef>
                <a:spcPts val="400"/>
              </a:spcBef>
            </a:pPr>
            <a:r>
              <a:rPr sz="1100" spc="-50" dirty="0">
                <a:latin typeface="Tahoma"/>
                <a:cs typeface="Tahoma"/>
              </a:rPr>
              <a:t>Sensor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data,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Stock</a:t>
            </a:r>
            <a:r>
              <a:rPr sz="1100" spc="-40" dirty="0">
                <a:latin typeface="Tahoma"/>
                <a:cs typeface="Tahoma"/>
              </a:rPr>
              <a:t> market </a:t>
            </a:r>
            <a:r>
              <a:rPr sz="1100" spc="-20" dirty="0">
                <a:latin typeface="Tahoma"/>
                <a:cs typeface="Tahoma"/>
              </a:rPr>
              <a:t>data,</a:t>
            </a:r>
            <a:r>
              <a:rPr sz="1100" spc="-40" dirty="0">
                <a:latin typeface="Tahoma"/>
                <a:cs typeface="Tahoma"/>
              </a:rPr>
              <a:t> Forex </a:t>
            </a:r>
            <a:r>
              <a:rPr sz="1100" spc="-30" dirty="0">
                <a:latin typeface="Tahoma"/>
                <a:cs typeface="Tahoma"/>
              </a:rPr>
              <a:t>rates,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Temporal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tracking </a:t>
            </a:r>
            <a:r>
              <a:rPr sz="1100" dirty="0">
                <a:latin typeface="Tahoma"/>
                <a:cs typeface="Tahoma"/>
              </a:rPr>
              <a:t>(GPS),</a:t>
            </a:r>
            <a:r>
              <a:rPr sz="1100" spc="-20" dirty="0">
                <a:latin typeface="Tahoma"/>
                <a:cs typeface="Tahoma"/>
              </a:rPr>
              <a:t> Smart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Meters </a:t>
            </a:r>
            <a:r>
              <a:rPr sz="1100" dirty="0">
                <a:latin typeface="Tahoma"/>
                <a:cs typeface="Tahoma"/>
              </a:rPr>
              <a:t>Data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(AMI)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02699"/>
              </a:lnSpc>
              <a:spcBef>
                <a:spcPts val="395"/>
              </a:spcBef>
            </a:pP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Understanding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the</a:t>
            </a:r>
            <a:r>
              <a:rPr sz="1100" spc="-1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underlying</a:t>
            </a:r>
            <a:r>
              <a:rPr sz="1100" spc="-1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0000FF"/>
                </a:solidFill>
                <a:latin typeface="Tahoma"/>
                <a:cs typeface="Tahoma"/>
              </a:rPr>
              <a:t>forces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and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structure</a:t>
            </a:r>
            <a:r>
              <a:rPr sz="1100" spc="-1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of</a:t>
            </a:r>
            <a:r>
              <a:rPr sz="1100" spc="-1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0000FF"/>
                </a:solidFill>
                <a:latin typeface="Tahoma"/>
                <a:cs typeface="Tahoma"/>
              </a:rPr>
              <a:t>observed</a:t>
            </a:r>
            <a:r>
              <a:rPr sz="1100" spc="-1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data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and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fit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a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model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to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forecast,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monitor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or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control</a:t>
            </a:r>
            <a:endParaRPr sz="1100">
              <a:latin typeface="Tahoma"/>
              <a:cs typeface="Tahoma"/>
            </a:endParaRPr>
          </a:p>
          <a:p>
            <a:pPr marL="12700" marR="88265">
              <a:lnSpc>
                <a:spcPct val="102600"/>
              </a:lnSpc>
              <a:spcBef>
                <a:spcPts val="400"/>
              </a:spcBef>
            </a:pP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Economic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Forecasting,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Sales 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Forecasting,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Stock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Market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Analysis,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Yield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Projections,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Process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and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Quality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Control,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Inventory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Studies,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Workload</a:t>
            </a:r>
            <a:r>
              <a:rPr sz="1100" spc="-1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Projections,</a:t>
            </a:r>
            <a:r>
              <a:rPr sz="1100" spc="-1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Census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Analysis</a:t>
            </a:r>
            <a:endParaRPr sz="1100">
              <a:latin typeface="Tahoma"/>
              <a:cs typeface="Tahoma"/>
            </a:endParaRPr>
          </a:p>
          <a:p>
            <a:pPr marL="2574290">
              <a:lnSpc>
                <a:spcPct val="100000"/>
              </a:lnSpc>
              <a:spcBef>
                <a:spcPts val="919"/>
              </a:spcBef>
            </a:pPr>
            <a:r>
              <a:rPr sz="450" dirty="0">
                <a:solidFill>
                  <a:srgbClr val="8A008A"/>
                </a:solidFill>
                <a:latin typeface="Calibri"/>
                <a:cs typeface="Calibri"/>
              </a:rPr>
              <a:t>market</a:t>
            </a:r>
            <a:r>
              <a:rPr sz="450" spc="160" dirty="0">
                <a:solidFill>
                  <a:srgbClr val="8A008A"/>
                </a:solidFill>
                <a:latin typeface="Calibri"/>
                <a:cs typeface="Calibri"/>
              </a:rPr>
              <a:t> </a:t>
            </a:r>
            <a:r>
              <a:rPr sz="450" spc="-10" dirty="0">
                <a:solidFill>
                  <a:srgbClr val="8A008A"/>
                </a:solidFill>
                <a:latin typeface="Calibri"/>
                <a:cs typeface="Calibri"/>
              </a:rPr>
              <a:t>momentum</a:t>
            </a:r>
            <a:endParaRPr sz="45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75436" y="3161269"/>
            <a:ext cx="2808605" cy="876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400" spc="30" dirty="0">
                <a:latin typeface="Calibri"/>
                <a:cs typeface="Calibri"/>
              </a:rPr>
              <a:t>Application</a:t>
            </a:r>
            <a:r>
              <a:rPr sz="400" spc="160" dirty="0">
                <a:latin typeface="Calibri"/>
                <a:cs typeface="Calibri"/>
              </a:rPr>
              <a:t> </a:t>
            </a:r>
            <a:r>
              <a:rPr sz="400" spc="20" dirty="0">
                <a:latin typeface="Calibri"/>
                <a:cs typeface="Calibri"/>
              </a:rPr>
              <a:t>of</a:t>
            </a:r>
            <a:r>
              <a:rPr sz="400" spc="160" dirty="0">
                <a:latin typeface="Calibri"/>
                <a:cs typeface="Calibri"/>
              </a:rPr>
              <a:t> </a:t>
            </a:r>
            <a:r>
              <a:rPr sz="400" spc="30" dirty="0">
                <a:latin typeface="Calibri"/>
                <a:cs typeface="Calibri"/>
              </a:rPr>
              <a:t>Time</a:t>
            </a:r>
            <a:r>
              <a:rPr sz="400" spc="160" dirty="0">
                <a:latin typeface="Calibri"/>
                <a:cs typeface="Calibri"/>
              </a:rPr>
              <a:t> </a:t>
            </a:r>
            <a:r>
              <a:rPr sz="400" spc="20" dirty="0">
                <a:latin typeface="Calibri"/>
                <a:cs typeface="Calibri"/>
              </a:rPr>
              <a:t>Series</a:t>
            </a:r>
            <a:r>
              <a:rPr sz="400" spc="160" dirty="0">
                <a:latin typeface="Calibri"/>
                <a:cs typeface="Calibri"/>
              </a:rPr>
              <a:t> </a:t>
            </a:r>
            <a:r>
              <a:rPr sz="400" spc="30" dirty="0">
                <a:latin typeface="Calibri"/>
                <a:cs typeface="Calibri"/>
              </a:rPr>
              <a:t>Analysis</a:t>
            </a:r>
            <a:r>
              <a:rPr sz="400" spc="160" dirty="0">
                <a:latin typeface="Calibri"/>
                <a:cs typeface="Calibri"/>
              </a:rPr>
              <a:t> </a:t>
            </a:r>
            <a:r>
              <a:rPr sz="400" spc="30" dirty="0">
                <a:latin typeface="Calibri"/>
                <a:cs typeface="Calibri"/>
              </a:rPr>
              <a:t>in</a:t>
            </a:r>
            <a:r>
              <a:rPr sz="400" spc="160" dirty="0">
                <a:latin typeface="Calibri"/>
                <a:cs typeface="Calibri"/>
              </a:rPr>
              <a:t> </a:t>
            </a:r>
            <a:r>
              <a:rPr sz="400" spc="30" dirty="0">
                <a:latin typeface="Calibri"/>
                <a:cs typeface="Calibri"/>
              </a:rPr>
              <a:t>Financial</a:t>
            </a:r>
            <a:r>
              <a:rPr sz="400" spc="160" dirty="0">
                <a:latin typeface="Calibri"/>
                <a:cs typeface="Calibri"/>
              </a:rPr>
              <a:t> </a:t>
            </a:r>
            <a:r>
              <a:rPr sz="400" spc="30" dirty="0">
                <a:latin typeface="Calibri"/>
                <a:cs typeface="Calibri"/>
              </a:rPr>
              <a:t>Economics</a:t>
            </a:r>
            <a:r>
              <a:rPr sz="400" spc="160" dirty="0">
                <a:latin typeface="Calibri"/>
                <a:cs typeface="Calibri"/>
              </a:rPr>
              <a:t> </a:t>
            </a:r>
            <a:r>
              <a:rPr sz="400" spc="30" dirty="0">
                <a:latin typeface="Calibri"/>
                <a:cs typeface="Calibri"/>
              </a:rPr>
              <a:t>by</a:t>
            </a:r>
            <a:r>
              <a:rPr sz="400" spc="165" dirty="0">
                <a:latin typeface="Calibri"/>
                <a:cs typeface="Calibri"/>
              </a:rPr>
              <a:t> </a:t>
            </a:r>
            <a:r>
              <a:rPr sz="400" spc="20" dirty="0">
                <a:latin typeface="Calibri"/>
                <a:cs typeface="Calibri"/>
              </a:rPr>
              <a:t>@Statswork</a:t>
            </a:r>
            <a:r>
              <a:rPr sz="400" spc="160" dirty="0">
                <a:latin typeface="Calibri"/>
                <a:cs typeface="Calibri"/>
              </a:rPr>
              <a:t> </a:t>
            </a:r>
            <a:r>
              <a:rPr sz="400" spc="-10" dirty="0">
                <a:latin typeface="Calibri"/>
                <a:cs typeface="Calibri"/>
              </a:rPr>
              <a:t>https://link.medium.com/n3FJPzhIadb</a:t>
            </a:r>
            <a:endParaRPr sz="4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2" name="object 12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55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35" dirty="0"/>
              <a:t>Types</a:t>
            </a:r>
            <a:r>
              <a:rPr spc="-65" dirty="0"/>
              <a:t> </a:t>
            </a:r>
            <a:r>
              <a:rPr dirty="0"/>
              <a:t>of</a:t>
            </a:r>
            <a:r>
              <a:rPr spc="-60" dirty="0"/>
              <a:t> </a:t>
            </a:r>
            <a:r>
              <a:rPr dirty="0"/>
              <a:t>Data:</a:t>
            </a:r>
            <a:r>
              <a:rPr spc="60" dirty="0"/>
              <a:t> </a:t>
            </a:r>
            <a:r>
              <a:rPr spc="-35" dirty="0"/>
              <a:t>Sequential</a:t>
            </a:r>
            <a:r>
              <a:rPr spc="-60" dirty="0"/>
              <a:t> </a:t>
            </a:r>
            <a:r>
              <a:rPr spc="-20" dirty="0"/>
              <a:t>Data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571627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8393" y="400212"/>
            <a:ext cx="1949450" cy="769620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35"/>
              </a:spcBef>
            </a:pPr>
            <a:r>
              <a:rPr sz="1100" spc="-50" dirty="0">
                <a:latin typeface="Tahoma"/>
                <a:cs typeface="Tahoma"/>
              </a:rPr>
              <a:t>Bio-</a:t>
            </a:r>
            <a:r>
              <a:rPr sz="1100" spc="-10" dirty="0">
                <a:latin typeface="Tahoma"/>
                <a:cs typeface="Tahoma"/>
              </a:rPr>
              <a:t>sequences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47900"/>
              </a:lnSpc>
            </a:pPr>
            <a:r>
              <a:rPr sz="1100" spc="-25" dirty="0">
                <a:latin typeface="Tahoma"/>
                <a:cs typeface="Tahoma"/>
              </a:rPr>
              <a:t>Discretized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music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audio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data </a:t>
            </a:r>
            <a:r>
              <a:rPr sz="1100" spc="-20" dirty="0">
                <a:latin typeface="Tahoma"/>
                <a:cs typeface="Tahoma"/>
              </a:rPr>
              <a:t>Text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0245" y="81962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06760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6110" y="1205813"/>
            <a:ext cx="3114723" cy="197575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661649" y="3127378"/>
            <a:ext cx="1243330" cy="1181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600" dirty="0">
                <a:latin typeface="Calibri"/>
                <a:cs typeface="Calibri"/>
              </a:rPr>
              <a:t>Source:</a:t>
            </a:r>
            <a:r>
              <a:rPr sz="600" spc="270" dirty="0">
                <a:latin typeface="Calibri"/>
                <a:cs typeface="Calibri"/>
              </a:rPr>
              <a:t> </a:t>
            </a:r>
            <a:r>
              <a:rPr sz="600" dirty="0">
                <a:latin typeface="Calibri"/>
                <a:cs typeface="Calibri"/>
              </a:rPr>
              <a:t>Sijo</a:t>
            </a:r>
            <a:r>
              <a:rPr sz="600" spc="175" dirty="0">
                <a:latin typeface="Calibri"/>
                <a:cs typeface="Calibri"/>
              </a:rPr>
              <a:t> </a:t>
            </a:r>
            <a:r>
              <a:rPr sz="600" dirty="0">
                <a:latin typeface="Calibri"/>
                <a:cs typeface="Calibri"/>
              </a:rPr>
              <a:t>Asokan</a:t>
            </a:r>
            <a:r>
              <a:rPr sz="600" spc="175" dirty="0">
                <a:latin typeface="Calibri"/>
                <a:cs typeface="Calibri"/>
              </a:rPr>
              <a:t> </a:t>
            </a:r>
            <a:r>
              <a:rPr sz="600" spc="-10" dirty="0">
                <a:latin typeface="Calibri"/>
                <a:cs typeface="Calibri"/>
              </a:rPr>
              <a:t>(slideshare.net)</a:t>
            </a:r>
            <a:endParaRPr sz="600"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0" name="object 10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56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35" dirty="0"/>
              <a:t>Types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Data:</a:t>
            </a:r>
            <a:r>
              <a:rPr spc="55" dirty="0"/>
              <a:t> </a:t>
            </a:r>
            <a:r>
              <a:rPr spc="-10" dirty="0"/>
              <a:t>Streams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60284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8393" y="418780"/>
            <a:ext cx="2361565" cy="1068070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35"/>
              </a:spcBef>
            </a:pPr>
            <a:r>
              <a:rPr sz="1100" spc="-10" dirty="0">
                <a:latin typeface="Tahoma"/>
                <a:cs typeface="Tahoma"/>
              </a:rPr>
              <a:t>Real</a:t>
            </a:r>
            <a:r>
              <a:rPr sz="1100" spc="-7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time</a:t>
            </a:r>
            <a:r>
              <a:rPr sz="1100" spc="-6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55500"/>
              </a:lnSpc>
            </a:pPr>
            <a:r>
              <a:rPr sz="1100" spc="-25" dirty="0">
                <a:latin typeface="Tahoma"/>
                <a:cs typeface="Tahoma"/>
              </a:rPr>
              <a:t>Single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pass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algorithms/online</a:t>
            </a:r>
            <a:r>
              <a:rPr sz="1100" spc="1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algorithms </a:t>
            </a:r>
            <a:r>
              <a:rPr sz="1100" spc="-55" dirty="0">
                <a:latin typeface="Tahoma"/>
                <a:cs typeface="Tahoma"/>
              </a:rPr>
              <a:t>Irreversible</a:t>
            </a:r>
            <a:r>
              <a:rPr sz="1100" spc="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decisions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730"/>
              </a:spcBef>
            </a:pPr>
            <a:r>
              <a:rPr sz="1100" dirty="0">
                <a:latin typeface="Tahoma"/>
                <a:cs typeface="Tahoma"/>
              </a:rPr>
              <a:t>Small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memory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algorithms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0245" y="86348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124127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0245" y="138477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45585" y="2143362"/>
            <a:ext cx="2247528" cy="516360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0" name="object 10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pc="55" dirty="0"/>
              <a:t>I</a:t>
            </a:r>
            <a:r>
              <a:rPr cap="small" spc="55" dirty="0"/>
              <a:t>mdad</a:t>
            </a:r>
            <a:r>
              <a:rPr spc="90" dirty="0"/>
              <a:t> </a:t>
            </a:r>
            <a:r>
              <a:rPr cap="small" spc="70" dirty="0"/>
              <a:t>ullah</a:t>
            </a:r>
            <a:r>
              <a:rPr spc="95" dirty="0"/>
              <a:t> </a:t>
            </a:r>
            <a:r>
              <a:rPr spc="85" dirty="0"/>
              <a:t>K</a:t>
            </a:r>
            <a:r>
              <a:rPr cap="small" spc="85" dirty="0"/>
              <a:t>han</a:t>
            </a:r>
            <a:r>
              <a:rPr spc="310" dirty="0"/>
              <a:t> </a:t>
            </a:r>
            <a:r>
              <a:rPr spc="-10" dirty="0">
                <a:latin typeface="Arial MT"/>
                <a:cs typeface="Arial MT"/>
              </a:rPr>
              <a:t>(LUMS)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57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35" dirty="0"/>
              <a:t>Types</a:t>
            </a:r>
            <a:r>
              <a:rPr spc="-40" dirty="0"/>
              <a:t> </a:t>
            </a:r>
            <a:r>
              <a:rPr dirty="0"/>
              <a:t>of</a:t>
            </a:r>
            <a:r>
              <a:rPr spc="-40" dirty="0"/>
              <a:t> </a:t>
            </a:r>
            <a:r>
              <a:rPr dirty="0"/>
              <a:t>Data:</a:t>
            </a:r>
            <a:r>
              <a:rPr spc="95" dirty="0"/>
              <a:t> </a:t>
            </a:r>
            <a:r>
              <a:rPr spc="-50" dirty="0"/>
              <a:t>Graphs/Homogeneous</a:t>
            </a:r>
            <a:r>
              <a:rPr spc="-40" dirty="0"/>
              <a:t> </a:t>
            </a:r>
            <a:r>
              <a:rPr spc="-10" dirty="0"/>
              <a:t>Networks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60284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8393" y="418780"/>
            <a:ext cx="3836035" cy="1240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151890">
              <a:lnSpc>
                <a:spcPct val="155500"/>
              </a:lnSpc>
              <a:spcBef>
                <a:spcPts val="100"/>
              </a:spcBef>
            </a:pPr>
            <a:r>
              <a:rPr sz="1100" i="1" dirty="0">
                <a:latin typeface="Trebuchet MS"/>
                <a:cs typeface="Trebuchet MS"/>
              </a:rPr>
              <a:t>G</a:t>
            </a:r>
            <a:r>
              <a:rPr sz="1100" i="1" spc="55" dirty="0">
                <a:latin typeface="Trebuchet MS"/>
                <a:cs typeface="Trebuchet MS"/>
              </a:rPr>
              <a:t> </a:t>
            </a:r>
            <a:r>
              <a:rPr sz="1100" dirty="0">
                <a:latin typeface="Tahoma"/>
                <a:cs typeface="Tahoma"/>
              </a:rPr>
              <a:t>=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(</a:t>
            </a:r>
            <a:r>
              <a:rPr sz="1100" i="1" dirty="0">
                <a:latin typeface="Trebuchet MS"/>
                <a:cs typeface="Trebuchet MS"/>
              </a:rPr>
              <a:t>V</a:t>
            </a:r>
            <a:r>
              <a:rPr sz="1100" i="1" spc="-155" dirty="0">
                <a:latin typeface="Trebuchet MS"/>
                <a:cs typeface="Trebuchet MS"/>
              </a:rPr>
              <a:t> </a:t>
            </a:r>
            <a:r>
              <a:rPr sz="1100" i="1" dirty="0">
                <a:latin typeface="Calibri"/>
                <a:cs typeface="Calibri"/>
              </a:rPr>
              <a:t>,</a:t>
            </a:r>
            <a:r>
              <a:rPr sz="1100" i="1" spc="-70" dirty="0">
                <a:latin typeface="Calibri"/>
                <a:cs typeface="Calibri"/>
              </a:rPr>
              <a:t> </a:t>
            </a:r>
            <a:r>
              <a:rPr sz="1100" i="1" spc="55" dirty="0">
                <a:latin typeface="Trebuchet MS"/>
                <a:cs typeface="Trebuchet MS"/>
              </a:rPr>
              <a:t>E</a:t>
            </a:r>
            <a:r>
              <a:rPr sz="1100" i="1" spc="-204" dirty="0">
                <a:latin typeface="Trebuchet MS"/>
                <a:cs typeface="Trebuchet MS"/>
              </a:rPr>
              <a:t> </a:t>
            </a:r>
            <a:r>
              <a:rPr sz="1100" dirty="0">
                <a:latin typeface="Tahoma"/>
                <a:cs typeface="Tahoma"/>
              </a:rPr>
              <a:t>),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items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represented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as</a:t>
            </a:r>
            <a:r>
              <a:rPr sz="110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graphs </a:t>
            </a:r>
            <a:r>
              <a:rPr sz="1100" spc="-10" dirty="0">
                <a:latin typeface="Tahoma"/>
                <a:cs typeface="Tahoma"/>
              </a:rPr>
              <a:t>Could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have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similarity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edges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730"/>
              </a:spcBef>
            </a:pPr>
            <a:r>
              <a:rPr sz="1100" spc="-10" dirty="0">
                <a:latin typeface="Tahoma"/>
                <a:cs typeface="Tahoma"/>
              </a:rPr>
              <a:t>Could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have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weights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on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vertices,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edges</a:t>
            </a:r>
            <a:r>
              <a:rPr sz="1100" spc="-20" dirty="0">
                <a:latin typeface="Tahoma"/>
                <a:cs typeface="Tahoma"/>
              </a:rPr>
              <a:t> or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both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02600"/>
              </a:lnSpc>
              <a:spcBef>
                <a:spcPts val="700"/>
              </a:spcBef>
            </a:pPr>
            <a:r>
              <a:rPr sz="1100" spc="-35" dirty="0">
                <a:latin typeface="Tahoma"/>
                <a:cs typeface="Tahoma"/>
              </a:rPr>
              <a:t>Facebook,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webgraph,</a:t>
            </a:r>
            <a:r>
              <a:rPr sz="1100" spc="-10" dirty="0">
                <a:latin typeface="Tahoma"/>
                <a:cs typeface="Tahoma"/>
              </a:rPr>
              <a:t> twitter, </a:t>
            </a:r>
            <a:r>
              <a:rPr sz="1100" spc="-45" dirty="0">
                <a:latin typeface="Tahoma"/>
                <a:cs typeface="Tahoma"/>
              </a:rPr>
              <a:t>co-</a:t>
            </a:r>
            <a:r>
              <a:rPr sz="1100" spc="-40" dirty="0">
                <a:latin typeface="Tahoma"/>
                <a:cs typeface="Tahoma"/>
              </a:rPr>
              <a:t>authorship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graphs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(bibliometric), </a:t>
            </a:r>
            <a:r>
              <a:rPr sz="1100" dirty="0">
                <a:latin typeface="Tahoma"/>
                <a:cs typeface="Tahoma"/>
              </a:rPr>
              <a:t>citation</a:t>
            </a:r>
            <a:r>
              <a:rPr sz="1100" spc="-9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networks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0245" y="86348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124127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0245" y="138477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6366" y="1954981"/>
            <a:ext cx="2943256" cy="1118088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0" name="object 10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58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35" dirty="0"/>
              <a:t>Types</a:t>
            </a:r>
            <a:r>
              <a:rPr spc="-60" dirty="0"/>
              <a:t> </a:t>
            </a:r>
            <a:r>
              <a:rPr dirty="0"/>
              <a:t>of</a:t>
            </a:r>
            <a:r>
              <a:rPr spc="-50" dirty="0"/>
              <a:t> </a:t>
            </a:r>
            <a:r>
              <a:rPr dirty="0"/>
              <a:t>Data:</a:t>
            </a:r>
            <a:r>
              <a:rPr spc="75" dirty="0"/>
              <a:t> </a:t>
            </a:r>
            <a:r>
              <a:rPr spc="-65" dirty="0"/>
              <a:t>Heterogeneous</a:t>
            </a:r>
            <a:r>
              <a:rPr spc="-45" dirty="0"/>
              <a:t> </a:t>
            </a:r>
            <a:r>
              <a:rPr spc="-10" dirty="0"/>
              <a:t>Networks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60284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8393" y="418780"/>
            <a:ext cx="1934210" cy="546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55500"/>
              </a:lnSpc>
              <a:spcBef>
                <a:spcPts val="100"/>
              </a:spcBef>
            </a:pPr>
            <a:r>
              <a:rPr sz="1100" spc="-30" dirty="0">
                <a:latin typeface="Tahoma"/>
                <a:cs typeface="Tahoma"/>
              </a:rPr>
              <a:t>Nodes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represent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different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entities </a:t>
            </a:r>
            <a:r>
              <a:rPr sz="1100" spc="-25" dirty="0">
                <a:latin typeface="Tahoma"/>
                <a:cs typeface="Tahoma"/>
              </a:rPr>
              <a:t>Authors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 </a:t>
            </a:r>
            <a:r>
              <a:rPr sz="1100" spc="-10" dirty="0">
                <a:latin typeface="Tahoma"/>
                <a:cs typeface="Tahoma"/>
              </a:rPr>
              <a:t>conferences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0245" y="86348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6366" y="1272419"/>
            <a:ext cx="2943256" cy="1118088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8" name="object 8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59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3204" y="1021930"/>
            <a:ext cx="4400550" cy="777875"/>
            <a:chOff x="93204" y="1021930"/>
            <a:chExt cx="4400550" cy="777875"/>
          </a:xfrm>
        </p:grpSpPr>
        <p:sp>
          <p:nvSpPr>
            <p:cNvPr id="3" name="object 3"/>
            <p:cNvSpPr/>
            <p:nvPr/>
          </p:nvSpPr>
          <p:spPr>
            <a:xfrm>
              <a:off x="93204" y="1021930"/>
              <a:ext cx="4349750" cy="82550"/>
            </a:xfrm>
            <a:custGeom>
              <a:avLst/>
              <a:gdLst/>
              <a:ahLst/>
              <a:cxnLst/>
              <a:rect l="l" t="t" r="r" b="b"/>
              <a:pathLst>
                <a:path w="4349750" h="82550">
                  <a:moveTo>
                    <a:pt x="4298856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349657" y="82384"/>
                  </a:lnTo>
                  <a:lnTo>
                    <a:pt x="4349657" y="50800"/>
                  </a:lnTo>
                  <a:lnTo>
                    <a:pt x="4345648" y="31075"/>
                  </a:lnTo>
                  <a:lnTo>
                    <a:pt x="4334734" y="14922"/>
                  </a:lnTo>
                  <a:lnTo>
                    <a:pt x="4318581" y="4008"/>
                  </a:lnTo>
                  <a:lnTo>
                    <a:pt x="4298856" y="0"/>
                  </a:lnTo>
                  <a:close/>
                </a:path>
              </a:pathLst>
            </a:custGeom>
            <a:solidFill>
              <a:srgbClr val="E9E9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4005" y="1085189"/>
              <a:ext cx="4349750" cy="715010"/>
            </a:xfrm>
            <a:custGeom>
              <a:avLst/>
              <a:gdLst/>
              <a:ahLst/>
              <a:cxnLst/>
              <a:rect l="l" t="t" r="r" b="b"/>
              <a:pathLst>
                <a:path w="4349750" h="715010">
                  <a:moveTo>
                    <a:pt x="4349657" y="0"/>
                  </a:moveTo>
                  <a:lnTo>
                    <a:pt x="0" y="0"/>
                  </a:lnTo>
                  <a:lnTo>
                    <a:pt x="0" y="714554"/>
                  </a:lnTo>
                  <a:lnTo>
                    <a:pt x="4349657" y="714554"/>
                  </a:lnTo>
                  <a:lnTo>
                    <a:pt x="434965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3204" y="1066352"/>
              <a:ext cx="4349750" cy="682625"/>
            </a:xfrm>
            <a:custGeom>
              <a:avLst/>
              <a:gdLst/>
              <a:ahLst/>
              <a:cxnLst/>
              <a:rect l="l" t="t" r="r" b="b"/>
              <a:pathLst>
                <a:path w="4349750" h="682625">
                  <a:moveTo>
                    <a:pt x="4349657" y="0"/>
                  </a:moveTo>
                  <a:lnTo>
                    <a:pt x="0" y="0"/>
                  </a:lnTo>
                  <a:lnTo>
                    <a:pt x="0" y="631789"/>
                  </a:lnTo>
                  <a:lnTo>
                    <a:pt x="4008" y="651514"/>
                  </a:lnTo>
                  <a:lnTo>
                    <a:pt x="14922" y="667667"/>
                  </a:lnTo>
                  <a:lnTo>
                    <a:pt x="31075" y="678581"/>
                  </a:lnTo>
                  <a:lnTo>
                    <a:pt x="50800" y="682590"/>
                  </a:lnTo>
                  <a:lnTo>
                    <a:pt x="4298856" y="682590"/>
                  </a:lnTo>
                  <a:lnTo>
                    <a:pt x="4318581" y="678581"/>
                  </a:lnTo>
                  <a:lnTo>
                    <a:pt x="4334734" y="667667"/>
                  </a:lnTo>
                  <a:lnTo>
                    <a:pt x="4345648" y="651514"/>
                  </a:lnTo>
                  <a:lnTo>
                    <a:pt x="4349657" y="631789"/>
                  </a:lnTo>
                  <a:lnTo>
                    <a:pt x="4349657" y="0"/>
                  </a:lnTo>
                  <a:close/>
                </a:path>
              </a:pathLst>
            </a:custGeom>
            <a:solidFill>
              <a:srgbClr val="E9E9F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18110" rIns="0" bIns="0" rtlCol="0">
            <a:spAutoFit/>
          </a:bodyPr>
          <a:lstStyle/>
          <a:p>
            <a:pPr marL="333375">
              <a:lnSpc>
                <a:spcPct val="100000"/>
              </a:lnSpc>
              <a:spcBef>
                <a:spcPts val="930"/>
              </a:spcBef>
            </a:pPr>
            <a:r>
              <a:rPr spc="-50" dirty="0"/>
              <a:t>Data</a:t>
            </a:r>
            <a:r>
              <a:rPr spc="-110" dirty="0"/>
              <a:t> </a:t>
            </a:r>
            <a:r>
              <a:rPr spc="-65" dirty="0"/>
              <a:t>Analytics:</a:t>
            </a:r>
            <a:r>
              <a:rPr spc="55" dirty="0"/>
              <a:t> </a:t>
            </a:r>
            <a:r>
              <a:rPr spc="-95" dirty="0"/>
              <a:t>Process</a:t>
            </a:r>
            <a:r>
              <a:rPr spc="-65" dirty="0"/>
              <a:t> </a:t>
            </a:r>
            <a:r>
              <a:rPr spc="-140" dirty="0"/>
              <a:t>and</a:t>
            </a:r>
            <a:r>
              <a:rPr spc="-20" dirty="0"/>
              <a:t> </a:t>
            </a:r>
            <a:r>
              <a:rPr spc="-10" dirty="0"/>
              <a:t>Tasks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8" name="object 8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60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dirty="0"/>
              <a:t>The</a:t>
            </a:r>
            <a:r>
              <a:rPr spc="-40" dirty="0"/>
              <a:t> </a:t>
            </a:r>
            <a:r>
              <a:rPr spc="-10" dirty="0"/>
              <a:t>Analytics</a:t>
            </a:r>
            <a:r>
              <a:rPr spc="-35" dirty="0"/>
              <a:t> </a:t>
            </a:r>
            <a:r>
              <a:rPr spc="-10" dirty="0"/>
              <a:t>Process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55712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572681" y="803605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5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72681" y="1018692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5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572681" y="1233792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5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572681" y="1448879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5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90245" y="1704187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72681" y="1950681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72681" y="2165769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72681" y="2380869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72681" y="2595956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72681" y="2811056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72681" y="3026143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408393" y="372276"/>
            <a:ext cx="3773170" cy="2748280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40"/>
              </a:spcBef>
            </a:pP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Business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Objective</a:t>
            </a:r>
            <a:endParaRPr sz="11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680"/>
              </a:spcBef>
            </a:pPr>
            <a:r>
              <a:rPr sz="1000" dirty="0">
                <a:latin typeface="Tahoma"/>
                <a:cs typeface="Tahoma"/>
              </a:rPr>
              <a:t>Why</a:t>
            </a:r>
            <a:r>
              <a:rPr sz="1000" spc="-65" dirty="0">
                <a:latin typeface="Tahoma"/>
                <a:cs typeface="Tahoma"/>
              </a:rPr>
              <a:t> </a:t>
            </a:r>
            <a:r>
              <a:rPr sz="1000" spc="-85" dirty="0">
                <a:latin typeface="Tahoma"/>
                <a:cs typeface="Tahoma"/>
              </a:rPr>
              <a:t>we</a:t>
            </a:r>
            <a:r>
              <a:rPr sz="1000" spc="5" dirty="0">
                <a:latin typeface="Tahoma"/>
                <a:cs typeface="Tahoma"/>
              </a:rPr>
              <a:t> </a:t>
            </a:r>
            <a:r>
              <a:rPr sz="1000" spc="-50" dirty="0">
                <a:latin typeface="Tahoma"/>
                <a:cs typeface="Tahoma"/>
              </a:rPr>
              <a:t>are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45" dirty="0">
                <a:latin typeface="Tahoma"/>
                <a:cs typeface="Tahoma"/>
              </a:rPr>
              <a:t>seeking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data</a:t>
            </a:r>
            <a:r>
              <a:rPr sz="1000" spc="-25" dirty="0">
                <a:latin typeface="Tahoma"/>
                <a:cs typeface="Tahoma"/>
              </a:rPr>
              <a:t> analytics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in</a:t>
            </a:r>
            <a:r>
              <a:rPr sz="1000" spc="-20" dirty="0">
                <a:latin typeface="Tahoma"/>
                <a:cs typeface="Tahoma"/>
              </a:rPr>
              <a:t> the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first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place?</a:t>
            </a:r>
            <a:endParaRPr sz="1000">
              <a:latin typeface="Tahoma"/>
              <a:cs typeface="Tahoma"/>
            </a:endParaRPr>
          </a:p>
          <a:p>
            <a:pPr marL="289560" marR="5080">
              <a:lnSpc>
                <a:spcPct val="141100"/>
              </a:lnSpc>
            </a:pPr>
            <a:r>
              <a:rPr sz="1000" spc="-10" dirty="0">
                <a:latin typeface="Tahoma"/>
                <a:cs typeface="Tahoma"/>
              </a:rPr>
              <a:t>How</a:t>
            </a:r>
            <a:r>
              <a:rPr sz="1000" spc="-20" dirty="0">
                <a:latin typeface="Tahoma"/>
                <a:cs typeface="Tahoma"/>
              </a:rPr>
              <a:t> can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80" dirty="0">
                <a:latin typeface="Tahoma"/>
                <a:cs typeface="Tahoma"/>
              </a:rPr>
              <a:t>we</a:t>
            </a:r>
            <a:r>
              <a:rPr sz="1000" dirty="0">
                <a:latin typeface="Tahoma"/>
                <a:cs typeface="Tahoma"/>
              </a:rPr>
              <a:t> </a:t>
            </a:r>
            <a:r>
              <a:rPr sz="1000" spc="-50" dirty="0">
                <a:latin typeface="Tahoma"/>
                <a:cs typeface="Tahoma"/>
              </a:rPr>
              <a:t>reduce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production</a:t>
            </a:r>
            <a:r>
              <a:rPr sz="1000" spc="-5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costs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without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sacrificing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quality? </a:t>
            </a:r>
            <a:r>
              <a:rPr sz="1000" dirty="0">
                <a:latin typeface="Tahoma"/>
                <a:cs typeface="Tahoma"/>
              </a:rPr>
              <a:t>What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45" dirty="0">
                <a:latin typeface="Tahoma"/>
                <a:cs typeface="Tahoma"/>
              </a:rPr>
              <a:t>are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60" dirty="0">
                <a:latin typeface="Tahoma"/>
                <a:cs typeface="Tahoma"/>
              </a:rPr>
              <a:t>some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65" dirty="0">
                <a:latin typeface="Tahoma"/>
                <a:cs typeface="Tahoma"/>
              </a:rPr>
              <a:t>ways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to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increase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50" dirty="0">
                <a:latin typeface="Tahoma"/>
                <a:cs typeface="Tahoma"/>
              </a:rPr>
              <a:t>sales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with</a:t>
            </a:r>
            <a:r>
              <a:rPr sz="1000" spc="-20" dirty="0">
                <a:latin typeface="Tahoma"/>
                <a:cs typeface="Tahoma"/>
              </a:rPr>
              <a:t> our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current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resources? </a:t>
            </a:r>
            <a:r>
              <a:rPr sz="1000" dirty="0">
                <a:latin typeface="Tahoma"/>
                <a:cs typeface="Tahoma"/>
              </a:rPr>
              <a:t>Do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customers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view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our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35" dirty="0">
                <a:latin typeface="Tahoma"/>
                <a:cs typeface="Tahoma"/>
              </a:rPr>
              <a:t>brand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in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a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favorable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way?</a:t>
            </a:r>
            <a:endParaRPr sz="10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750"/>
              </a:spcBef>
            </a:pP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Data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Collection</a:t>
            </a:r>
            <a:endParaRPr sz="11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680"/>
              </a:spcBef>
            </a:pPr>
            <a:r>
              <a:rPr sz="1000" dirty="0">
                <a:latin typeface="Tahoma"/>
                <a:cs typeface="Tahoma"/>
              </a:rPr>
              <a:t>What</a:t>
            </a:r>
            <a:r>
              <a:rPr sz="1000" spc="-5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data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is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spc="-65" dirty="0">
                <a:latin typeface="Tahoma"/>
                <a:cs typeface="Tahoma"/>
              </a:rPr>
              <a:t>needed</a:t>
            </a:r>
            <a:r>
              <a:rPr sz="1000" spc="-1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and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available?</a:t>
            </a:r>
            <a:endParaRPr sz="10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495"/>
              </a:spcBef>
            </a:pPr>
            <a:r>
              <a:rPr sz="1000" spc="-35" dirty="0">
                <a:latin typeface="Tahoma"/>
                <a:cs typeface="Tahoma"/>
              </a:rPr>
              <a:t>Identify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55" dirty="0">
                <a:latin typeface="Tahoma"/>
                <a:cs typeface="Tahoma"/>
              </a:rPr>
              <a:t>sources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of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data</a:t>
            </a:r>
            <a:r>
              <a:rPr sz="1000" spc="-25" dirty="0">
                <a:latin typeface="Tahoma"/>
                <a:cs typeface="Tahoma"/>
              </a:rPr>
              <a:t> and </a:t>
            </a:r>
            <a:r>
              <a:rPr sz="1000" spc="-45" dirty="0">
                <a:latin typeface="Tahoma"/>
                <a:cs typeface="Tahoma"/>
              </a:rPr>
              <a:t>relevance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of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data</a:t>
            </a:r>
            <a:endParaRPr sz="1000">
              <a:latin typeface="Tahoma"/>
              <a:cs typeface="Tahoma"/>
            </a:endParaRPr>
          </a:p>
          <a:p>
            <a:pPr marL="289560" marR="360680">
              <a:lnSpc>
                <a:spcPct val="141100"/>
              </a:lnSpc>
            </a:pPr>
            <a:r>
              <a:rPr sz="1000" dirty="0">
                <a:latin typeface="Tahoma"/>
                <a:cs typeface="Tahoma"/>
              </a:rPr>
              <a:t>Are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35" dirty="0">
                <a:latin typeface="Tahoma"/>
                <a:cs typeface="Tahoma"/>
              </a:rPr>
              <a:t>there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55" dirty="0">
                <a:latin typeface="Tahoma"/>
                <a:cs typeface="Tahoma"/>
              </a:rPr>
              <a:t>enough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35" dirty="0">
                <a:latin typeface="Tahoma"/>
                <a:cs typeface="Tahoma"/>
              </a:rPr>
              <a:t>instances,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50" dirty="0">
                <a:latin typeface="Tahoma"/>
                <a:cs typeface="Tahoma"/>
              </a:rPr>
              <a:t>are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all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35" dirty="0">
                <a:latin typeface="Tahoma"/>
                <a:cs typeface="Tahoma"/>
              </a:rPr>
              <a:t>relevant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features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there? </a:t>
            </a:r>
            <a:r>
              <a:rPr sz="1000" spc="-35" dirty="0">
                <a:latin typeface="Tahoma"/>
                <a:cs typeface="Tahoma"/>
              </a:rPr>
              <a:t>Identify datasets,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acquire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and </a:t>
            </a:r>
            <a:r>
              <a:rPr sz="1000" spc="-10" dirty="0">
                <a:latin typeface="Tahoma"/>
                <a:cs typeface="Tahoma"/>
              </a:rPr>
              <a:t>retrieve</a:t>
            </a:r>
            <a:endParaRPr sz="1000">
              <a:latin typeface="Tahoma"/>
              <a:cs typeface="Tahoma"/>
            </a:endParaRPr>
          </a:p>
          <a:p>
            <a:pPr marL="289560" marR="557530">
              <a:lnSpc>
                <a:spcPct val="141100"/>
              </a:lnSpc>
            </a:pPr>
            <a:r>
              <a:rPr sz="1000" spc="-40" dirty="0">
                <a:latin typeface="Tahoma"/>
                <a:cs typeface="Tahoma"/>
              </a:rPr>
              <a:t>Sources</a:t>
            </a:r>
            <a:r>
              <a:rPr sz="1000" spc="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RDBMS,</a:t>
            </a:r>
            <a:r>
              <a:rPr sz="1000" spc="1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.txt,</a:t>
            </a:r>
            <a:r>
              <a:rPr sz="1000" spc="15" dirty="0">
                <a:latin typeface="Tahoma"/>
                <a:cs typeface="Tahoma"/>
              </a:rPr>
              <a:t> </a:t>
            </a:r>
            <a:r>
              <a:rPr sz="1000" spc="-50" dirty="0">
                <a:latin typeface="Tahoma"/>
                <a:cs typeface="Tahoma"/>
              </a:rPr>
              <a:t>webservices</a:t>
            </a:r>
            <a:r>
              <a:rPr sz="1000" spc="1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(soup),</a:t>
            </a:r>
            <a:r>
              <a:rPr sz="1000" spc="15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RSS,</a:t>
            </a:r>
            <a:r>
              <a:rPr sz="1000" spc="15" dirty="0">
                <a:latin typeface="Tahoma"/>
                <a:cs typeface="Tahoma"/>
              </a:rPr>
              <a:t> </a:t>
            </a:r>
            <a:r>
              <a:rPr sz="1000" spc="-45" dirty="0">
                <a:latin typeface="Tahoma"/>
                <a:cs typeface="Tahoma"/>
              </a:rPr>
              <a:t>tweets </a:t>
            </a:r>
            <a:r>
              <a:rPr sz="1000" spc="-30" dirty="0">
                <a:latin typeface="Tahoma"/>
                <a:cs typeface="Tahoma"/>
              </a:rPr>
              <a:t>Experiments,</a:t>
            </a:r>
            <a:r>
              <a:rPr sz="1000" spc="-25" dirty="0">
                <a:latin typeface="Tahoma"/>
                <a:cs typeface="Tahoma"/>
              </a:rPr>
              <a:t> synthetic </a:t>
            </a:r>
            <a:r>
              <a:rPr sz="1000" spc="-10" dirty="0">
                <a:latin typeface="Tahoma"/>
                <a:cs typeface="Tahoma"/>
              </a:rPr>
              <a:t>data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generation,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Survey</a:t>
            </a:r>
            <a:endParaRPr sz="1000">
              <a:latin typeface="Tahoma"/>
              <a:cs typeface="Tahoma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7" name="object 17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pc="55" dirty="0"/>
              <a:t>I</a:t>
            </a:r>
            <a:r>
              <a:rPr cap="small" spc="55" dirty="0"/>
              <a:t>mdad</a:t>
            </a:r>
            <a:r>
              <a:rPr spc="90" dirty="0"/>
              <a:t> </a:t>
            </a:r>
            <a:r>
              <a:rPr cap="small" spc="70" dirty="0"/>
              <a:t>ullah</a:t>
            </a:r>
            <a:r>
              <a:rPr spc="95" dirty="0"/>
              <a:t> </a:t>
            </a:r>
            <a:r>
              <a:rPr spc="85" dirty="0"/>
              <a:t>K</a:t>
            </a:r>
            <a:r>
              <a:rPr cap="small" spc="85" dirty="0"/>
              <a:t>han</a:t>
            </a:r>
            <a:r>
              <a:rPr spc="310" dirty="0"/>
              <a:t> </a:t>
            </a:r>
            <a:r>
              <a:rPr spc="-10" dirty="0">
                <a:latin typeface="Arial MT"/>
                <a:cs typeface="Arial MT"/>
              </a:rPr>
              <a:t>(LUMS)</a:t>
            </a:r>
          </a:p>
        </p:txBody>
      </p:sp>
      <p:sp>
        <p:nvSpPr>
          <p:cNvPr id="21" name="object 21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61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dirty="0"/>
              <a:t>The</a:t>
            </a:r>
            <a:r>
              <a:rPr spc="-40" dirty="0"/>
              <a:t> </a:t>
            </a:r>
            <a:r>
              <a:rPr spc="-10" dirty="0"/>
              <a:t>Analytics</a:t>
            </a:r>
            <a:r>
              <a:rPr spc="-35" dirty="0"/>
              <a:t> </a:t>
            </a:r>
            <a:r>
              <a:rPr spc="-10" dirty="0"/>
              <a:t>Process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55712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572681" y="803605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5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72681" y="1018692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5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572681" y="1233792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5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0245" y="164092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72681" y="1887410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72681" y="2102510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290245" y="235781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72681" y="2604300"/>
            <a:ext cx="56515" cy="56515"/>
          </a:xfrm>
          <a:custGeom>
            <a:avLst/>
            <a:gdLst/>
            <a:ahLst/>
            <a:cxnLst/>
            <a:rect l="l" t="t" r="r" b="b"/>
            <a:pathLst>
              <a:path w="56515" h="56514">
                <a:moveTo>
                  <a:pt x="56235" y="0"/>
                </a:moveTo>
                <a:lnTo>
                  <a:pt x="0" y="0"/>
                </a:lnTo>
                <a:lnTo>
                  <a:pt x="0" y="56235"/>
                </a:lnTo>
                <a:lnTo>
                  <a:pt x="56235" y="56235"/>
                </a:lnTo>
                <a:lnTo>
                  <a:pt x="56235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08393" y="372276"/>
            <a:ext cx="3728085" cy="247840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40"/>
              </a:spcBef>
            </a:pP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Data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Preparation</a:t>
            </a:r>
            <a:endParaRPr sz="11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680"/>
              </a:spcBef>
            </a:pPr>
            <a:r>
              <a:rPr sz="1000" dirty="0">
                <a:latin typeface="Tahoma"/>
                <a:cs typeface="Tahoma"/>
              </a:rPr>
              <a:t>Make</a:t>
            </a:r>
            <a:r>
              <a:rPr sz="1000" spc="-60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the</a:t>
            </a:r>
            <a:r>
              <a:rPr sz="1000" spc="-5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data</a:t>
            </a:r>
            <a:r>
              <a:rPr sz="1000" spc="-50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ready</a:t>
            </a:r>
            <a:r>
              <a:rPr sz="1000" spc="-3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for</a:t>
            </a:r>
            <a:r>
              <a:rPr sz="1000" spc="-5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analytics</a:t>
            </a:r>
            <a:endParaRPr sz="10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490"/>
              </a:spcBef>
            </a:pPr>
            <a:r>
              <a:rPr sz="1000" spc="-25" dirty="0">
                <a:latin typeface="Tahoma"/>
                <a:cs typeface="Tahoma"/>
              </a:rPr>
              <a:t>Exploratory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Data</a:t>
            </a:r>
            <a:r>
              <a:rPr sz="1000" spc="-20" dirty="0">
                <a:latin typeface="Tahoma"/>
                <a:cs typeface="Tahoma"/>
              </a:rPr>
              <a:t> Analysis </a:t>
            </a:r>
            <a:r>
              <a:rPr sz="1000" spc="-25" dirty="0">
                <a:latin typeface="Tahoma"/>
                <a:cs typeface="Tahoma"/>
              </a:rPr>
              <a:t>Describe,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40" dirty="0">
                <a:latin typeface="Tahoma"/>
                <a:cs typeface="Tahoma"/>
              </a:rPr>
              <a:t>Summarize,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Visualize</a:t>
            </a:r>
            <a:endParaRPr sz="1000">
              <a:latin typeface="Tahoma"/>
              <a:cs typeface="Tahoma"/>
            </a:endParaRPr>
          </a:p>
          <a:p>
            <a:pPr marL="289560" marR="153035">
              <a:lnSpc>
                <a:spcPct val="100000"/>
              </a:lnSpc>
              <a:spcBef>
                <a:spcPts val="495"/>
              </a:spcBef>
            </a:pPr>
            <a:r>
              <a:rPr sz="1000" spc="-25" dirty="0">
                <a:latin typeface="Tahoma"/>
                <a:cs typeface="Tahoma"/>
              </a:rPr>
              <a:t>Pre-</a:t>
            </a:r>
            <a:r>
              <a:rPr sz="1000" spc="-40" dirty="0">
                <a:latin typeface="Tahoma"/>
                <a:cs typeface="Tahoma"/>
              </a:rPr>
              <a:t>process:</a:t>
            </a:r>
            <a:r>
              <a:rPr sz="1000" spc="30" dirty="0">
                <a:latin typeface="Tahoma"/>
                <a:cs typeface="Tahoma"/>
              </a:rPr>
              <a:t> </a:t>
            </a:r>
            <a:r>
              <a:rPr sz="1000" spc="-55" dirty="0">
                <a:latin typeface="Tahoma"/>
                <a:cs typeface="Tahoma"/>
              </a:rPr>
              <a:t>Improve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data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quality,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clean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data,</a:t>
            </a:r>
            <a:r>
              <a:rPr sz="1000" spc="-40" dirty="0">
                <a:latin typeface="Tahoma"/>
                <a:cs typeface="Tahoma"/>
              </a:rPr>
              <a:t> </a:t>
            </a:r>
            <a:r>
              <a:rPr sz="1000" spc="-30" dirty="0">
                <a:latin typeface="Tahoma"/>
                <a:cs typeface="Tahoma"/>
              </a:rPr>
              <a:t>transformation, standardization,</a:t>
            </a:r>
            <a:r>
              <a:rPr sz="1000" spc="30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normalization</a:t>
            </a:r>
            <a:endParaRPr sz="10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750"/>
              </a:spcBef>
            </a:pP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Data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Analysis</a:t>
            </a:r>
            <a:endParaRPr sz="11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675"/>
              </a:spcBef>
            </a:pPr>
            <a:r>
              <a:rPr sz="1000" dirty="0">
                <a:latin typeface="Tahoma"/>
                <a:cs typeface="Tahoma"/>
              </a:rPr>
              <a:t>Apply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analytical</a:t>
            </a:r>
            <a:r>
              <a:rPr sz="1000" spc="-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techniques</a:t>
            </a:r>
            <a:endParaRPr sz="10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495"/>
              </a:spcBef>
            </a:pPr>
            <a:r>
              <a:rPr sz="1000" spc="-40" dirty="0">
                <a:latin typeface="Tahoma"/>
                <a:cs typeface="Tahoma"/>
              </a:rPr>
              <a:t>Supervised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25" dirty="0">
                <a:latin typeface="Tahoma"/>
                <a:cs typeface="Tahoma"/>
              </a:rPr>
              <a:t>and</a:t>
            </a:r>
            <a:r>
              <a:rPr sz="1000" spc="-20" dirty="0">
                <a:latin typeface="Tahoma"/>
                <a:cs typeface="Tahoma"/>
              </a:rPr>
              <a:t> </a:t>
            </a:r>
            <a:r>
              <a:rPr sz="1000" spc="-50" dirty="0">
                <a:latin typeface="Tahoma"/>
                <a:cs typeface="Tahoma"/>
              </a:rPr>
              <a:t>unsupervised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35" dirty="0">
                <a:latin typeface="Tahoma"/>
                <a:cs typeface="Tahoma"/>
              </a:rPr>
              <a:t>learning,</a:t>
            </a:r>
            <a:r>
              <a:rPr sz="1000" spc="-20" dirty="0">
                <a:latin typeface="Tahoma"/>
                <a:cs typeface="Tahoma"/>
              </a:rPr>
              <a:t> Graph</a:t>
            </a:r>
            <a:r>
              <a:rPr sz="1000" spc="-15" dirty="0">
                <a:latin typeface="Tahoma"/>
                <a:cs typeface="Tahoma"/>
              </a:rPr>
              <a:t> </a:t>
            </a:r>
            <a:r>
              <a:rPr sz="1000" spc="-10" dirty="0">
                <a:latin typeface="Tahoma"/>
                <a:cs typeface="Tahoma"/>
              </a:rPr>
              <a:t>analytics</a:t>
            </a:r>
            <a:endParaRPr sz="10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750"/>
              </a:spcBef>
            </a:pP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Report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and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Deployment</a:t>
            </a:r>
            <a:endParaRPr sz="1100">
              <a:latin typeface="Tahoma"/>
              <a:cs typeface="Tahoma"/>
            </a:endParaRPr>
          </a:p>
          <a:p>
            <a:pPr marL="289560" marR="5080">
              <a:lnSpc>
                <a:spcPct val="100000"/>
              </a:lnSpc>
              <a:spcBef>
                <a:spcPts val="680"/>
              </a:spcBef>
            </a:pPr>
            <a:r>
              <a:rPr sz="1000" spc="-30" dirty="0">
                <a:latin typeface="Tahoma"/>
                <a:cs typeface="Tahoma"/>
              </a:rPr>
              <a:t>Communicate results</a:t>
            </a:r>
            <a:r>
              <a:rPr sz="1000" spc="-25" dirty="0">
                <a:latin typeface="Tahoma"/>
                <a:cs typeface="Tahoma"/>
              </a:rPr>
              <a:t> and </a:t>
            </a:r>
            <a:r>
              <a:rPr sz="1000" spc="-30" dirty="0">
                <a:latin typeface="Tahoma"/>
                <a:cs typeface="Tahoma"/>
              </a:rPr>
              <a:t>findings,</a:t>
            </a:r>
            <a:r>
              <a:rPr sz="1000" spc="-25" dirty="0">
                <a:latin typeface="Tahoma"/>
                <a:cs typeface="Tahoma"/>
              </a:rPr>
              <a:t> and </a:t>
            </a:r>
            <a:r>
              <a:rPr sz="1000" spc="-20" dirty="0">
                <a:latin typeface="Tahoma"/>
                <a:cs typeface="Tahoma"/>
              </a:rPr>
              <a:t>apply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35" dirty="0">
                <a:latin typeface="Tahoma"/>
                <a:cs typeface="Tahoma"/>
              </a:rPr>
              <a:t>conclusions</a:t>
            </a:r>
            <a:r>
              <a:rPr sz="1000" spc="-30" dirty="0">
                <a:latin typeface="Tahoma"/>
                <a:cs typeface="Tahoma"/>
              </a:rPr>
              <a:t> </a:t>
            </a:r>
            <a:r>
              <a:rPr sz="1000" dirty="0">
                <a:latin typeface="Tahoma"/>
                <a:cs typeface="Tahoma"/>
              </a:rPr>
              <a:t>to</a:t>
            </a:r>
            <a:r>
              <a:rPr sz="1000" spc="-25" dirty="0">
                <a:latin typeface="Tahoma"/>
                <a:cs typeface="Tahoma"/>
              </a:rPr>
              <a:t> </a:t>
            </a:r>
            <a:r>
              <a:rPr sz="1000" spc="-20" dirty="0">
                <a:latin typeface="Tahoma"/>
                <a:cs typeface="Tahoma"/>
              </a:rPr>
              <a:t>gain </a:t>
            </a:r>
            <a:r>
              <a:rPr sz="1000" spc="-10" dirty="0">
                <a:latin typeface="Tahoma"/>
                <a:cs typeface="Tahoma"/>
              </a:rPr>
              <a:t>benefit</a:t>
            </a:r>
            <a:endParaRPr sz="1000">
              <a:latin typeface="Tahoma"/>
              <a:cs typeface="Tahoma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4" name="object 14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62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The</a:t>
            </a:r>
            <a:r>
              <a:rPr sz="1400" u="sng" spc="-4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spc="-3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Process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4005" y="752990"/>
            <a:ext cx="4307204" cy="205476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63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dirty="0"/>
              <a:t>Data</a:t>
            </a:r>
            <a:r>
              <a:rPr spc="-55" dirty="0"/>
              <a:t> </a:t>
            </a:r>
            <a:r>
              <a:rPr spc="-10" dirty="0"/>
              <a:t>Analytics</a:t>
            </a:r>
            <a:r>
              <a:rPr spc="-50" dirty="0"/>
              <a:t> </a:t>
            </a:r>
            <a:r>
              <a:rPr spc="-30" dirty="0"/>
              <a:t>Tasks</a:t>
            </a:r>
            <a:r>
              <a:rPr spc="-50" dirty="0"/>
              <a:t> </a:t>
            </a:r>
            <a:r>
              <a:rPr spc="-30" dirty="0"/>
              <a:t>and</a:t>
            </a:r>
            <a:r>
              <a:rPr spc="-55" dirty="0"/>
              <a:t> </a:t>
            </a:r>
            <a:r>
              <a:rPr spc="-10" dirty="0"/>
              <a:t>Methods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95779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90245" y="1193126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90245" y="142847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663801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31305" y="475207"/>
            <a:ext cx="3898900" cy="168402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Tahoma"/>
                <a:cs typeface="Tahoma"/>
              </a:rPr>
              <a:t>Data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Analytics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process</a:t>
            </a:r>
            <a:endParaRPr sz="1100">
              <a:latin typeface="Tahoma"/>
              <a:cs typeface="Tahoma"/>
            </a:endParaRPr>
          </a:p>
          <a:p>
            <a:pPr marL="289560" marR="2004060">
              <a:lnSpc>
                <a:spcPct val="140400"/>
              </a:lnSpc>
              <a:spcBef>
                <a:spcPts val="1240"/>
              </a:spcBef>
            </a:pPr>
            <a:r>
              <a:rPr sz="1100" dirty="0">
                <a:latin typeface="Tahoma"/>
                <a:cs typeface="Tahoma"/>
              </a:rPr>
              <a:t>to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discover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patterns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data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find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relationships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data</a:t>
            </a:r>
            <a:endParaRPr sz="11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535"/>
              </a:spcBef>
            </a:pPr>
            <a:r>
              <a:rPr sz="1100" dirty="0">
                <a:latin typeface="Tahoma"/>
                <a:cs typeface="Tahoma"/>
              </a:rPr>
              <a:t>to</a:t>
            </a:r>
            <a:r>
              <a:rPr sz="1100" spc="-25" dirty="0">
                <a:latin typeface="Tahoma"/>
                <a:cs typeface="Tahoma"/>
              </a:rPr>
              <a:t> (automatically)</a:t>
            </a:r>
            <a:r>
              <a:rPr sz="1100" spc="-20" dirty="0">
                <a:latin typeface="Tahoma"/>
                <a:cs typeface="Tahoma"/>
              </a:rPr>
              <a:t> extract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knowledge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from</a:t>
            </a:r>
            <a:r>
              <a:rPr sz="1100" spc="-20" dirty="0">
                <a:latin typeface="Tahoma"/>
                <a:cs typeface="Tahoma"/>
              </a:rPr>
              <a:t> data</a:t>
            </a:r>
            <a:endParaRPr sz="11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530"/>
              </a:spcBef>
            </a:pPr>
            <a:r>
              <a:rPr sz="1100" dirty="0">
                <a:latin typeface="Tahoma"/>
                <a:cs typeface="Tahoma"/>
              </a:rPr>
              <a:t>to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summarize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ways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that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are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understandable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useful</a:t>
            </a:r>
            <a:endParaRPr sz="11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445"/>
              </a:spcBef>
            </a:pP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sz="1100" spc="-35" dirty="0">
                <a:latin typeface="Tahoma"/>
                <a:cs typeface="Tahoma"/>
              </a:rPr>
              <a:t>Discovering </a:t>
            </a:r>
            <a:r>
              <a:rPr sz="1100" spc="-55" dirty="0">
                <a:latin typeface="Tahoma"/>
                <a:cs typeface="Tahoma"/>
              </a:rPr>
              <a:t>knowledge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form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25" dirty="0">
                <a:latin typeface="Tahoma"/>
                <a:cs typeface="Tahoma"/>
              </a:rPr>
              <a:t> often </a:t>
            </a:r>
            <a:r>
              <a:rPr sz="1100" spc="-50" dirty="0">
                <a:latin typeface="Tahoma"/>
                <a:cs typeface="Tahoma"/>
              </a:rPr>
              <a:t>requires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learning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9" name="object 9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64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dirty="0"/>
              <a:t>Data</a:t>
            </a:r>
            <a:r>
              <a:rPr spc="-55" dirty="0"/>
              <a:t> </a:t>
            </a:r>
            <a:r>
              <a:rPr spc="-10" dirty="0"/>
              <a:t>Analytics</a:t>
            </a:r>
            <a:r>
              <a:rPr spc="-50" dirty="0"/>
              <a:t> </a:t>
            </a:r>
            <a:r>
              <a:rPr spc="-30" dirty="0"/>
              <a:t>Tasks</a:t>
            </a:r>
            <a:r>
              <a:rPr spc="-50" dirty="0"/>
              <a:t> </a:t>
            </a:r>
            <a:r>
              <a:rPr spc="-30" dirty="0"/>
              <a:t>and</a:t>
            </a:r>
            <a:r>
              <a:rPr spc="-55" dirty="0"/>
              <a:t> </a:t>
            </a:r>
            <a:r>
              <a:rPr spc="-10" dirty="0"/>
              <a:t>Methods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138417" y="77491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4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38417" y="1010259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4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38417" y="124559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4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38417" y="1480934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4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25755" y="207473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4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25755" y="2310066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4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25755" y="254541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4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25755" y="2780741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4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25755" y="3016084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4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131305" y="339989"/>
            <a:ext cx="4272280" cy="2778125"/>
          </a:xfrm>
          <a:prstGeom prst="rect">
            <a:avLst/>
          </a:prstGeom>
        </p:spPr>
        <p:txBody>
          <a:bodyPr vert="horz" wrap="square" lIns="0" tIns="1009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5"/>
              </a:spcBef>
            </a:pP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Descriptive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Analytics</a:t>
            </a:r>
            <a:endParaRPr sz="1100">
              <a:latin typeface="Tahoma"/>
              <a:cs typeface="Tahoma"/>
            </a:endParaRPr>
          </a:p>
          <a:p>
            <a:pPr marL="137795" marR="200025">
              <a:lnSpc>
                <a:spcPct val="140400"/>
              </a:lnSpc>
              <a:spcBef>
                <a:spcPts val="160"/>
              </a:spcBef>
            </a:pPr>
            <a:r>
              <a:rPr sz="1100" spc="-30" dirty="0">
                <a:latin typeface="Tahoma"/>
                <a:cs typeface="Tahoma"/>
              </a:rPr>
              <a:t>Uncover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patterns,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correlations,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trends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85" dirty="0">
                <a:latin typeface="Tahoma"/>
                <a:cs typeface="Tahoma"/>
              </a:rPr>
              <a:t>&amp;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trajectories</a:t>
            </a:r>
            <a:r>
              <a:rPr sz="1100" spc="-1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describing</a:t>
            </a:r>
            <a:r>
              <a:rPr sz="1100" spc="-1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 </a:t>
            </a:r>
            <a:r>
              <a:rPr sz="1100" spc="-30" dirty="0">
                <a:latin typeface="Tahoma"/>
                <a:cs typeface="Tahoma"/>
              </a:rPr>
              <a:t>Explanatory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10" dirty="0">
                <a:latin typeface="Tahoma"/>
                <a:cs typeface="Tahoma"/>
              </a:rPr>
              <a:t> nature</a:t>
            </a:r>
            <a:endParaRPr sz="1100">
              <a:latin typeface="Tahoma"/>
              <a:cs typeface="Tahoma"/>
            </a:endParaRPr>
          </a:p>
          <a:p>
            <a:pPr marL="137795" marR="45720">
              <a:lnSpc>
                <a:spcPct val="140400"/>
              </a:lnSpc>
            </a:pPr>
            <a:r>
              <a:rPr sz="1100" spc="-35" dirty="0">
                <a:latin typeface="Tahoma"/>
                <a:cs typeface="Tahoma"/>
              </a:rPr>
              <a:t>Require </a:t>
            </a:r>
            <a:r>
              <a:rPr sz="1100" spc="-40" dirty="0">
                <a:latin typeface="Tahoma"/>
                <a:cs typeface="Tahoma"/>
              </a:rPr>
              <a:t>post-</a:t>
            </a:r>
            <a:r>
              <a:rPr sz="1100" spc="-50" dirty="0">
                <a:latin typeface="Tahoma"/>
                <a:cs typeface="Tahoma"/>
              </a:rPr>
              <a:t>processing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validate</a:t>
            </a:r>
            <a:r>
              <a:rPr sz="1100" spc="-35" dirty="0">
                <a:latin typeface="Tahoma"/>
                <a:cs typeface="Tahoma"/>
              </a:rPr>
              <a:t> and</a:t>
            </a:r>
            <a:r>
              <a:rPr sz="1100" spc="-30" dirty="0">
                <a:latin typeface="Tahoma"/>
                <a:cs typeface="Tahoma"/>
              </a:rPr>
              <a:t> explain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results </a:t>
            </a:r>
            <a:r>
              <a:rPr sz="1100" spc="-30" dirty="0">
                <a:latin typeface="Tahoma"/>
                <a:cs typeface="Tahoma"/>
              </a:rPr>
              <a:t>Clustering/grouping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or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Detecting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outliers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(anomalies)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</a:t>
            </a:r>
            <a:endParaRPr sz="11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Predictive</a:t>
            </a:r>
            <a:r>
              <a:rPr sz="1100" spc="-1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Analytics</a:t>
            </a:r>
            <a:endParaRPr sz="1100">
              <a:latin typeface="Tahoma"/>
              <a:cs typeface="Tahoma"/>
            </a:endParaRPr>
          </a:p>
          <a:p>
            <a:pPr marL="125095" marR="505459">
              <a:lnSpc>
                <a:spcPct val="140400"/>
              </a:lnSpc>
              <a:spcBef>
                <a:spcPts val="160"/>
              </a:spcBef>
            </a:pPr>
            <a:r>
              <a:rPr sz="1100" dirty="0">
                <a:latin typeface="Tahoma"/>
                <a:cs typeface="Tahoma"/>
              </a:rPr>
              <a:t>Predict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value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attribute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65" dirty="0">
                <a:latin typeface="Tahoma"/>
                <a:cs typeface="Tahoma"/>
              </a:rPr>
              <a:t>based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values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other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attributes </a:t>
            </a:r>
            <a:r>
              <a:rPr sz="1100" spc="-20" dirty="0">
                <a:latin typeface="Tahoma"/>
                <a:cs typeface="Tahoma"/>
              </a:rPr>
              <a:t>Predicted</a:t>
            </a:r>
            <a:r>
              <a:rPr sz="1100" spc="-10" dirty="0">
                <a:latin typeface="Tahoma"/>
                <a:cs typeface="Tahoma"/>
              </a:rPr>
              <a:t> attribute:</a:t>
            </a:r>
            <a:r>
              <a:rPr sz="1100" spc="10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Target/dependent/response</a:t>
            </a:r>
            <a:r>
              <a:rPr sz="1100" spc="-10" dirty="0">
                <a:latin typeface="Tahoma"/>
                <a:cs typeface="Tahoma"/>
              </a:rPr>
              <a:t> variable</a:t>
            </a:r>
            <a:endParaRPr sz="1100">
              <a:latin typeface="Tahoma"/>
              <a:cs typeface="Tahoma"/>
            </a:endParaRPr>
          </a:p>
          <a:p>
            <a:pPr marL="125095" marR="5080">
              <a:lnSpc>
                <a:spcPct val="140400"/>
              </a:lnSpc>
            </a:pPr>
            <a:r>
              <a:rPr sz="1100" spc="-20" dirty="0">
                <a:latin typeface="Tahoma"/>
                <a:cs typeface="Tahoma"/>
              </a:rPr>
              <a:t>Attributes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70" dirty="0">
                <a:latin typeface="Tahoma"/>
                <a:cs typeface="Tahoma"/>
              </a:rPr>
              <a:t>used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predict:</a:t>
            </a:r>
            <a:r>
              <a:rPr sz="1100" spc="15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Predictor/explanatory/independent</a:t>
            </a:r>
            <a:r>
              <a:rPr sz="1100" spc="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variables </a:t>
            </a:r>
            <a:r>
              <a:rPr sz="1100" spc="-25" dirty="0">
                <a:latin typeface="Tahoma"/>
                <a:cs typeface="Tahoma"/>
              </a:rPr>
              <a:t>Classification:</a:t>
            </a:r>
            <a:r>
              <a:rPr sz="1100" spc="8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nominal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target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attribute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(class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labels)</a:t>
            </a:r>
            <a:endParaRPr sz="1100">
              <a:latin typeface="Tahoma"/>
              <a:cs typeface="Tahoma"/>
            </a:endParaRPr>
          </a:p>
          <a:p>
            <a:pPr marL="125095">
              <a:lnSpc>
                <a:spcPct val="100000"/>
              </a:lnSpc>
              <a:spcBef>
                <a:spcPts val="530"/>
              </a:spcBef>
            </a:pPr>
            <a:r>
              <a:rPr sz="1100" spc="-50" dirty="0">
                <a:latin typeface="Tahoma"/>
                <a:cs typeface="Tahoma"/>
              </a:rPr>
              <a:t>Regression:</a:t>
            </a:r>
            <a:r>
              <a:rPr sz="1100" spc="5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numeric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target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attribute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4" name="object 14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65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dirty="0"/>
              <a:t>Data</a:t>
            </a:r>
            <a:r>
              <a:rPr spc="-40" dirty="0"/>
              <a:t> </a:t>
            </a:r>
            <a:r>
              <a:rPr spc="-10" dirty="0"/>
              <a:t>Analytics</a:t>
            </a:r>
            <a:r>
              <a:rPr spc="-40" dirty="0"/>
              <a:t> </a:t>
            </a:r>
            <a:r>
              <a:rPr spc="-20" dirty="0"/>
              <a:t>Taks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557123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5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08393" y="373060"/>
            <a:ext cx="3997325" cy="2799080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35"/>
              </a:spcBef>
            </a:pP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Clustering:</a:t>
            </a:r>
            <a:r>
              <a:rPr sz="1100" spc="3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Partition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into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meaningful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groups</a:t>
            </a:r>
            <a:endParaRPr sz="1100">
              <a:latin typeface="Tahoma"/>
              <a:cs typeface="Tahoma"/>
            </a:endParaRPr>
          </a:p>
          <a:p>
            <a:pPr marL="12700" marR="5080">
              <a:lnSpc>
                <a:spcPct val="155500"/>
              </a:lnSpc>
            </a:pP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Outlier</a:t>
            </a:r>
            <a:r>
              <a:rPr sz="1100" spc="-5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Detection:</a:t>
            </a:r>
            <a:r>
              <a:rPr sz="1100" spc="6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Detect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points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that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are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unusual </a:t>
            </a:r>
            <a:r>
              <a:rPr sz="1100" spc="-25" dirty="0">
                <a:latin typeface="Tahoma"/>
                <a:cs typeface="Tahoma"/>
              </a:rPr>
              <a:t>(unlike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others) </a:t>
            </a: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Classification:</a:t>
            </a:r>
            <a:r>
              <a:rPr sz="1100" spc="8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Assign </a:t>
            </a:r>
            <a:r>
              <a:rPr sz="1100" spc="-45" dirty="0">
                <a:latin typeface="Tahoma"/>
                <a:cs typeface="Tahoma"/>
              </a:rPr>
              <a:t>(predefined)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class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labels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each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object 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Regression:</a:t>
            </a:r>
            <a:r>
              <a:rPr sz="1100" spc="7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Find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function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that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models</a:t>
            </a:r>
            <a:r>
              <a:rPr sz="1100" spc="-35" dirty="0">
                <a:latin typeface="Tahoma"/>
                <a:cs typeface="Tahoma"/>
              </a:rPr>
              <a:t> (continuous) </a:t>
            </a:r>
            <a:r>
              <a:rPr sz="1100" spc="-25" dirty="0">
                <a:latin typeface="Tahoma"/>
                <a:cs typeface="Tahoma"/>
              </a:rPr>
              <a:t>target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variable</a:t>
            </a:r>
            <a:endParaRPr sz="1100">
              <a:latin typeface="Tahoma"/>
              <a:cs typeface="Tahoma"/>
            </a:endParaRPr>
          </a:p>
          <a:p>
            <a:pPr marL="12700" marR="685165">
              <a:lnSpc>
                <a:spcPct val="102600"/>
              </a:lnSpc>
              <a:spcBef>
                <a:spcPts val="695"/>
              </a:spcBef>
            </a:pP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Association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Analysis:</a:t>
            </a:r>
            <a:r>
              <a:rPr sz="1100" spc="6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Find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patterns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that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describe </a:t>
            </a:r>
            <a:r>
              <a:rPr sz="1100" spc="-10" dirty="0">
                <a:latin typeface="Tahoma"/>
                <a:cs typeface="Tahoma"/>
              </a:rPr>
              <a:t>relationships</a:t>
            </a:r>
            <a:endParaRPr sz="1100">
              <a:latin typeface="Tahoma"/>
              <a:cs typeface="Tahoma"/>
            </a:endParaRPr>
          </a:p>
          <a:p>
            <a:pPr marL="12700" marR="361315">
              <a:lnSpc>
                <a:spcPct val="102600"/>
              </a:lnSpc>
              <a:spcBef>
                <a:spcPts val="700"/>
              </a:spcBef>
            </a:pP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Recommendation:</a:t>
            </a:r>
            <a:r>
              <a:rPr sz="1100" spc="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Predict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an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0" dirty="0">
                <a:latin typeface="Tahoma"/>
                <a:cs typeface="Tahoma"/>
              </a:rPr>
              <a:t>unknown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rating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based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on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known </a:t>
            </a:r>
            <a:r>
              <a:rPr sz="1100" spc="-10" dirty="0">
                <a:latin typeface="Tahoma"/>
                <a:cs typeface="Tahoma"/>
              </a:rPr>
              <a:t>ratings</a:t>
            </a:r>
            <a:endParaRPr sz="1100">
              <a:latin typeface="Tahoma"/>
              <a:cs typeface="Tahoma"/>
            </a:endParaRPr>
          </a:p>
          <a:p>
            <a:pPr marL="12700" marR="81915">
              <a:lnSpc>
                <a:spcPct val="102699"/>
              </a:lnSpc>
              <a:spcBef>
                <a:spcPts val="695"/>
              </a:spcBef>
            </a:pP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Community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Detection:</a:t>
            </a:r>
            <a:r>
              <a:rPr sz="1100" spc="7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Find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(overlapping)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communities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nodes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in </a:t>
            </a:r>
            <a:r>
              <a:rPr sz="1100" spc="-10" dirty="0">
                <a:latin typeface="Tahoma"/>
                <a:cs typeface="Tahoma"/>
              </a:rPr>
              <a:t>networks</a:t>
            </a:r>
            <a:endParaRPr sz="1100">
              <a:latin typeface="Tahoma"/>
              <a:cs typeface="Tahoma"/>
            </a:endParaRPr>
          </a:p>
          <a:p>
            <a:pPr marL="12700" marR="456565">
              <a:lnSpc>
                <a:spcPct val="102600"/>
              </a:lnSpc>
              <a:spcBef>
                <a:spcPts val="700"/>
              </a:spcBef>
            </a:pP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Centrality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and Important</a:t>
            </a:r>
            <a:r>
              <a:rPr sz="1100" spc="-4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nodes:</a:t>
            </a:r>
            <a:r>
              <a:rPr sz="1100" spc="6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Find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important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(or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evaluate importance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of) </a:t>
            </a:r>
            <a:r>
              <a:rPr sz="1100" spc="-55" dirty="0">
                <a:latin typeface="Tahoma"/>
                <a:cs typeface="Tahoma"/>
              </a:rPr>
              <a:t>nodes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in</a:t>
            </a:r>
            <a:r>
              <a:rPr sz="1100" spc="-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networks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0245" y="81776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078407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0245" y="1339049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90245" y="1599692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90245" y="2032406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290245" y="246512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290245" y="2897847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3" name="object 13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66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20" dirty="0"/>
              <a:t>Machine</a:t>
            </a:r>
            <a:r>
              <a:rPr spc="-50" dirty="0"/>
              <a:t> </a:t>
            </a:r>
            <a:r>
              <a:rPr spc="-40" dirty="0"/>
              <a:t>Learning</a:t>
            </a:r>
            <a:r>
              <a:rPr spc="-45" dirty="0"/>
              <a:t> </a:t>
            </a:r>
            <a:r>
              <a:rPr spc="-10" dirty="0"/>
              <a:t>for</a:t>
            </a:r>
            <a:r>
              <a:rPr spc="-45" dirty="0"/>
              <a:t> </a:t>
            </a:r>
            <a:r>
              <a:rPr dirty="0"/>
              <a:t>Data</a:t>
            </a:r>
            <a:r>
              <a:rPr spc="-45" dirty="0"/>
              <a:t> </a:t>
            </a:r>
            <a:r>
              <a:rPr spc="-10" dirty="0"/>
              <a:t>Analytics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82063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90245" y="1228051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90245" y="163546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87079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31305" y="429487"/>
            <a:ext cx="4196715" cy="15436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60" dirty="0">
                <a:solidFill>
                  <a:srgbClr val="0000FF"/>
                </a:solidFill>
                <a:latin typeface="Arial"/>
                <a:cs typeface="Arial"/>
              </a:rPr>
              <a:t>Supervised</a:t>
            </a:r>
            <a:r>
              <a:rPr sz="1100" b="1" spc="45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0000FF"/>
                </a:solidFill>
                <a:latin typeface="Arial"/>
                <a:cs typeface="Arial"/>
              </a:rPr>
              <a:t>Learning</a:t>
            </a:r>
            <a:endParaRPr sz="1100">
              <a:latin typeface="Arial"/>
              <a:cs typeface="Arial"/>
            </a:endParaRPr>
          </a:p>
          <a:p>
            <a:pPr marL="289560" marR="405765">
              <a:lnSpc>
                <a:spcPct val="102699"/>
              </a:lnSpc>
              <a:spcBef>
                <a:spcPts val="1020"/>
              </a:spcBef>
            </a:pPr>
            <a:r>
              <a:rPr sz="1100" spc="-10" dirty="0">
                <a:latin typeface="Tahoma"/>
                <a:cs typeface="Tahoma"/>
              </a:rPr>
              <a:t>For</a:t>
            </a:r>
            <a:r>
              <a:rPr sz="1100" spc="-8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some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items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correct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results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(values</a:t>
            </a:r>
            <a:r>
              <a:rPr sz="1100" spc="-5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target </a:t>
            </a:r>
            <a:r>
              <a:rPr sz="1100" spc="-35" dirty="0">
                <a:latin typeface="Tahoma"/>
                <a:cs typeface="Tahoma"/>
              </a:rPr>
              <a:t>variable)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are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given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(ground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truth)</a:t>
            </a:r>
            <a:endParaRPr sz="1100">
              <a:latin typeface="Tahoma"/>
              <a:cs typeface="Tahoma"/>
            </a:endParaRPr>
          </a:p>
          <a:p>
            <a:pPr marL="289560" marR="5080">
              <a:lnSpc>
                <a:spcPct val="102600"/>
              </a:lnSpc>
              <a:spcBef>
                <a:spcPts val="495"/>
              </a:spcBef>
            </a:pPr>
            <a:r>
              <a:rPr sz="1100" dirty="0">
                <a:latin typeface="Tahoma"/>
                <a:cs typeface="Tahoma"/>
              </a:rPr>
              <a:t>We</a:t>
            </a:r>
            <a:r>
              <a:rPr sz="1100" spc="-60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want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to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learn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model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that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generalizes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i.e.</a:t>
            </a:r>
            <a:r>
              <a:rPr sz="1100" spc="5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model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50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able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to </a:t>
            </a:r>
            <a:r>
              <a:rPr sz="1100" spc="-40" dirty="0">
                <a:latin typeface="Tahoma"/>
                <a:cs typeface="Tahoma"/>
              </a:rPr>
              <a:t>perform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accurately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on</a:t>
            </a:r>
            <a:r>
              <a:rPr sz="1100" spc="-20" dirty="0">
                <a:latin typeface="Tahoma"/>
                <a:cs typeface="Tahoma"/>
              </a:rPr>
              <a:t> </a:t>
            </a:r>
            <a:r>
              <a:rPr sz="1100" spc="-45" dirty="0">
                <a:latin typeface="Tahoma"/>
                <a:cs typeface="Tahoma"/>
              </a:rPr>
              <a:t>new/unseen/unlabeled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data</a:t>
            </a:r>
            <a:r>
              <a:rPr sz="1100" spc="-20" dirty="0">
                <a:latin typeface="Tahoma"/>
                <a:cs typeface="Tahoma"/>
              </a:rPr>
              <a:t> items</a:t>
            </a:r>
            <a:endParaRPr sz="1100">
              <a:latin typeface="Tahoma"/>
              <a:cs typeface="Tahoma"/>
            </a:endParaRPr>
          </a:p>
          <a:p>
            <a:pPr marL="289560" marR="651510">
              <a:lnSpc>
                <a:spcPct val="140400"/>
              </a:lnSpc>
            </a:pPr>
            <a:r>
              <a:rPr sz="1100" spc="-25" dirty="0">
                <a:solidFill>
                  <a:srgbClr val="0000FF"/>
                </a:solidFill>
                <a:latin typeface="Tahoma"/>
                <a:cs typeface="Tahoma"/>
              </a:rPr>
              <a:t>Classification</a:t>
            </a:r>
            <a:r>
              <a:rPr sz="1100" spc="-25" dirty="0">
                <a:latin typeface="Tahoma"/>
                <a:cs typeface="Tahoma"/>
              </a:rPr>
              <a:t>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where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5" dirty="0">
                <a:latin typeface="Tahoma"/>
                <a:cs typeface="Tahoma"/>
              </a:rPr>
              <a:t> target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categorical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attribute 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Regression</a:t>
            </a:r>
            <a:r>
              <a:rPr sz="1100" spc="-50" dirty="0">
                <a:latin typeface="Tahoma"/>
                <a:cs typeface="Tahoma"/>
              </a:rPr>
              <a:t>,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60" dirty="0">
                <a:latin typeface="Tahoma"/>
                <a:cs typeface="Tahoma"/>
              </a:rPr>
              <a:t>where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the</a:t>
            </a:r>
            <a:r>
              <a:rPr sz="1100" spc="-25" dirty="0">
                <a:latin typeface="Tahoma"/>
                <a:cs typeface="Tahoma"/>
              </a:rPr>
              <a:t> target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a</a:t>
            </a:r>
            <a:r>
              <a:rPr sz="1100" spc="-2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continuous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attribute</a:t>
            </a:r>
            <a:endParaRPr sz="11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3403" y="2534124"/>
            <a:ext cx="794385" cy="144145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66040">
              <a:lnSpc>
                <a:spcPts val="944"/>
              </a:lnSpc>
            </a:pPr>
            <a:r>
              <a:rPr sz="850" dirty="0">
                <a:latin typeface="Calibri"/>
                <a:cs typeface="Calibri"/>
              </a:rPr>
              <a:t>Training</a:t>
            </a:r>
            <a:r>
              <a:rPr sz="850" spc="345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Data</a:t>
            </a:r>
            <a:endParaRPr sz="85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99503" y="2900997"/>
            <a:ext cx="802005" cy="119380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66675">
              <a:lnSpc>
                <a:spcPts val="940"/>
              </a:lnSpc>
            </a:pPr>
            <a:r>
              <a:rPr sz="850" dirty="0">
                <a:latin typeface="Calibri"/>
                <a:cs typeface="Calibri"/>
              </a:rPr>
              <a:t>Known</a:t>
            </a:r>
            <a:r>
              <a:rPr sz="850" spc="27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Labels</a:t>
            </a:r>
            <a:endParaRPr sz="85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705099" y="2729905"/>
            <a:ext cx="349885" cy="119380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28575">
              <a:lnSpc>
                <a:spcPts val="940"/>
              </a:lnSpc>
            </a:pPr>
            <a:r>
              <a:rPr sz="850" spc="-10" dirty="0">
                <a:latin typeface="Calibri"/>
                <a:cs typeface="Calibri"/>
              </a:rPr>
              <a:t>Model</a:t>
            </a:r>
            <a:endParaRPr sz="85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618353" y="2308199"/>
            <a:ext cx="523240" cy="117475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28575">
              <a:lnSpc>
                <a:spcPts val="925"/>
              </a:lnSpc>
            </a:pPr>
            <a:r>
              <a:rPr sz="850" dirty="0">
                <a:latin typeface="Calibri"/>
                <a:cs typeface="Calibri"/>
              </a:rPr>
              <a:t>Test</a:t>
            </a:r>
            <a:r>
              <a:rPr sz="850" spc="185" dirty="0">
                <a:latin typeface="Calibri"/>
                <a:cs typeface="Calibri"/>
              </a:rPr>
              <a:t> </a:t>
            </a:r>
            <a:r>
              <a:rPr sz="850" spc="-20" dirty="0">
                <a:latin typeface="Calibri"/>
                <a:cs typeface="Calibri"/>
              </a:rPr>
              <a:t>Data</a:t>
            </a:r>
            <a:endParaRPr sz="850">
              <a:latin typeface="Calibri"/>
              <a:cs typeface="Calibri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1195733" y="2603314"/>
            <a:ext cx="511175" cy="165100"/>
            <a:chOff x="1195733" y="2603314"/>
            <a:chExt cx="511175" cy="165100"/>
          </a:xfrm>
        </p:grpSpPr>
        <p:sp>
          <p:nvSpPr>
            <p:cNvPr id="13" name="object 13"/>
            <p:cNvSpPr/>
            <p:nvPr/>
          </p:nvSpPr>
          <p:spPr>
            <a:xfrm>
              <a:off x="1197257" y="2604838"/>
              <a:ext cx="508000" cy="161290"/>
            </a:xfrm>
            <a:custGeom>
              <a:avLst/>
              <a:gdLst/>
              <a:ahLst/>
              <a:cxnLst/>
              <a:rect l="l" t="t" r="r" b="b"/>
              <a:pathLst>
                <a:path w="508000" h="161289">
                  <a:moveTo>
                    <a:pt x="0" y="0"/>
                  </a:moveTo>
                  <a:lnTo>
                    <a:pt x="507834" y="161041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648879" y="2732824"/>
              <a:ext cx="56515" cy="34290"/>
            </a:xfrm>
            <a:custGeom>
              <a:avLst/>
              <a:gdLst/>
              <a:ahLst/>
              <a:cxnLst/>
              <a:rect l="l" t="t" r="r" b="b"/>
              <a:pathLst>
                <a:path w="56514" h="34289">
                  <a:moveTo>
                    <a:pt x="10736" y="0"/>
                  </a:moveTo>
                  <a:lnTo>
                    <a:pt x="0" y="33863"/>
                  </a:lnTo>
                  <a:lnTo>
                    <a:pt x="56212" y="33055"/>
                  </a:lnTo>
                  <a:lnTo>
                    <a:pt x="1073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648879" y="2732824"/>
              <a:ext cx="56515" cy="34290"/>
            </a:xfrm>
            <a:custGeom>
              <a:avLst/>
              <a:gdLst/>
              <a:ahLst/>
              <a:cxnLst/>
              <a:rect l="l" t="t" r="r" b="b"/>
              <a:pathLst>
                <a:path w="56514" h="34289">
                  <a:moveTo>
                    <a:pt x="56212" y="33055"/>
                  </a:moveTo>
                  <a:lnTo>
                    <a:pt x="10736" y="0"/>
                  </a:lnTo>
                  <a:lnTo>
                    <a:pt x="0" y="33863"/>
                  </a:lnTo>
                  <a:lnTo>
                    <a:pt x="56212" y="33055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1199634" y="2815447"/>
            <a:ext cx="507365" cy="149225"/>
            <a:chOff x="1199634" y="2815447"/>
            <a:chExt cx="507365" cy="149225"/>
          </a:xfrm>
        </p:grpSpPr>
        <p:sp>
          <p:nvSpPr>
            <p:cNvPr id="17" name="object 17"/>
            <p:cNvSpPr/>
            <p:nvPr/>
          </p:nvSpPr>
          <p:spPr>
            <a:xfrm>
              <a:off x="1201158" y="2819425"/>
              <a:ext cx="504190" cy="144145"/>
            </a:xfrm>
            <a:custGeom>
              <a:avLst/>
              <a:gdLst/>
              <a:ahLst/>
              <a:cxnLst/>
              <a:rect l="l" t="t" r="r" b="b"/>
              <a:pathLst>
                <a:path w="504189" h="144144">
                  <a:moveTo>
                    <a:pt x="0" y="143720"/>
                  </a:moveTo>
                  <a:lnTo>
                    <a:pt x="503933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648924" y="2816971"/>
              <a:ext cx="56515" cy="34290"/>
            </a:xfrm>
            <a:custGeom>
              <a:avLst/>
              <a:gdLst/>
              <a:ahLst/>
              <a:cxnLst/>
              <a:rect l="l" t="t" r="r" b="b"/>
              <a:pathLst>
                <a:path w="56514" h="34289">
                  <a:moveTo>
                    <a:pt x="0" y="0"/>
                  </a:moveTo>
                  <a:lnTo>
                    <a:pt x="9745" y="34160"/>
                  </a:lnTo>
                  <a:lnTo>
                    <a:pt x="56167" y="24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648924" y="2816971"/>
              <a:ext cx="56515" cy="34290"/>
            </a:xfrm>
            <a:custGeom>
              <a:avLst/>
              <a:gdLst/>
              <a:ahLst/>
              <a:cxnLst/>
              <a:rect l="l" t="t" r="r" b="b"/>
              <a:pathLst>
                <a:path w="56514" h="34289">
                  <a:moveTo>
                    <a:pt x="56167" y="2453"/>
                  </a:moveTo>
                  <a:lnTo>
                    <a:pt x="0" y="0"/>
                  </a:lnTo>
                  <a:lnTo>
                    <a:pt x="9745" y="34160"/>
                  </a:lnTo>
                  <a:lnTo>
                    <a:pt x="56167" y="2453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0" name="object 20"/>
          <p:cNvGrpSpPr/>
          <p:nvPr/>
        </p:nvGrpSpPr>
        <p:grpSpPr>
          <a:xfrm>
            <a:off x="2053181" y="2364267"/>
            <a:ext cx="511175" cy="422909"/>
            <a:chOff x="2053181" y="2364267"/>
            <a:chExt cx="511175" cy="422909"/>
          </a:xfrm>
        </p:grpSpPr>
        <p:sp>
          <p:nvSpPr>
            <p:cNvPr id="21" name="object 21"/>
            <p:cNvSpPr/>
            <p:nvPr/>
          </p:nvSpPr>
          <p:spPr>
            <a:xfrm>
              <a:off x="2141435" y="2365791"/>
              <a:ext cx="421640" cy="191135"/>
            </a:xfrm>
            <a:custGeom>
              <a:avLst/>
              <a:gdLst/>
              <a:ahLst/>
              <a:cxnLst/>
              <a:rect l="l" t="t" r="r" b="b"/>
              <a:pathLst>
                <a:path w="421639" h="191135">
                  <a:moveTo>
                    <a:pt x="0" y="0"/>
                  </a:moveTo>
                  <a:lnTo>
                    <a:pt x="421104" y="190964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506624" y="2518549"/>
              <a:ext cx="56515" cy="38735"/>
            </a:xfrm>
            <a:custGeom>
              <a:avLst/>
              <a:gdLst/>
              <a:ahLst/>
              <a:cxnLst/>
              <a:rect l="l" t="t" r="r" b="b"/>
              <a:pathLst>
                <a:path w="56514" h="38735">
                  <a:moveTo>
                    <a:pt x="14676" y="0"/>
                  </a:moveTo>
                  <a:lnTo>
                    <a:pt x="0" y="32354"/>
                  </a:lnTo>
                  <a:lnTo>
                    <a:pt x="55915" y="38206"/>
                  </a:lnTo>
                  <a:lnTo>
                    <a:pt x="1467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054705" y="2518549"/>
              <a:ext cx="508000" cy="267335"/>
            </a:xfrm>
            <a:custGeom>
              <a:avLst/>
              <a:gdLst/>
              <a:ahLst/>
              <a:cxnLst/>
              <a:rect l="l" t="t" r="r" b="b"/>
              <a:pathLst>
                <a:path w="508000" h="267335">
                  <a:moveTo>
                    <a:pt x="507834" y="38206"/>
                  </a:moveTo>
                  <a:lnTo>
                    <a:pt x="466595" y="0"/>
                  </a:lnTo>
                  <a:lnTo>
                    <a:pt x="451919" y="32354"/>
                  </a:lnTo>
                  <a:lnTo>
                    <a:pt x="507834" y="38206"/>
                  </a:lnTo>
                  <a:close/>
                </a:path>
                <a:path w="508000" h="267335">
                  <a:moveTo>
                    <a:pt x="0" y="266829"/>
                  </a:moveTo>
                  <a:lnTo>
                    <a:pt x="507834" y="83126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2506342" y="2601676"/>
              <a:ext cx="56515" cy="34925"/>
            </a:xfrm>
            <a:custGeom>
              <a:avLst/>
              <a:gdLst/>
              <a:ahLst/>
              <a:cxnLst/>
              <a:rect l="l" t="t" r="r" b="b"/>
              <a:pathLst>
                <a:path w="56514" h="34925">
                  <a:moveTo>
                    <a:pt x="56197" y="0"/>
                  </a:moveTo>
                  <a:lnTo>
                    <a:pt x="0" y="1440"/>
                  </a:lnTo>
                  <a:lnTo>
                    <a:pt x="12077" y="34846"/>
                  </a:lnTo>
                  <a:lnTo>
                    <a:pt x="5619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2506342" y="2601676"/>
              <a:ext cx="56515" cy="34925"/>
            </a:xfrm>
            <a:custGeom>
              <a:avLst/>
              <a:gdLst/>
              <a:ahLst/>
              <a:cxnLst/>
              <a:rect l="l" t="t" r="r" b="b"/>
              <a:pathLst>
                <a:path w="56514" h="34925">
                  <a:moveTo>
                    <a:pt x="56197" y="0"/>
                  </a:moveTo>
                  <a:lnTo>
                    <a:pt x="0" y="1440"/>
                  </a:lnTo>
                  <a:lnTo>
                    <a:pt x="12077" y="34846"/>
                  </a:lnTo>
                  <a:lnTo>
                    <a:pt x="56197" y="0"/>
                  </a:lnTo>
                  <a:close/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2568392" y="2511584"/>
            <a:ext cx="1568450" cy="153670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61594">
              <a:lnSpc>
                <a:spcPts val="990"/>
              </a:lnSpc>
            </a:pPr>
            <a:r>
              <a:rPr sz="850" dirty="0">
                <a:latin typeface="Calibri"/>
                <a:cs typeface="Calibri"/>
              </a:rPr>
              <a:t>Predict</a:t>
            </a:r>
            <a:r>
              <a:rPr sz="850" spc="25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Target</a:t>
            </a:r>
            <a:r>
              <a:rPr sz="850" spc="250" dirty="0">
                <a:latin typeface="Calibri"/>
                <a:cs typeface="Calibri"/>
              </a:rPr>
              <a:t> </a:t>
            </a:r>
            <a:r>
              <a:rPr sz="850" dirty="0">
                <a:latin typeface="Calibri"/>
                <a:cs typeface="Calibri"/>
              </a:rPr>
              <a:t>Variable</a:t>
            </a:r>
            <a:r>
              <a:rPr sz="850" spc="250" dirty="0">
                <a:latin typeface="Calibri"/>
                <a:cs typeface="Calibri"/>
              </a:rPr>
              <a:t> </a:t>
            </a:r>
            <a:r>
              <a:rPr sz="850" spc="-10" dirty="0">
                <a:latin typeface="Calibri"/>
                <a:cs typeface="Calibri"/>
              </a:rPr>
              <a:t>Values</a:t>
            </a:r>
            <a:endParaRPr sz="850">
              <a:latin typeface="Calibri"/>
              <a:cs typeface="Calibri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28" name="object 28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33" name="object 3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67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20" dirty="0"/>
              <a:t>Machine</a:t>
            </a:r>
            <a:r>
              <a:rPr spc="-50" dirty="0"/>
              <a:t> </a:t>
            </a:r>
            <a:r>
              <a:rPr spc="-40" dirty="0"/>
              <a:t>Learning</a:t>
            </a:r>
            <a:r>
              <a:rPr spc="-45" dirty="0"/>
              <a:t> </a:t>
            </a:r>
            <a:r>
              <a:rPr spc="-10" dirty="0"/>
              <a:t>for</a:t>
            </a:r>
            <a:r>
              <a:rPr spc="-45" dirty="0"/>
              <a:t> </a:t>
            </a:r>
            <a:r>
              <a:rPr dirty="0"/>
              <a:t>Data</a:t>
            </a:r>
            <a:r>
              <a:rPr spc="-45" dirty="0"/>
              <a:t> </a:t>
            </a:r>
            <a:r>
              <a:rPr spc="-10" dirty="0"/>
              <a:t>Analytics</a:t>
            </a:r>
            <a:r>
              <a:rPr dirty="0"/>
              <a:t>	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58977" y="769507"/>
            <a:ext cx="1330353" cy="105229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374732" y="597296"/>
            <a:ext cx="537210" cy="14224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750" b="1" spc="50" dirty="0">
                <a:latin typeface="Calibri"/>
                <a:cs typeface="Calibri"/>
              </a:rPr>
              <a:t>Regression</a:t>
            </a:r>
            <a:endParaRPr sz="750"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50213" y="755732"/>
            <a:ext cx="1172210" cy="1172210"/>
            <a:chOff x="150213" y="755732"/>
            <a:chExt cx="1172210" cy="1172210"/>
          </a:xfrm>
        </p:grpSpPr>
        <p:sp>
          <p:nvSpPr>
            <p:cNvPr id="6" name="object 6"/>
            <p:cNvSpPr/>
            <p:nvPr/>
          </p:nvSpPr>
          <p:spPr>
            <a:xfrm>
              <a:off x="281932" y="757637"/>
              <a:ext cx="0" cy="1168400"/>
            </a:xfrm>
            <a:custGeom>
              <a:avLst/>
              <a:gdLst/>
              <a:ahLst/>
              <a:cxnLst/>
              <a:rect l="l" t="t" r="r" b="b"/>
              <a:pathLst>
                <a:path h="1168400">
                  <a:moveTo>
                    <a:pt x="0" y="0"/>
                  </a:moveTo>
                  <a:lnTo>
                    <a:pt x="0" y="1168328"/>
                  </a:lnTo>
                </a:path>
              </a:pathLst>
            </a:custGeom>
            <a:ln w="324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63020" y="757637"/>
              <a:ext cx="38100" cy="57150"/>
            </a:xfrm>
            <a:custGeom>
              <a:avLst/>
              <a:gdLst/>
              <a:ahLst/>
              <a:cxnLst/>
              <a:rect l="l" t="t" r="r" b="b"/>
              <a:pathLst>
                <a:path w="38100" h="57150">
                  <a:moveTo>
                    <a:pt x="18912" y="0"/>
                  </a:moveTo>
                  <a:lnTo>
                    <a:pt x="0" y="56793"/>
                  </a:lnTo>
                  <a:lnTo>
                    <a:pt x="37824" y="56793"/>
                  </a:lnTo>
                  <a:lnTo>
                    <a:pt x="1891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52118" y="757637"/>
              <a:ext cx="1168400" cy="1038860"/>
            </a:xfrm>
            <a:custGeom>
              <a:avLst/>
              <a:gdLst/>
              <a:ahLst/>
              <a:cxnLst/>
              <a:rect l="l" t="t" r="r" b="b"/>
              <a:pathLst>
                <a:path w="1168400" h="1038860">
                  <a:moveTo>
                    <a:pt x="129814" y="0"/>
                  </a:moveTo>
                  <a:lnTo>
                    <a:pt x="110901" y="56793"/>
                  </a:lnTo>
                  <a:lnTo>
                    <a:pt x="148726" y="56793"/>
                  </a:lnTo>
                  <a:lnTo>
                    <a:pt x="129814" y="0"/>
                  </a:lnTo>
                  <a:close/>
                </a:path>
                <a:path w="1168400" h="1038860">
                  <a:moveTo>
                    <a:pt x="0" y="1038514"/>
                  </a:moveTo>
                  <a:lnTo>
                    <a:pt x="1168328" y="1038514"/>
                  </a:lnTo>
                </a:path>
              </a:pathLst>
            </a:custGeom>
            <a:ln w="324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263653" y="1777240"/>
              <a:ext cx="57150" cy="38100"/>
            </a:xfrm>
            <a:custGeom>
              <a:avLst/>
              <a:gdLst/>
              <a:ahLst/>
              <a:cxnLst/>
              <a:rect l="l" t="t" r="r" b="b"/>
              <a:pathLst>
                <a:path w="57150" h="38100">
                  <a:moveTo>
                    <a:pt x="0" y="0"/>
                  </a:moveTo>
                  <a:lnTo>
                    <a:pt x="0" y="37824"/>
                  </a:lnTo>
                  <a:lnTo>
                    <a:pt x="56793" y="189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263653" y="1777240"/>
              <a:ext cx="57150" cy="38100"/>
            </a:xfrm>
            <a:custGeom>
              <a:avLst/>
              <a:gdLst/>
              <a:ahLst/>
              <a:cxnLst/>
              <a:rect l="l" t="t" r="r" b="b"/>
              <a:pathLst>
                <a:path w="57150" h="38100">
                  <a:moveTo>
                    <a:pt x="56793" y="18912"/>
                  </a:moveTo>
                  <a:lnTo>
                    <a:pt x="0" y="0"/>
                  </a:lnTo>
                  <a:lnTo>
                    <a:pt x="0" y="37824"/>
                  </a:lnTo>
                  <a:lnTo>
                    <a:pt x="56793" y="18912"/>
                  </a:lnTo>
                  <a:close/>
                </a:path>
              </a:pathLst>
            </a:custGeom>
            <a:ln w="324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1136306" y="1816209"/>
            <a:ext cx="154940" cy="1225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sz="900" i="1" spc="37" baseline="9259" dirty="0">
                <a:latin typeface="Calibri"/>
                <a:cs typeface="Calibri"/>
              </a:rPr>
              <a:t>x</a:t>
            </a:r>
            <a:r>
              <a:rPr sz="450" spc="25" dirty="0">
                <a:latin typeface="Roboto"/>
                <a:cs typeface="Roboto"/>
              </a:rPr>
              <a:t>1</a:t>
            </a:r>
            <a:endParaRPr sz="450">
              <a:latin typeface="Roboto"/>
              <a:cs typeface="Robo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4018" y="719148"/>
            <a:ext cx="154940" cy="1225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sz="900" i="1" spc="37" baseline="9259" dirty="0">
                <a:latin typeface="Calibri"/>
                <a:cs typeface="Calibri"/>
              </a:rPr>
              <a:t>x</a:t>
            </a:r>
            <a:r>
              <a:rPr sz="450" spc="25" dirty="0">
                <a:latin typeface="Roboto"/>
                <a:cs typeface="Roboto"/>
              </a:rPr>
              <a:t>2</a:t>
            </a:r>
            <a:endParaRPr sz="450">
              <a:latin typeface="Roboto"/>
              <a:cs typeface="Roboto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29205" y="597304"/>
            <a:ext cx="1014094" cy="14224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750" b="1" spc="90" dirty="0">
                <a:latin typeface="Calibri"/>
                <a:cs typeface="Calibri"/>
              </a:rPr>
              <a:t>Binary</a:t>
            </a:r>
            <a:r>
              <a:rPr sz="750" b="1" spc="120" dirty="0">
                <a:latin typeface="Calibri"/>
                <a:cs typeface="Calibri"/>
              </a:rPr>
              <a:t> </a:t>
            </a:r>
            <a:r>
              <a:rPr sz="750" b="1" spc="45" dirty="0">
                <a:latin typeface="Calibri"/>
                <a:cs typeface="Calibri"/>
              </a:rPr>
              <a:t>Classification</a:t>
            </a:r>
            <a:endParaRPr sz="750">
              <a:latin typeface="Calibri"/>
              <a:cs typeface="Calibri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353821" y="915321"/>
            <a:ext cx="857885" cy="793115"/>
            <a:chOff x="353821" y="915321"/>
            <a:chExt cx="857885" cy="793115"/>
          </a:xfrm>
        </p:grpSpPr>
        <p:sp>
          <p:nvSpPr>
            <p:cNvPr id="15" name="object 15"/>
            <p:cNvSpPr/>
            <p:nvPr/>
          </p:nvSpPr>
          <p:spPr>
            <a:xfrm>
              <a:off x="353809" y="1400568"/>
              <a:ext cx="337185" cy="307340"/>
            </a:xfrm>
            <a:custGeom>
              <a:avLst/>
              <a:gdLst/>
              <a:ahLst/>
              <a:cxnLst/>
              <a:rect l="l" t="t" r="r" b="b"/>
              <a:pathLst>
                <a:path w="337184" h="307339">
                  <a:moveTo>
                    <a:pt x="63093" y="81394"/>
                  </a:moveTo>
                  <a:lnTo>
                    <a:pt x="0" y="81394"/>
                  </a:lnTo>
                  <a:lnTo>
                    <a:pt x="0" y="144487"/>
                  </a:lnTo>
                  <a:lnTo>
                    <a:pt x="63093" y="144487"/>
                  </a:lnTo>
                  <a:lnTo>
                    <a:pt x="63093" y="81394"/>
                  </a:lnTo>
                  <a:close/>
                </a:path>
                <a:path w="337184" h="307339">
                  <a:moveTo>
                    <a:pt x="129705" y="207213"/>
                  </a:moveTo>
                  <a:lnTo>
                    <a:pt x="66611" y="207213"/>
                  </a:lnTo>
                  <a:lnTo>
                    <a:pt x="66611" y="270306"/>
                  </a:lnTo>
                  <a:lnTo>
                    <a:pt x="129705" y="270306"/>
                  </a:lnTo>
                  <a:lnTo>
                    <a:pt x="129705" y="207213"/>
                  </a:lnTo>
                  <a:close/>
                </a:path>
                <a:path w="337184" h="307339">
                  <a:moveTo>
                    <a:pt x="207403" y="0"/>
                  </a:moveTo>
                  <a:lnTo>
                    <a:pt x="144322" y="0"/>
                  </a:lnTo>
                  <a:lnTo>
                    <a:pt x="144322" y="63080"/>
                  </a:lnTo>
                  <a:lnTo>
                    <a:pt x="207403" y="63080"/>
                  </a:lnTo>
                  <a:lnTo>
                    <a:pt x="207403" y="0"/>
                  </a:lnTo>
                  <a:close/>
                </a:path>
                <a:path w="337184" h="307339">
                  <a:moveTo>
                    <a:pt x="262915" y="244208"/>
                  </a:moveTo>
                  <a:lnTo>
                    <a:pt x="199821" y="244208"/>
                  </a:lnTo>
                  <a:lnTo>
                    <a:pt x="199821" y="307301"/>
                  </a:lnTo>
                  <a:lnTo>
                    <a:pt x="262915" y="307301"/>
                  </a:lnTo>
                  <a:lnTo>
                    <a:pt x="262915" y="244208"/>
                  </a:lnTo>
                  <a:close/>
                </a:path>
                <a:path w="337184" h="307339">
                  <a:moveTo>
                    <a:pt x="336918" y="107302"/>
                  </a:moveTo>
                  <a:lnTo>
                    <a:pt x="273824" y="107302"/>
                  </a:lnTo>
                  <a:lnTo>
                    <a:pt x="273824" y="170395"/>
                  </a:lnTo>
                  <a:lnTo>
                    <a:pt x="336918" y="170395"/>
                  </a:lnTo>
                  <a:lnTo>
                    <a:pt x="336918" y="107302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31761" y="915327"/>
              <a:ext cx="380365" cy="374650"/>
            </a:xfrm>
            <a:custGeom>
              <a:avLst/>
              <a:gdLst/>
              <a:ahLst/>
              <a:cxnLst/>
              <a:rect l="l" t="t" r="r" b="b"/>
              <a:pathLst>
                <a:path w="380365" h="374650">
                  <a:moveTo>
                    <a:pt x="50469" y="251968"/>
                  </a:moveTo>
                  <a:lnTo>
                    <a:pt x="0" y="218313"/>
                  </a:lnTo>
                  <a:lnTo>
                    <a:pt x="0" y="285610"/>
                  </a:lnTo>
                  <a:lnTo>
                    <a:pt x="50469" y="251968"/>
                  </a:lnTo>
                  <a:close/>
                </a:path>
                <a:path w="380365" h="374650">
                  <a:moveTo>
                    <a:pt x="83781" y="126149"/>
                  </a:moveTo>
                  <a:lnTo>
                    <a:pt x="33312" y="92506"/>
                  </a:lnTo>
                  <a:lnTo>
                    <a:pt x="33312" y="159791"/>
                  </a:lnTo>
                  <a:lnTo>
                    <a:pt x="83781" y="126149"/>
                  </a:lnTo>
                  <a:close/>
                </a:path>
                <a:path w="380365" h="374650">
                  <a:moveTo>
                    <a:pt x="194792" y="33642"/>
                  </a:moveTo>
                  <a:lnTo>
                    <a:pt x="144310" y="0"/>
                  </a:lnTo>
                  <a:lnTo>
                    <a:pt x="144310" y="67297"/>
                  </a:lnTo>
                  <a:lnTo>
                    <a:pt x="194792" y="33642"/>
                  </a:lnTo>
                  <a:close/>
                </a:path>
                <a:path w="380365" h="374650">
                  <a:moveTo>
                    <a:pt x="216992" y="226060"/>
                  </a:moveTo>
                  <a:lnTo>
                    <a:pt x="166509" y="192405"/>
                  </a:lnTo>
                  <a:lnTo>
                    <a:pt x="166509" y="259702"/>
                  </a:lnTo>
                  <a:lnTo>
                    <a:pt x="216992" y="226060"/>
                  </a:lnTo>
                  <a:close/>
                </a:path>
                <a:path w="380365" h="374650">
                  <a:moveTo>
                    <a:pt x="228092" y="340766"/>
                  </a:moveTo>
                  <a:lnTo>
                    <a:pt x="177622" y="307111"/>
                  </a:lnTo>
                  <a:lnTo>
                    <a:pt x="177622" y="374408"/>
                  </a:lnTo>
                  <a:lnTo>
                    <a:pt x="228092" y="340766"/>
                  </a:lnTo>
                  <a:close/>
                </a:path>
                <a:path w="380365" h="374650">
                  <a:moveTo>
                    <a:pt x="357593" y="170548"/>
                  </a:moveTo>
                  <a:lnTo>
                    <a:pt x="307124" y="136906"/>
                  </a:lnTo>
                  <a:lnTo>
                    <a:pt x="307124" y="204203"/>
                  </a:lnTo>
                  <a:lnTo>
                    <a:pt x="357593" y="170548"/>
                  </a:lnTo>
                  <a:close/>
                </a:path>
                <a:path w="380365" h="374650">
                  <a:moveTo>
                    <a:pt x="379793" y="340766"/>
                  </a:moveTo>
                  <a:lnTo>
                    <a:pt x="329323" y="307111"/>
                  </a:lnTo>
                  <a:lnTo>
                    <a:pt x="329323" y="374408"/>
                  </a:lnTo>
                  <a:lnTo>
                    <a:pt x="379793" y="34076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1448612" y="606732"/>
            <a:ext cx="1242060" cy="14224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750" b="1" spc="75" dirty="0">
                <a:latin typeface="Calibri"/>
                <a:cs typeface="Calibri"/>
              </a:rPr>
              <a:t>Multi-Class</a:t>
            </a:r>
            <a:r>
              <a:rPr sz="750" b="1" spc="125" dirty="0">
                <a:latin typeface="Calibri"/>
                <a:cs typeface="Calibri"/>
              </a:rPr>
              <a:t> </a:t>
            </a:r>
            <a:r>
              <a:rPr sz="750" b="1" spc="45" dirty="0">
                <a:latin typeface="Calibri"/>
                <a:cs typeface="Calibri"/>
              </a:rPr>
              <a:t>Classification</a:t>
            </a:r>
            <a:endParaRPr sz="750">
              <a:latin typeface="Calibri"/>
              <a:cs typeface="Calibri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1483666" y="759432"/>
            <a:ext cx="1172210" cy="1172210"/>
            <a:chOff x="1483666" y="759432"/>
            <a:chExt cx="1172210" cy="1172210"/>
          </a:xfrm>
        </p:grpSpPr>
        <p:sp>
          <p:nvSpPr>
            <p:cNvPr id="19" name="object 19"/>
            <p:cNvSpPr/>
            <p:nvPr/>
          </p:nvSpPr>
          <p:spPr>
            <a:xfrm>
              <a:off x="1615385" y="761337"/>
              <a:ext cx="0" cy="1168400"/>
            </a:xfrm>
            <a:custGeom>
              <a:avLst/>
              <a:gdLst/>
              <a:ahLst/>
              <a:cxnLst/>
              <a:rect l="l" t="t" r="r" b="b"/>
              <a:pathLst>
                <a:path h="1168400">
                  <a:moveTo>
                    <a:pt x="0" y="0"/>
                  </a:moveTo>
                  <a:lnTo>
                    <a:pt x="0" y="1168328"/>
                  </a:lnTo>
                </a:path>
              </a:pathLst>
            </a:custGeom>
            <a:ln w="324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596473" y="761337"/>
              <a:ext cx="38100" cy="57150"/>
            </a:xfrm>
            <a:custGeom>
              <a:avLst/>
              <a:gdLst/>
              <a:ahLst/>
              <a:cxnLst/>
              <a:rect l="l" t="t" r="r" b="b"/>
              <a:pathLst>
                <a:path w="38100" h="57150">
                  <a:moveTo>
                    <a:pt x="18912" y="0"/>
                  </a:moveTo>
                  <a:lnTo>
                    <a:pt x="0" y="56793"/>
                  </a:lnTo>
                  <a:lnTo>
                    <a:pt x="37824" y="56793"/>
                  </a:lnTo>
                  <a:lnTo>
                    <a:pt x="18912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485571" y="761337"/>
              <a:ext cx="1168400" cy="1038860"/>
            </a:xfrm>
            <a:custGeom>
              <a:avLst/>
              <a:gdLst/>
              <a:ahLst/>
              <a:cxnLst/>
              <a:rect l="l" t="t" r="r" b="b"/>
              <a:pathLst>
                <a:path w="1168400" h="1038860">
                  <a:moveTo>
                    <a:pt x="129814" y="0"/>
                  </a:moveTo>
                  <a:lnTo>
                    <a:pt x="110901" y="56793"/>
                  </a:lnTo>
                  <a:lnTo>
                    <a:pt x="148726" y="56793"/>
                  </a:lnTo>
                  <a:lnTo>
                    <a:pt x="129814" y="0"/>
                  </a:lnTo>
                  <a:close/>
                </a:path>
                <a:path w="1168400" h="1038860">
                  <a:moveTo>
                    <a:pt x="0" y="1038514"/>
                  </a:moveTo>
                  <a:lnTo>
                    <a:pt x="1168328" y="1038514"/>
                  </a:lnTo>
                </a:path>
              </a:pathLst>
            </a:custGeom>
            <a:ln w="324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597106" y="1780939"/>
              <a:ext cx="57150" cy="38100"/>
            </a:xfrm>
            <a:custGeom>
              <a:avLst/>
              <a:gdLst/>
              <a:ahLst/>
              <a:cxnLst/>
              <a:rect l="l" t="t" r="r" b="b"/>
              <a:pathLst>
                <a:path w="57150" h="38100">
                  <a:moveTo>
                    <a:pt x="0" y="0"/>
                  </a:moveTo>
                  <a:lnTo>
                    <a:pt x="0" y="37824"/>
                  </a:lnTo>
                  <a:lnTo>
                    <a:pt x="56793" y="189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597106" y="1780939"/>
              <a:ext cx="57150" cy="38100"/>
            </a:xfrm>
            <a:custGeom>
              <a:avLst/>
              <a:gdLst/>
              <a:ahLst/>
              <a:cxnLst/>
              <a:rect l="l" t="t" r="r" b="b"/>
              <a:pathLst>
                <a:path w="57150" h="38100">
                  <a:moveTo>
                    <a:pt x="56793" y="18912"/>
                  </a:moveTo>
                  <a:lnTo>
                    <a:pt x="0" y="0"/>
                  </a:lnTo>
                  <a:lnTo>
                    <a:pt x="0" y="37824"/>
                  </a:lnTo>
                  <a:lnTo>
                    <a:pt x="56793" y="18912"/>
                  </a:lnTo>
                  <a:close/>
                </a:path>
              </a:pathLst>
            </a:custGeom>
            <a:ln w="324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2469759" y="1819909"/>
            <a:ext cx="154940" cy="1225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sz="900" i="1" spc="37" baseline="9259" dirty="0">
                <a:latin typeface="Calibri"/>
                <a:cs typeface="Calibri"/>
              </a:rPr>
              <a:t>x</a:t>
            </a:r>
            <a:r>
              <a:rPr sz="450" spc="25" dirty="0">
                <a:latin typeface="Roboto"/>
                <a:cs typeface="Roboto"/>
              </a:rPr>
              <a:t>1</a:t>
            </a:r>
            <a:endParaRPr sz="450">
              <a:latin typeface="Roboto"/>
              <a:cs typeface="Roboto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447471" y="722848"/>
            <a:ext cx="154940" cy="1225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sz="900" i="1" spc="37" baseline="9259" dirty="0">
                <a:latin typeface="Calibri"/>
                <a:cs typeface="Calibri"/>
              </a:rPr>
              <a:t>x</a:t>
            </a:r>
            <a:r>
              <a:rPr sz="450" spc="25" dirty="0">
                <a:latin typeface="Roboto"/>
                <a:cs typeface="Roboto"/>
              </a:rPr>
              <a:t>2</a:t>
            </a:r>
            <a:endParaRPr sz="450">
              <a:latin typeface="Roboto"/>
              <a:cs typeface="Roboto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1670808" y="913893"/>
            <a:ext cx="874394" cy="798195"/>
            <a:chOff x="1670808" y="913893"/>
            <a:chExt cx="874394" cy="798195"/>
          </a:xfrm>
        </p:grpSpPr>
        <p:sp>
          <p:nvSpPr>
            <p:cNvPr id="27" name="object 27"/>
            <p:cNvSpPr/>
            <p:nvPr/>
          </p:nvSpPr>
          <p:spPr>
            <a:xfrm>
              <a:off x="1687271" y="1404264"/>
              <a:ext cx="337185" cy="307340"/>
            </a:xfrm>
            <a:custGeom>
              <a:avLst/>
              <a:gdLst/>
              <a:ahLst/>
              <a:cxnLst/>
              <a:rect l="l" t="t" r="r" b="b"/>
              <a:pathLst>
                <a:path w="337185" h="307339">
                  <a:moveTo>
                    <a:pt x="63093" y="81407"/>
                  </a:moveTo>
                  <a:lnTo>
                    <a:pt x="0" y="81407"/>
                  </a:lnTo>
                  <a:lnTo>
                    <a:pt x="0" y="144487"/>
                  </a:lnTo>
                  <a:lnTo>
                    <a:pt x="63093" y="144487"/>
                  </a:lnTo>
                  <a:lnTo>
                    <a:pt x="63093" y="81407"/>
                  </a:lnTo>
                  <a:close/>
                </a:path>
                <a:path w="337185" h="307339">
                  <a:moveTo>
                    <a:pt x="129692" y="207213"/>
                  </a:moveTo>
                  <a:lnTo>
                    <a:pt x="66598" y="207213"/>
                  </a:lnTo>
                  <a:lnTo>
                    <a:pt x="66598" y="270306"/>
                  </a:lnTo>
                  <a:lnTo>
                    <a:pt x="129692" y="270306"/>
                  </a:lnTo>
                  <a:lnTo>
                    <a:pt x="129692" y="207213"/>
                  </a:lnTo>
                  <a:close/>
                </a:path>
                <a:path w="337185" h="307339">
                  <a:moveTo>
                    <a:pt x="207403" y="0"/>
                  </a:moveTo>
                  <a:lnTo>
                    <a:pt x="144310" y="0"/>
                  </a:lnTo>
                  <a:lnTo>
                    <a:pt x="144310" y="63093"/>
                  </a:lnTo>
                  <a:lnTo>
                    <a:pt x="207403" y="63093"/>
                  </a:lnTo>
                  <a:lnTo>
                    <a:pt x="207403" y="0"/>
                  </a:lnTo>
                  <a:close/>
                </a:path>
                <a:path w="337185" h="307339">
                  <a:moveTo>
                    <a:pt x="262902" y="244208"/>
                  </a:moveTo>
                  <a:lnTo>
                    <a:pt x="199821" y="244208"/>
                  </a:lnTo>
                  <a:lnTo>
                    <a:pt x="199821" y="307301"/>
                  </a:lnTo>
                  <a:lnTo>
                    <a:pt x="262902" y="307301"/>
                  </a:lnTo>
                  <a:lnTo>
                    <a:pt x="262902" y="244208"/>
                  </a:lnTo>
                  <a:close/>
                </a:path>
                <a:path w="337185" h="307339">
                  <a:moveTo>
                    <a:pt x="336905" y="107315"/>
                  </a:moveTo>
                  <a:lnTo>
                    <a:pt x="273824" y="107315"/>
                  </a:lnTo>
                  <a:lnTo>
                    <a:pt x="273824" y="170395"/>
                  </a:lnTo>
                  <a:lnTo>
                    <a:pt x="336905" y="170395"/>
                  </a:lnTo>
                  <a:lnTo>
                    <a:pt x="336905" y="107315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2165223" y="919022"/>
              <a:ext cx="380365" cy="374650"/>
            </a:xfrm>
            <a:custGeom>
              <a:avLst/>
              <a:gdLst/>
              <a:ahLst/>
              <a:cxnLst/>
              <a:rect l="l" t="t" r="r" b="b"/>
              <a:pathLst>
                <a:path w="380364" h="374650">
                  <a:moveTo>
                    <a:pt x="50469" y="251968"/>
                  </a:moveTo>
                  <a:lnTo>
                    <a:pt x="0" y="218325"/>
                  </a:lnTo>
                  <a:lnTo>
                    <a:pt x="0" y="285610"/>
                  </a:lnTo>
                  <a:lnTo>
                    <a:pt x="50469" y="251968"/>
                  </a:lnTo>
                  <a:close/>
                </a:path>
                <a:path w="380364" h="374650">
                  <a:moveTo>
                    <a:pt x="83781" y="126149"/>
                  </a:moveTo>
                  <a:lnTo>
                    <a:pt x="33312" y="92506"/>
                  </a:lnTo>
                  <a:lnTo>
                    <a:pt x="33312" y="159804"/>
                  </a:lnTo>
                  <a:lnTo>
                    <a:pt x="83781" y="126149"/>
                  </a:lnTo>
                  <a:close/>
                </a:path>
                <a:path w="380364" h="374650">
                  <a:moveTo>
                    <a:pt x="194792" y="33655"/>
                  </a:moveTo>
                  <a:lnTo>
                    <a:pt x="144310" y="0"/>
                  </a:lnTo>
                  <a:lnTo>
                    <a:pt x="144310" y="67297"/>
                  </a:lnTo>
                  <a:lnTo>
                    <a:pt x="194792" y="33655"/>
                  </a:lnTo>
                  <a:close/>
                </a:path>
                <a:path w="380364" h="374650">
                  <a:moveTo>
                    <a:pt x="216979" y="226060"/>
                  </a:moveTo>
                  <a:lnTo>
                    <a:pt x="166509" y="192417"/>
                  </a:lnTo>
                  <a:lnTo>
                    <a:pt x="166509" y="259702"/>
                  </a:lnTo>
                  <a:lnTo>
                    <a:pt x="216979" y="226060"/>
                  </a:lnTo>
                  <a:close/>
                </a:path>
                <a:path w="380364" h="374650">
                  <a:moveTo>
                    <a:pt x="228079" y="340766"/>
                  </a:moveTo>
                  <a:lnTo>
                    <a:pt x="177609" y="307124"/>
                  </a:lnTo>
                  <a:lnTo>
                    <a:pt x="177609" y="374408"/>
                  </a:lnTo>
                  <a:lnTo>
                    <a:pt x="228079" y="340766"/>
                  </a:lnTo>
                  <a:close/>
                </a:path>
                <a:path w="380364" h="374650">
                  <a:moveTo>
                    <a:pt x="357593" y="170561"/>
                  </a:moveTo>
                  <a:lnTo>
                    <a:pt x="307124" y="136906"/>
                  </a:lnTo>
                  <a:lnTo>
                    <a:pt x="307124" y="204203"/>
                  </a:lnTo>
                  <a:lnTo>
                    <a:pt x="357593" y="170561"/>
                  </a:lnTo>
                  <a:close/>
                </a:path>
                <a:path w="380364" h="374650">
                  <a:moveTo>
                    <a:pt x="379793" y="340766"/>
                  </a:moveTo>
                  <a:lnTo>
                    <a:pt x="329323" y="307124"/>
                  </a:lnTo>
                  <a:lnTo>
                    <a:pt x="329323" y="374408"/>
                  </a:lnTo>
                  <a:lnTo>
                    <a:pt x="379793" y="34076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55917" y="958298"/>
              <a:ext cx="66919" cy="66919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96522" y="913893"/>
              <a:ext cx="66919" cy="66919"/>
            </a:xfrm>
            <a:prstGeom prst="rect">
              <a:avLst/>
            </a:prstGeom>
          </p:spPr>
        </p:pic>
        <p:pic>
          <p:nvPicPr>
            <p:cNvPr id="31" name="object 3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911321" y="1024901"/>
              <a:ext cx="66919" cy="66919"/>
            </a:xfrm>
            <a:prstGeom prst="rect">
              <a:avLst/>
            </a:prstGeom>
          </p:spPr>
        </p:pic>
        <p:pic>
          <p:nvPicPr>
            <p:cNvPr id="32" name="object 3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96614" y="1087804"/>
              <a:ext cx="66919" cy="66919"/>
            </a:xfrm>
            <a:prstGeom prst="rect">
              <a:avLst/>
            </a:prstGeom>
          </p:spPr>
        </p:pic>
        <p:pic>
          <p:nvPicPr>
            <p:cNvPr id="33" name="object 3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70808" y="1050799"/>
              <a:ext cx="66919" cy="66919"/>
            </a:xfrm>
            <a:prstGeom prst="rect">
              <a:avLst/>
            </a:prstGeom>
          </p:spPr>
        </p:pic>
      </p:grpSp>
      <p:grpSp>
        <p:nvGrpSpPr>
          <p:cNvPr id="34" name="object 34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35" name="object 3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4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40" name="object 4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68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pc="-20" dirty="0"/>
              <a:t>Machine</a:t>
            </a:r>
            <a:r>
              <a:rPr spc="-50" dirty="0"/>
              <a:t> </a:t>
            </a:r>
            <a:r>
              <a:rPr spc="-40" dirty="0"/>
              <a:t>Learning</a:t>
            </a:r>
            <a:r>
              <a:rPr spc="-45" dirty="0"/>
              <a:t> </a:t>
            </a:r>
            <a:r>
              <a:rPr spc="-10" dirty="0"/>
              <a:t>for</a:t>
            </a:r>
            <a:r>
              <a:rPr spc="-45" dirty="0"/>
              <a:t> </a:t>
            </a:r>
            <a:r>
              <a:rPr dirty="0"/>
              <a:t>Data</a:t>
            </a:r>
            <a:r>
              <a:rPr spc="-45" dirty="0"/>
              <a:t> </a:t>
            </a:r>
            <a:r>
              <a:rPr spc="-10" dirty="0"/>
              <a:t>Analytics</a:t>
            </a:r>
            <a:r>
              <a:rPr dirty="0"/>
              <a:t>	</a:t>
            </a:r>
          </a:p>
        </p:txBody>
      </p:sp>
      <p:sp>
        <p:nvSpPr>
          <p:cNvPr id="3" name="object 3"/>
          <p:cNvSpPr/>
          <p:nvPr/>
        </p:nvSpPr>
        <p:spPr>
          <a:xfrm>
            <a:off x="290245" y="866368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90245" y="1101699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90245" y="1456651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0245" y="1691995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0245" y="1927326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90245" y="2162670"/>
            <a:ext cx="61594" cy="61594"/>
          </a:xfrm>
          <a:custGeom>
            <a:avLst/>
            <a:gdLst/>
            <a:ahLst/>
            <a:cxnLst/>
            <a:rect l="l" t="t" r="r" b="b"/>
            <a:pathLst>
              <a:path w="61595" h="61594">
                <a:moveTo>
                  <a:pt x="61569" y="0"/>
                </a:moveTo>
                <a:lnTo>
                  <a:pt x="0" y="0"/>
                </a:lnTo>
                <a:lnTo>
                  <a:pt x="0" y="61569"/>
                </a:lnTo>
                <a:lnTo>
                  <a:pt x="61569" y="61569"/>
                </a:lnTo>
                <a:lnTo>
                  <a:pt x="61569" y="0"/>
                </a:lnTo>
                <a:close/>
              </a:path>
            </a:pathLst>
          </a:custGeom>
          <a:solidFill>
            <a:srgbClr val="3333B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31305" y="475207"/>
            <a:ext cx="4061460" cy="179006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60" dirty="0">
                <a:solidFill>
                  <a:srgbClr val="0000FF"/>
                </a:solidFill>
                <a:latin typeface="Arial"/>
                <a:cs typeface="Arial"/>
              </a:rPr>
              <a:t>Unsupervised</a:t>
            </a:r>
            <a:r>
              <a:rPr sz="1100" b="1" spc="25" dirty="0">
                <a:solidFill>
                  <a:srgbClr val="0000FF"/>
                </a:solidFill>
                <a:latin typeface="Arial"/>
                <a:cs typeface="Arial"/>
              </a:rPr>
              <a:t> </a:t>
            </a:r>
            <a:r>
              <a:rPr sz="1100" b="1" spc="-10" dirty="0">
                <a:solidFill>
                  <a:srgbClr val="0000FF"/>
                </a:solidFill>
                <a:latin typeface="Arial"/>
                <a:cs typeface="Arial"/>
              </a:rPr>
              <a:t>Learning</a:t>
            </a:r>
            <a:endParaRPr sz="1100">
              <a:latin typeface="Arial"/>
              <a:cs typeface="Arial"/>
            </a:endParaRPr>
          </a:p>
          <a:p>
            <a:pPr marL="289560">
              <a:lnSpc>
                <a:spcPct val="100000"/>
              </a:lnSpc>
              <a:spcBef>
                <a:spcPts val="1055"/>
              </a:spcBef>
            </a:pPr>
            <a:r>
              <a:rPr sz="1100" dirty="0">
                <a:latin typeface="Tahoma"/>
                <a:cs typeface="Tahoma"/>
              </a:rPr>
              <a:t>No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30" dirty="0">
                <a:latin typeface="Tahoma"/>
                <a:cs typeface="Tahoma"/>
              </a:rPr>
              <a:t>correct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output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provided</a:t>
            </a:r>
            <a:endParaRPr sz="11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530"/>
              </a:spcBef>
            </a:pPr>
            <a:r>
              <a:rPr sz="1100" spc="-35" dirty="0">
                <a:latin typeface="Tahoma"/>
                <a:cs typeface="Tahoma"/>
              </a:rPr>
              <a:t>Learning</a:t>
            </a:r>
            <a:r>
              <a:rPr sz="1100" spc="-45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and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5" dirty="0">
                <a:latin typeface="Tahoma"/>
                <a:cs typeface="Tahoma"/>
              </a:rPr>
              <a:t>analytics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is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55" dirty="0">
                <a:latin typeface="Tahoma"/>
                <a:cs typeface="Tahoma"/>
              </a:rPr>
              <a:t>done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35" dirty="0">
                <a:latin typeface="Tahoma"/>
                <a:cs typeface="Tahoma"/>
              </a:rPr>
              <a:t>using</a:t>
            </a:r>
            <a:r>
              <a:rPr sz="1100" spc="-40" dirty="0">
                <a:latin typeface="Tahoma"/>
                <a:cs typeface="Tahoma"/>
              </a:rPr>
              <a:t> </a:t>
            </a:r>
            <a:r>
              <a:rPr sz="1100" spc="-10" dirty="0">
                <a:latin typeface="Tahoma"/>
                <a:cs typeface="Tahoma"/>
              </a:rPr>
              <a:t>statistical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spc="-40" dirty="0">
                <a:latin typeface="Tahoma"/>
                <a:cs typeface="Tahoma"/>
              </a:rPr>
              <a:t>properties</a:t>
            </a:r>
            <a:r>
              <a:rPr sz="1100" spc="-35" dirty="0">
                <a:latin typeface="Tahoma"/>
                <a:cs typeface="Tahoma"/>
              </a:rPr>
              <a:t> </a:t>
            </a:r>
            <a:r>
              <a:rPr sz="1100" dirty="0">
                <a:latin typeface="Tahoma"/>
                <a:cs typeface="Tahoma"/>
              </a:rPr>
              <a:t>of</a:t>
            </a:r>
            <a:r>
              <a:rPr sz="1100" spc="-30" dirty="0">
                <a:latin typeface="Tahoma"/>
                <a:cs typeface="Tahoma"/>
              </a:rPr>
              <a:t> </a:t>
            </a:r>
            <a:r>
              <a:rPr sz="1100" spc="-20" dirty="0">
                <a:latin typeface="Tahoma"/>
                <a:cs typeface="Tahoma"/>
              </a:rPr>
              <a:t>data</a:t>
            </a:r>
            <a:endParaRPr sz="1100">
              <a:latin typeface="Tahoma"/>
              <a:cs typeface="Tahoma"/>
            </a:endParaRPr>
          </a:p>
          <a:p>
            <a:pPr marL="289560" marR="2788920">
              <a:lnSpc>
                <a:spcPct val="140400"/>
              </a:lnSpc>
              <a:spcBef>
                <a:spcPts val="945"/>
              </a:spcBef>
            </a:pP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Clustering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Outlier</a:t>
            </a:r>
            <a:r>
              <a:rPr sz="1100" spc="-8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detection</a:t>
            </a:r>
            <a:endParaRPr sz="1100">
              <a:latin typeface="Tahoma"/>
              <a:cs typeface="Tahoma"/>
            </a:endParaRPr>
          </a:p>
          <a:p>
            <a:pPr marL="289560" marR="2094230">
              <a:lnSpc>
                <a:spcPct val="140400"/>
              </a:lnSpc>
            </a:pPr>
            <a:r>
              <a:rPr sz="1100" spc="-20" dirty="0">
                <a:solidFill>
                  <a:srgbClr val="0000FF"/>
                </a:solidFill>
                <a:latin typeface="Tahoma"/>
                <a:cs typeface="Tahoma"/>
              </a:rPr>
              <a:t>Modeling</a:t>
            </a:r>
            <a:r>
              <a:rPr sz="1100" spc="-5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the</a:t>
            </a:r>
            <a:r>
              <a:rPr sz="1100" spc="-45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0000FF"/>
                </a:solidFill>
                <a:latin typeface="Tahoma"/>
                <a:cs typeface="Tahoma"/>
              </a:rPr>
              <a:t>density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0000FF"/>
                </a:solidFill>
                <a:latin typeface="Tahoma"/>
                <a:cs typeface="Tahoma"/>
              </a:rPr>
              <a:t>of</a:t>
            </a:r>
            <a:r>
              <a:rPr sz="1100" spc="-5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0000FF"/>
                </a:solidFill>
                <a:latin typeface="Tahoma"/>
                <a:cs typeface="Tahoma"/>
              </a:rPr>
              <a:t>data Dimensionality</a:t>
            </a:r>
            <a:r>
              <a:rPr sz="1100" spc="30" dirty="0">
                <a:solidFill>
                  <a:srgbClr val="0000F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0000FF"/>
                </a:solidFill>
                <a:latin typeface="Tahoma"/>
                <a:cs typeface="Tahoma"/>
              </a:rPr>
              <a:t>reduction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346348"/>
            <a:ext cx="4608195" cy="109855"/>
            <a:chOff x="0" y="3346348"/>
            <a:chExt cx="4608195" cy="109855"/>
          </a:xfrm>
        </p:grpSpPr>
        <p:sp>
          <p:nvSpPr>
            <p:cNvPr id="11" name="object 11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2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69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305" y="76603"/>
            <a:ext cx="42767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263390" algn="l"/>
              </a:tabLst>
            </a:pP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Data</a:t>
            </a:r>
            <a:r>
              <a:rPr sz="1400" u="sng" spc="-5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Analytics</a:t>
            </a: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3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Tasks</a:t>
            </a:r>
            <a:r>
              <a:rPr sz="1400" u="sng" spc="-5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3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and</a:t>
            </a:r>
            <a:r>
              <a:rPr sz="1400" u="sng" spc="-55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 </a:t>
            </a:r>
            <a:r>
              <a:rPr sz="1400" u="sng" spc="-10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Methods</a:t>
            </a:r>
            <a:r>
              <a:rPr sz="1400" u="sng" dirty="0">
                <a:solidFill>
                  <a:srgbClr val="898CFC"/>
                </a:solidFill>
                <a:uFill>
                  <a:solidFill>
                    <a:srgbClr val="898CFC"/>
                  </a:solidFill>
                </a:uFill>
                <a:latin typeface="Tahoma"/>
                <a:cs typeface="Tahoma"/>
              </a:rPr>
              <a:t>	</a:t>
            </a:r>
            <a:endParaRPr sz="1400">
              <a:latin typeface="Tahoma"/>
              <a:cs typeface="Tahoma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435265"/>
            <a:ext cx="4608195" cy="3021330"/>
            <a:chOff x="0" y="435265"/>
            <a:chExt cx="4608195" cy="302133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52818" y="435265"/>
              <a:ext cx="3230403" cy="2978354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0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5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4747B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35976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8484D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071952" y="3346348"/>
              <a:ext cx="1536065" cy="109855"/>
            </a:xfrm>
            <a:custGeom>
              <a:avLst/>
              <a:gdLst/>
              <a:ahLst/>
              <a:cxnLst/>
              <a:rect l="l" t="t" r="r" b="b"/>
              <a:pathLst>
                <a:path w="1536064" h="109854">
                  <a:moveTo>
                    <a:pt x="1535976" y="0"/>
                  </a:moveTo>
                  <a:lnTo>
                    <a:pt x="0" y="0"/>
                  </a:lnTo>
                  <a:lnTo>
                    <a:pt x="0" y="109651"/>
                  </a:lnTo>
                  <a:lnTo>
                    <a:pt x="1535976" y="109651"/>
                  </a:lnTo>
                  <a:lnTo>
                    <a:pt x="1535976" y="0"/>
                  </a:lnTo>
                  <a:close/>
                </a:path>
              </a:pathLst>
            </a:custGeom>
            <a:solidFill>
              <a:srgbClr val="ADAD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736877" y="3351784"/>
            <a:ext cx="1134110" cy="10223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5"/>
              </a:lnSpc>
            </a:pP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Big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Data</a:t>
            </a:r>
            <a:r>
              <a:rPr sz="600" spc="5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Analytics:</a:t>
            </a:r>
            <a:r>
              <a:rPr sz="600" spc="114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 </a:t>
            </a:r>
            <a:r>
              <a:rPr sz="600" spc="-10" dirty="0">
                <a:solidFill>
                  <a:srgbClr val="FFFFFF"/>
                </a:solidFill>
                <a:latin typeface="Arial MT"/>
                <a:cs typeface="Arial MT"/>
                <a:hlinkClick r:id="rId3" action="ppaction://hlinksldjump"/>
              </a:rPr>
              <a:t>Introduction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5"/>
              </a:lnSpc>
            </a:pPr>
            <a:fld id="{81D60167-4931-47E6-BA6A-407CBD079E47}" type="slidenum">
              <a:rPr spc="-30" dirty="0"/>
              <a:t>70</a:t>
            </a:fld>
            <a:r>
              <a:rPr spc="-55" dirty="0"/>
              <a:t> </a:t>
            </a:r>
            <a:r>
              <a:rPr spc="150" dirty="0"/>
              <a:t>/</a:t>
            </a:r>
            <a:r>
              <a:rPr spc="-55" dirty="0"/>
              <a:t> </a:t>
            </a:r>
            <a:r>
              <a:rPr spc="-35" dirty="0"/>
              <a:t>68</a:t>
            </a:r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153</TotalTime>
  <Words>3158</Words>
  <Application>Microsoft Office PowerPoint</Application>
  <PresentationFormat>Custom</PresentationFormat>
  <Paragraphs>416</Paragraphs>
  <Slides>70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7" baseType="lpstr">
      <vt:lpstr>Arial</vt:lpstr>
      <vt:lpstr>Arial MT</vt:lpstr>
      <vt:lpstr>Calibri</vt:lpstr>
      <vt:lpstr>Roboto</vt:lpstr>
      <vt:lpstr>Tahoma</vt:lpstr>
      <vt:lpstr>Trebuchet MS</vt:lpstr>
      <vt:lpstr>Office Theme</vt:lpstr>
      <vt:lpstr>PowerPoint Presentation</vt:lpstr>
      <vt:lpstr>PowerPoint Presentation</vt:lpstr>
      <vt:lpstr>Big Data Analytics </vt:lpstr>
      <vt:lpstr>Big Data Generation and Growth </vt:lpstr>
      <vt:lpstr>PowerPoint Presentation</vt:lpstr>
      <vt:lpstr>Big Data Generation and Growth </vt:lpstr>
      <vt:lpstr>PowerPoint Presentation</vt:lpstr>
      <vt:lpstr>PowerPoint Presentation</vt:lpstr>
      <vt:lpstr>What is Big Data </vt:lpstr>
      <vt:lpstr>Data Analytics </vt:lpstr>
      <vt:lpstr>PowerPoint Presentation</vt:lpstr>
      <vt:lpstr>Data Analytics: Then and Now </vt:lpstr>
      <vt:lpstr>Why is Big Data Analytics Important </vt:lpstr>
      <vt:lpstr>Why enterprises use Big Data Analytics </vt:lpstr>
      <vt:lpstr>What enterprises use Big Data Analytics for </vt:lpstr>
      <vt:lpstr>Industries Benefiting from Big Data Analytics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Big Data Analytics - Market </vt:lpstr>
      <vt:lpstr>PowerPoint Presentation</vt:lpstr>
      <vt:lpstr>PowerPoint Presentation</vt:lpstr>
      <vt:lpstr>PowerPoint Presentation</vt:lpstr>
      <vt:lpstr>Sources: Machine Generated Data </vt:lpstr>
      <vt:lpstr>Sources: People Generated Data </vt:lpstr>
      <vt:lpstr>Sources: Organization Generated Data </vt:lpstr>
      <vt:lpstr>PowerPoint Presentation</vt:lpstr>
      <vt:lpstr>The 5 V’s of Data</vt:lpstr>
      <vt:lpstr>PowerPoint Presentation</vt:lpstr>
      <vt:lpstr>Aspects of Big: The 5 V’s – Volume </vt:lpstr>
      <vt:lpstr>Aspects of Big: The 5 V’s – Velocity </vt:lpstr>
      <vt:lpstr>Aspects of Big: The 5 V’s – Variety </vt:lpstr>
      <vt:lpstr>Aspects of Big: The 5 V’s – Veracity </vt:lpstr>
      <vt:lpstr>Aspects of Big: The 5 V’s – Value </vt:lpstr>
      <vt:lpstr>5 Vs of Big Data: Value </vt:lpstr>
      <vt:lpstr>5 Vs of Big Data: Value </vt:lpstr>
      <vt:lpstr>PowerPoint Presentation</vt:lpstr>
      <vt:lpstr>PowerPoint Presentation</vt:lpstr>
      <vt:lpstr>PowerPoint Presentation</vt:lpstr>
      <vt:lpstr>Types of Data </vt:lpstr>
      <vt:lpstr>Types of Data: Text </vt:lpstr>
      <vt:lpstr>Types of Data: Multimedia </vt:lpstr>
      <vt:lpstr>Types of Data: Time Series </vt:lpstr>
      <vt:lpstr>Types of Data: Sequential Data </vt:lpstr>
      <vt:lpstr>Types of Data: Streams </vt:lpstr>
      <vt:lpstr>Types of Data: Graphs/Homogeneous Networks </vt:lpstr>
      <vt:lpstr>Types of Data: Heterogeneous Networks </vt:lpstr>
      <vt:lpstr>PowerPoint Presentation</vt:lpstr>
      <vt:lpstr>The Analytics Process </vt:lpstr>
      <vt:lpstr>The Analytics Process </vt:lpstr>
      <vt:lpstr>PowerPoint Presentation</vt:lpstr>
      <vt:lpstr>Data Analytics Tasks and Methods </vt:lpstr>
      <vt:lpstr>Data Analytics Tasks and Methods </vt:lpstr>
      <vt:lpstr>Data Analytics Taks </vt:lpstr>
      <vt:lpstr>Machine Learning for Data Analytics </vt:lpstr>
      <vt:lpstr>Machine Learning for Data Analytics </vt:lpstr>
      <vt:lpstr>Machine Learning for Data Analytics 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 Data Analytics: Introduction</dc:title>
  <dc:creator>Imdad ullah Khan</dc:creator>
  <cp:lastModifiedBy>Dr.Sahib</cp:lastModifiedBy>
  <cp:revision>3</cp:revision>
  <dcterms:created xsi:type="dcterms:W3CDTF">2026-01-10T10:09:13Z</dcterms:created>
  <dcterms:modified xsi:type="dcterms:W3CDTF">2026-01-10T13:09:33Z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2023-12-04T00:00:00Z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2026-01-10T00:00:00Z</vt:filetime>
  </property>
  <property fmtid="{D5CDD505-2E9C-101B-9397-08002B2CF9AE}" pid="5" name="PTEX.Fullbanner">
    <vt:lpwstr>This is MiKTeX-pdfTeX 4.16.0 (1.40.25)</vt:lpwstr>
  </property>
  <property fmtid="{D5CDD505-2E9C-101B-9397-08002B2CF9AE}" pid="6" name="Producer">
    <vt:lpwstr>MiKTeX pdfTeX-1.40.25</vt:lpwstr>
  </property>
</Properties>
</file>