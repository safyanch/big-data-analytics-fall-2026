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320" r:id="rId36"/>
    <p:sldId id="321" r:id="rId37"/>
    <p:sldId id="322" r:id="rId38"/>
    <p:sldId id="323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5" d="100"/>
          <a:sy n="155" d="100"/>
        </p:scale>
        <p:origin x="1502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314" y="97838"/>
            <a:ext cx="434947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 u="sng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 u="sng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 u="sng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 u="sng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314" y="97838"/>
            <a:ext cx="434947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 u="sng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36291" y="1197315"/>
            <a:ext cx="1940560" cy="7696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6905" y="3351784"/>
            <a:ext cx="106235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3803" y="3351784"/>
            <a:ext cx="2794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slide" Target="slide6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5579" y="101243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5579" y="125282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5579" y="149322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5579" y="173362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194872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2681" y="210055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5579" y="234095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2681" y="255605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1305" y="97838"/>
            <a:ext cx="4348480" cy="303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5145" algn="l"/>
              </a:tabLst>
            </a:pPr>
            <a:r>
              <a:rPr sz="1200" u="sng" spc="1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B</a:t>
            </a:r>
            <a:r>
              <a:rPr sz="1200" u="sng" cap="small" spc="1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ig</a:t>
            </a:r>
            <a:r>
              <a:rPr sz="1200" u="sng" cap="small" spc="11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</a:t>
            </a:r>
            <a:r>
              <a:rPr sz="1200" u="sng" cap="small" spc="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ata</a:t>
            </a:r>
            <a:r>
              <a:rPr sz="1200" u="sng" cap="small" spc="1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A</a:t>
            </a:r>
            <a:r>
              <a:rPr sz="1200" u="sng" cap="small" spc="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nalytics</a:t>
            </a:r>
            <a:r>
              <a:rPr sz="12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	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20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</a:pPr>
            <a:r>
              <a:rPr sz="1200" spc="190" dirty="0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sz="1200" cap="small" spc="190" dirty="0">
                <a:solidFill>
                  <a:srgbClr val="0000FF"/>
                </a:solidFill>
                <a:latin typeface="Calibri"/>
                <a:cs typeface="Calibri"/>
              </a:rPr>
              <a:t>etting</a:t>
            </a:r>
            <a:r>
              <a:rPr sz="1200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cap="small" spc="175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1200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180" dirty="0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sz="1200" cap="small" spc="180" dirty="0">
                <a:solidFill>
                  <a:srgbClr val="0000FF"/>
                </a:solidFill>
                <a:latin typeface="Calibri"/>
                <a:cs typeface="Calibri"/>
              </a:rPr>
              <a:t>now</a:t>
            </a:r>
            <a:r>
              <a:rPr sz="1200" spc="1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160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1200" cap="small" spc="160" dirty="0">
                <a:solidFill>
                  <a:srgbClr val="0000FF"/>
                </a:solidFill>
                <a:latin typeface="Calibri"/>
                <a:cs typeface="Calibri"/>
              </a:rPr>
              <a:t>ata</a:t>
            </a:r>
            <a:r>
              <a:rPr sz="1200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195" dirty="0">
                <a:solidFill>
                  <a:srgbClr val="0000FF"/>
                </a:solidFill>
                <a:latin typeface="Calibri"/>
                <a:cs typeface="Calibri"/>
              </a:rPr>
              <a:t>&amp;</a:t>
            </a:r>
            <a:r>
              <a:rPr sz="1200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185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1200" cap="small" spc="185" dirty="0">
                <a:solidFill>
                  <a:srgbClr val="0000FF"/>
                </a:solidFill>
                <a:latin typeface="Calibri"/>
                <a:cs typeface="Calibri"/>
              </a:rPr>
              <a:t>xploratory</a:t>
            </a:r>
            <a:r>
              <a:rPr sz="1200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155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1200" cap="small" spc="155" dirty="0">
                <a:solidFill>
                  <a:srgbClr val="0000FF"/>
                </a:solidFill>
                <a:latin typeface="Calibri"/>
                <a:cs typeface="Calibri"/>
              </a:rPr>
              <a:t>ata</a:t>
            </a:r>
            <a:r>
              <a:rPr sz="1200" spc="1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15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1200" cap="small" spc="150" dirty="0">
                <a:solidFill>
                  <a:srgbClr val="0000FF"/>
                </a:solidFill>
                <a:latin typeface="Calibri"/>
                <a:cs typeface="Calibri"/>
              </a:rPr>
              <a:t>nalysis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2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Tahoma"/>
                <a:cs typeface="Tahoma"/>
              </a:rPr>
              <a:t>EDA: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Purpose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&amp;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Benefits</a:t>
            </a:r>
            <a:endParaRPr sz="1000">
              <a:latin typeface="Tahoma"/>
              <a:cs typeface="Tahoma"/>
            </a:endParaRPr>
          </a:p>
          <a:p>
            <a:pPr marL="289560" marR="1903730">
              <a:lnSpc>
                <a:spcPct val="157700"/>
              </a:lnSpc>
            </a:pPr>
            <a:r>
              <a:rPr sz="1000" spc="-10" dirty="0">
                <a:latin typeface="Tahoma"/>
                <a:cs typeface="Tahoma"/>
              </a:rPr>
              <a:t>Size,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Dimension,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Resolution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 </a:t>
            </a:r>
            <a:r>
              <a:rPr sz="1000" spc="-30" dirty="0">
                <a:latin typeface="Tahoma"/>
                <a:cs typeface="Tahoma"/>
              </a:rPr>
              <a:t>Types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Attributes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90"/>
              </a:spcBef>
            </a:pPr>
            <a:r>
              <a:rPr sz="1000" spc="-10" dirty="0">
                <a:latin typeface="Tahoma"/>
                <a:cs typeface="Tahoma"/>
              </a:rPr>
              <a:t>Statistical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EDA</a:t>
            </a:r>
            <a:endParaRPr sz="1000">
              <a:latin typeface="Tahoma"/>
              <a:cs typeface="Tahoma"/>
            </a:endParaRPr>
          </a:p>
          <a:p>
            <a:pPr marL="566420" marR="1303655">
              <a:lnSpc>
                <a:spcPct val="100000"/>
              </a:lnSpc>
              <a:spcBef>
                <a:spcPts val="495"/>
              </a:spcBef>
            </a:pPr>
            <a:r>
              <a:rPr sz="1000" spc="-40" dirty="0">
                <a:latin typeface="Tahoma"/>
                <a:cs typeface="Tahoma"/>
              </a:rPr>
              <a:t>Measures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Central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Tendencies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Spread Bivariate</a:t>
            </a:r>
            <a:r>
              <a:rPr sz="1000" dirty="0">
                <a:latin typeface="Tahoma"/>
                <a:cs typeface="Tahoma"/>
              </a:rPr>
              <a:t> EDA: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Correlation,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Contingency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Table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90"/>
              </a:spcBef>
            </a:pPr>
            <a:r>
              <a:rPr sz="1000" spc="-20" dirty="0">
                <a:latin typeface="Tahoma"/>
                <a:cs typeface="Tahoma"/>
              </a:rPr>
              <a:t>Graphical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EDA</a:t>
            </a:r>
            <a:endParaRPr sz="100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490"/>
              </a:spcBef>
            </a:pPr>
            <a:r>
              <a:rPr sz="1000" spc="-30" dirty="0">
                <a:latin typeface="Tahoma"/>
                <a:cs typeface="Tahoma"/>
              </a:rPr>
              <a:t>Types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Diagrams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140" dirty="0">
                <a:latin typeface="Calibri"/>
                <a:cs typeface="Calibri"/>
              </a:rPr>
              <a:t>I</a:t>
            </a:r>
            <a:r>
              <a:rPr sz="1200" cap="small" spc="140" dirty="0">
                <a:latin typeface="Calibri"/>
                <a:cs typeface="Calibri"/>
              </a:rPr>
              <a:t>mdad</a:t>
            </a:r>
            <a:r>
              <a:rPr sz="1200" spc="195" dirty="0">
                <a:latin typeface="Calibri"/>
                <a:cs typeface="Calibri"/>
              </a:rPr>
              <a:t> </a:t>
            </a:r>
            <a:r>
              <a:rPr sz="1200" cap="small" spc="170" dirty="0">
                <a:latin typeface="Calibri"/>
                <a:cs typeface="Calibri"/>
              </a:rPr>
              <a:t>ullah</a:t>
            </a:r>
            <a:r>
              <a:rPr sz="1200" spc="200" dirty="0">
                <a:latin typeface="Calibri"/>
                <a:cs typeface="Calibri"/>
              </a:rPr>
              <a:t> </a:t>
            </a:r>
            <a:r>
              <a:rPr sz="1200" spc="180" dirty="0">
                <a:latin typeface="Calibri"/>
                <a:cs typeface="Calibri"/>
              </a:rPr>
              <a:t>K</a:t>
            </a:r>
            <a:r>
              <a:rPr sz="1200" cap="small" spc="180" dirty="0">
                <a:latin typeface="Calibri"/>
                <a:cs typeface="Calibri"/>
              </a:rPr>
              <a:t>han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45" dirty="0"/>
              <a:t>Exploratory</a:t>
            </a:r>
            <a:r>
              <a:rPr spc="-35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40" dirty="0"/>
              <a:t>Analysis</a:t>
            </a:r>
            <a:r>
              <a:rPr spc="-30" dirty="0"/>
              <a:t> </a:t>
            </a:r>
            <a:r>
              <a:rPr dirty="0"/>
              <a:t>(EDA):</a:t>
            </a:r>
            <a:r>
              <a:rPr spc="-30" dirty="0"/>
              <a:t> </a:t>
            </a:r>
            <a:r>
              <a:rPr spc="-45" dirty="0"/>
              <a:t>Purpose</a:t>
            </a:r>
            <a:r>
              <a:rPr spc="-30" dirty="0"/>
              <a:t> </a:t>
            </a:r>
            <a:r>
              <a:rPr spc="-60" dirty="0"/>
              <a:t>and</a:t>
            </a:r>
            <a:r>
              <a:rPr spc="-35" dirty="0"/>
              <a:t> </a:t>
            </a:r>
            <a:r>
              <a:rPr spc="-10" dirty="0"/>
              <a:t>Benefits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114815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55557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79091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202624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226159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266899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90433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1305" y="466076"/>
            <a:ext cx="4218305" cy="2540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EDA: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Initial</a:t>
            </a:r>
            <a:r>
              <a:rPr sz="1100" spc="-30" dirty="0">
                <a:latin typeface="Tahoma"/>
                <a:cs typeface="Tahoma"/>
              </a:rPr>
              <a:t> investigation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 </a:t>
            </a:r>
            <a:r>
              <a:rPr sz="1100" spc="-55" dirty="0">
                <a:latin typeface="Tahoma"/>
                <a:cs typeface="Tahoma"/>
              </a:rPr>
              <a:t>summary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statistics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30" dirty="0">
                <a:latin typeface="Tahoma"/>
                <a:cs typeface="Tahoma"/>
              </a:rPr>
              <a:t>diagrams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Objectives</a:t>
            </a:r>
            <a:r>
              <a:rPr sz="1100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EDA</a:t>
            </a:r>
            <a:r>
              <a:rPr sz="1100" spc="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are</a:t>
            </a:r>
            <a:r>
              <a:rPr sz="1100" spc="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endParaRPr sz="1100">
              <a:latin typeface="Tahoma"/>
              <a:cs typeface="Tahoma"/>
            </a:endParaRPr>
          </a:p>
          <a:p>
            <a:pPr marL="289560" marR="268605">
              <a:lnSpc>
                <a:spcPct val="102699"/>
              </a:lnSpc>
              <a:spcBef>
                <a:spcPts val="875"/>
              </a:spcBef>
            </a:pPr>
            <a:r>
              <a:rPr sz="1100" spc="-45" dirty="0">
                <a:latin typeface="Tahoma"/>
                <a:cs typeface="Tahoma"/>
              </a:rPr>
              <a:t>understand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(what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from,</a:t>
            </a:r>
            <a:r>
              <a:rPr sz="1100" spc="-20" dirty="0">
                <a:latin typeface="Tahoma"/>
                <a:cs typeface="Tahoma"/>
              </a:rPr>
              <a:t> what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 </a:t>
            </a:r>
            <a:r>
              <a:rPr sz="1100" spc="-50" dirty="0">
                <a:latin typeface="Tahoma"/>
                <a:cs typeface="Tahoma"/>
              </a:rPr>
              <a:t>represent,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kind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values,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specific</a:t>
            </a:r>
            <a:r>
              <a:rPr sz="1100" spc="-35" dirty="0">
                <a:latin typeface="Tahoma"/>
                <a:cs typeface="Tahoma"/>
              </a:rPr>
              <a:t> characteristics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data)</a:t>
            </a:r>
            <a:endParaRPr sz="1100">
              <a:latin typeface="Tahoma"/>
              <a:cs typeface="Tahoma"/>
            </a:endParaRPr>
          </a:p>
          <a:p>
            <a:pPr marL="289560" marR="332740">
              <a:lnSpc>
                <a:spcPct val="140400"/>
              </a:lnSpc>
            </a:pP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out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missing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values?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(how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them!) </a:t>
            </a:r>
            <a:r>
              <a:rPr sz="1100" spc="-10" dirty="0">
                <a:latin typeface="Tahoma"/>
                <a:cs typeface="Tahoma"/>
              </a:rPr>
              <a:t>spot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anomalies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outliers?)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530"/>
              </a:spcBef>
            </a:pPr>
            <a:r>
              <a:rPr sz="1100" spc="-40" dirty="0">
                <a:latin typeface="Tahoma"/>
                <a:cs typeface="Tahoma"/>
              </a:rPr>
              <a:t>discover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patterns</a:t>
            </a:r>
            <a:r>
              <a:rPr sz="1100" spc="-50" dirty="0">
                <a:latin typeface="Tahoma"/>
                <a:cs typeface="Tahoma"/>
              </a:rPr>
              <a:t> (how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look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like?)</a:t>
            </a:r>
            <a:endParaRPr sz="1100">
              <a:latin typeface="Tahoma"/>
              <a:cs typeface="Tahoma"/>
            </a:endParaRPr>
          </a:p>
          <a:p>
            <a:pPr marL="289560" marR="347345">
              <a:lnSpc>
                <a:spcPct val="102600"/>
              </a:lnSpc>
              <a:spcBef>
                <a:spcPts val="500"/>
              </a:spcBef>
            </a:pPr>
            <a:r>
              <a:rPr sz="1100" spc="-45" dirty="0">
                <a:latin typeface="Tahoma"/>
                <a:cs typeface="Tahoma"/>
              </a:rPr>
              <a:t>understand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relationships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features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(measure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similarity, </a:t>
            </a:r>
            <a:r>
              <a:rPr sz="1100" spc="-35" dirty="0">
                <a:latin typeface="Tahoma"/>
                <a:cs typeface="Tahoma"/>
              </a:rPr>
              <a:t>distance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relationship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type)</a:t>
            </a:r>
            <a:endParaRPr sz="1100">
              <a:latin typeface="Tahoma"/>
              <a:cs typeface="Tahoma"/>
            </a:endParaRPr>
          </a:p>
          <a:p>
            <a:pPr marL="289560" marR="2460625">
              <a:lnSpc>
                <a:spcPct val="140400"/>
              </a:lnSpc>
            </a:pPr>
            <a:r>
              <a:rPr sz="1100" spc="-30" dirty="0">
                <a:latin typeface="Tahoma"/>
                <a:cs typeface="Tahoma"/>
              </a:rPr>
              <a:t>check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assumptions </a:t>
            </a:r>
            <a:r>
              <a:rPr sz="1100" spc="-25" dirty="0">
                <a:latin typeface="Tahoma"/>
                <a:cs typeface="Tahoma"/>
              </a:rPr>
              <a:t>visually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describe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dirty="0"/>
              <a:t>EDA:</a:t>
            </a:r>
            <a:r>
              <a:rPr spc="-30" dirty="0"/>
              <a:t> </a:t>
            </a:r>
            <a:r>
              <a:rPr spc="-45" dirty="0"/>
              <a:t>Purpose</a:t>
            </a:r>
            <a:r>
              <a:rPr spc="-25" dirty="0"/>
              <a:t> </a:t>
            </a:r>
            <a:r>
              <a:rPr spc="-60" dirty="0"/>
              <a:t>and</a:t>
            </a:r>
            <a:r>
              <a:rPr spc="-25" dirty="0"/>
              <a:t> </a:t>
            </a:r>
            <a:r>
              <a:rPr spc="-10" dirty="0"/>
              <a:t>Benefits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206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05597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46339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05" y="466076"/>
            <a:ext cx="4344670" cy="1099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Preliminary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exploration and </a:t>
            </a:r>
            <a:r>
              <a:rPr sz="1100" spc="-30" dirty="0">
                <a:latin typeface="Tahoma"/>
                <a:cs typeface="Tahoma"/>
              </a:rPr>
              <a:t>inspection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essential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765"/>
              </a:spcBef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guides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preprocessing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steps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500"/>
              </a:spcBef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gives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clear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picture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sizes,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helps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selecting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right 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structures, </a:t>
            </a:r>
            <a:r>
              <a:rPr sz="1100" spc="-10" dirty="0">
                <a:latin typeface="Tahoma"/>
                <a:cs typeface="Tahoma"/>
              </a:rPr>
              <a:t>tools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spc="-65" dirty="0">
                <a:latin typeface="Tahoma"/>
                <a:cs typeface="Tahoma"/>
              </a:rPr>
              <a:t>even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modeling </a:t>
            </a:r>
            <a:r>
              <a:rPr sz="1100" spc="-10" dirty="0">
                <a:latin typeface="Tahoma"/>
                <a:cs typeface="Tahoma"/>
              </a:rPr>
              <a:t>strategies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530"/>
              </a:spcBef>
            </a:pPr>
            <a:r>
              <a:rPr sz="1100" spc="-10" dirty="0">
                <a:latin typeface="Tahoma"/>
                <a:cs typeface="Tahoma"/>
              </a:rPr>
              <a:t>Could</a:t>
            </a:r>
            <a:r>
              <a:rPr sz="1100" spc="-35" dirty="0">
                <a:latin typeface="Tahoma"/>
                <a:cs typeface="Tahoma"/>
              </a:rPr>
              <a:t> help </a:t>
            </a:r>
            <a:r>
              <a:rPr sz="1100" spc="-50" dirty="0">
                <a:latin typeface="Tahoma"/>
                <a:cs typeface="Tahoma"/>
              </a:rPr>
              <a:t>reduce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sizes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(dimensions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records)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447" y="1730742"/>
            <a:ext cx="2729074" cy="129398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dirty="0"/>
              <a:t>Data</a:t>
            </a:r>
            <a:r>
              <a:rPr spc="-50" dirty="0"/>
              <a:t> </a:t>
            </a:r>
            <a:r>
              <a:rPr spc="-40" dirty="0"/>
              <a:t>object</a:t>
            </a:r>
            <a:r>
              <a:rPr spc="-45" dirty="0"/>
              <a:t> </a:t>
            </a:r>
            <a:r>
              <a:rPr spc="-60" dirty="0"/>
              <a:t>and</a:t>
            </a:r>
            <a:r>
              <a:rPr spc="-35" dirty="0"/>
              <a:t> </a:t>
            </a:r>
            <a:r>
              <a:rPr spc="-10" dirty="0"/>
              <a:t>Attribute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163715" y="81150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3715" y="10468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3715" y="128217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3715" y="151751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3715" y="212045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3715" y="23557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3715" y="259113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1305" y="376578"/>
            <a:ext cx="4347210" cy="248920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r>
              <a:rPr sz="1100" b="1" spc="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object</a:t>
            </a:r>
            <a:endParaRPr sz="1100">
              <a:latin typeface="Arial"/>
              <a:cs typeface="Arial"/>
            </a:endParaRPr>
          </a:p>
          <a:p>
            <a:pPr marL="163195">
              <a:lnSpc>
                <a:spcPct val="100000"/>
              </a:lnSpc>
              <a:spcBef>
                <a:spcPts val="695"/>
              </a:spcBef>
            </a:pPr>
            <a:r>
              <a:rPr sz="1100" spc="-55" dirty="0">
                <a:latin typeface="Tahoma"/>
                <a:cs typeface="Tahoma"/>
              </a:rPr>
              <a:t>represents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entity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set</a:t>
            </a:r>
            <a:endParaRPr sz="1100">
              <a:latin typeface="Tahoma"/>
              <a:cs typeface="Tahoma"/>
            </a:endParaRPr>
          </a:p>
          <a:p>
            <a:pPr marL="163195">
              <a:lnSpc>
                <a:spcPct val="100000"/>
              </a:lnSpc>
              <a:spcBef>
                <a:spcPts val="530"/>
              </a:spcBef>
            </a:pPr>
            <a:r>
              <a:rPr sz="1100" spc="-40" dirty="0">
                <a:latin typeface="Tahoma"/>
                <a:cs typeface="Tahoma"/>
              </a:rPr>
              <a:t>also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called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item,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point,</a:t>
            </a:r>
            <a:r>
              <a:rPr sz="1100" spc="-35" dirty="0">
                <a:latin typeface="Tahoma"/>
                <a:cs typeface="Tahoma"/>
              </a:rPr>
              <a:t> instance, </a:t>
            </a:r>
            <a:r>
              <a:rPr sz="1100" spc="-55" dirty="0">
                <a:latin typeface="Tahoma"/>
                <a:cs typeface="Tahoma"/>
              </a:rPr>
              <a:t>example,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sample,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row,</a:t>
            </a:r>
            <a:r>
              <a:rPr sz="1100" spc="-30" dirty="0">
                <a:latin typeface="Tahoma"/>
                <a:cs typeface="Tahoma"/>
              </a:rPr>
              <a:t> observation</a:t>
            </a:r>
            <a:endParaRPr sz="1100">
              <a:latin typeface="Tahoma"/>
              <a:cs typeface="Tahoma"/>
            </a:endParaRPr>
          </a:p>
          <a:p>
            <a:pPr marL="163195" marR="548640">
              <a:lnSpc>
                <a:spcPct val="140400"/>
              </a:lnSpc>
            </a:pPr>
            <a:r>
              <a:rPr sz="1100" spc="-25" dirty="0">
                <a:latin typeface="Tahoma"/>
                <a:cs typeface="Tahoma"/>
              </a:rPr>
              <a:t>e.g.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patient,</a:t>
            </a:r>
            <a:r>
              <a:rPr sz="1100" spc="-40" dirty="0">
                <a:latin typeface="Tahoma"/>
                <a:cs typeface="Tahoma"/>
              </a:rPr>
              <a:t> movie, </a:t>
            </a:r>
            <a:r>
              <a:rPr sz="1100" spc="-35" dirty="0">
                <a:latin typeface="Tahoma"/>
                <a:cs typeface="Tahoma"/>
              </a:rPr>
              <a:t>student,</a:t>
            </a:r>
            <a:r>
              <a:rPr sz="1100" spc="-40" dirty="0">
                <a:latin typeface="Tahoma"/>
                <a:cs typeface="Tahoma"/>
              </a:rPr>
              <a:t> customer, </a:t>
            </a:r>
            <a:r>
              <a:rPr sz="1100" spc="-30" dirty="0">
                <a:latin typeface="Tahoma"/>
                <a:cs typeface="Tahoma"/>
              </a:rPr>
              <a:t>product,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book,</a:t>
            </a:r>
            <a:r>
              <a:rPr sz="1100" spc="-40" dirty="0">
                <a:latin typeface="Tahoma"/>
                <a:cs typeface="Tahoma"/>
              </a:rPr>
              <a:t> tweet </a:t>
            </a:r>
            <a:r>
              <a:rPr sz="1100" spc="-45" dirty="0">
                <a:latin typeface="Tahoma"/>
                <a:cs typeface="Tahoma"/>
              </a:rPr>
              <a:t>described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Attribute</a:t>
            </a:r>
            <a:endParaRPr sz="1100">
              <a:latin typeface="Arial"/>
              <a:cs typeface="Arial"/>
            </a:endParaRPr>
          </a:p>
          <a:p>
            <a:pPr marL="163195" marR="309245">
              <a:lnSpc>
                <a:spcPct val="140400"/>
              </a:lnSpc>
              <a:spcBef>
                <a:spcPts val="160"/>
              </a:spcBef>
            </a:pP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field,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representing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feature/characteristic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objects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variable,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feature,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dimension,</a:t>
            </a:r>
            <a:r>
              <a:rPr sz="1100" spc="-30" dirty="0">
                <a:latin typeface="Tahoma"/>
                <a:cs typeface="Tahoma"/>
              </a:rPr>
              <a:t> column,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coordinate,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field</a:t>
            </a:r>
            <a:endParaRPr sz="1100">
              <a:latin typeface="Tahoma"/>
              <a:cs typeface="Tahoma"/>
            </a:endParaRPr>
          </a:p>
          <a:p>
            <a:pPr marL="289560" marR="106680" indent="-127000">
              <a:lnSpc>
                <a:spcPct val="102600"/>
              </a:lnSpc>
              <a:spcBef>
                <a:spcPts val="500"/>
              </a:spcBef>
            </a:pPr>
            <a:r>
              <a:rPr sz="1100" spc="-25" dirty="0">
                <a:latin typeface="Tahoma"/>
                <a:cs typeface="Tahoma"/>
              </a:rPr>
              <a:t>e.g.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reaction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test,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genre/director,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course,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address,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price/category, </a:t>
            </a:r>
            <a:r>
              <a:rPr sz="1100" spc="-35" dirty="0">
                <a:latin typeface="Tahoma"/>
                <a:cs typeface="Tahoma"/>
              </a:rPr>
              <a:t>author,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publisher,</a:t>
            </a:r>
            <a:r>
              <a:rPr sz="1100" spc="-20" dirty="0">
                <a:latin typeface="Tahoma"/>
                <a:cs typeface="Tahoma"/>
              </a:rPr>
              <a:t> word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20" dirty="0"/>
              <a:t>Size</a:t>
            </a:r>
            <a:r>
              <a:rPr spc="-75" dirty="0"/>
              <a:t> </a:t>
            </a:r>
            <a:r>
              <a:rPr spc="-60" dirty="0"/>
              <a:t>and</a:t>
            </a:r>
            <a:r>
              <a:rPr spc="-35" dirty="0"/>
              <a:t> </a:t>
            </a:r>
            <a:r>
              <a:rPr spc="-65" dirty="0"/>
              <a:t>dimensions</a:t>
            </a:r>
            <a:r>
              <a:rPr spc="-3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183066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207864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232664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255483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305" y="368818"/>
            <a:ext cx="4124325" cy="228028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Size</a:t>
            </a:r>
            <a:r>
              <a:rPr sz="1100" b="1" spc="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100" b="1" spc="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r>
              <a:rPr sz="1100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refers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number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objects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b="1" spc="-40" dirty="0">
                <a:solidFill>
                  <a:srgbClr val="0000FF"/>
                </a:solidFill>
                <a:latin typeface="Arial"/>
                <a:cs typeface="Arial"/>
              </a:rPr>
              <a:t>Dimension</a:t>
            </a:r>
            <a:r>
              <a:rPr sz="1100" b="1" spc="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100" b="1" spc="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r>
              <a:rPr sz="1100" b="1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refers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number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b="1" spc="-45" dirty="0">
                <a:solidFill>
                  <a:srgbClr val="0000FF"/>
                </a:solidFill>
                <a:latin typeface="Arial"/>
                <a:cs typeface="Arial"/>
              </a:rPr>
              <a:t>Sparsity</a:t>
            </a:r>
            <a:r>
              <a:rPr sz="11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1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most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feature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missing,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sparse</a:t>
            </a:r>
            <a:endParaRPr sz="1100">
              <a:latin typeface="Tahoma"/>
              <a:cs typeface="Tahoma"/>
            </a:endParaRPr>
          </a:p>
          <a:p>
            <a:pPr marL="289560" marR="603250">
              <a:lnSpc>
                <a:spcPct val="147900"/>
              </a:lnSpc>
              <a:spcBef>
                <a:spcPts val="425"/>
              </a:spcBef>
            </a:pPr>
            <a:r>
              <a:rPr sz="1100" spc="-10" dirty="0">
                <a:latin typeface="Tahoma"/>
                <a:cs typeface="Tahoma"/>
              </a:rPr>
              <a:t>Missing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could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represented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NaN,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blank,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-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0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could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 </a:t>
            </a:r>
            <a:r>
              <a:rPr sz="1100" spc="-10" dirty="0">
                <a:latin typeface="Tahoma"/>
                <a:cs typeface="Tahoma"/>
              </a:rPr>
              <a:t>statistical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methods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3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efficient computation,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libraries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sparse</a:t>
            </a:r>
            <a:r>
              <a:rPr sz="1100" spc="-20" dirty="0">
                <a:latin typeface="Tahoma"/>
                <a:cs typeface="Tahoma"/>
              </a:rPr>
              <a:t> data</a:t>
            </a:r>
            <a:endParaRPr sz="110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535"/>
              </a:spcBef>
            </a:pPr>
            <a:r>
              <a:rPr sz="1000" spc="-10" dirty="0">
                <a:latin typeface="Tahoma"/>
                <a:cs typeface="Tahoma"/>
              </a:rPr>
              <a:t>e.g.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sparse</a:t>
            </a:r>
            <a:r>
              <a:rPr sz="1000" spc="-10" dirty="0">
                <a:latin typeface="Tahoma"/>
                <a:cs typeface="Tahoma"/>
              </a:rPr>
              <a:t> matrix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multiplication,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sparse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storage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schemes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45" dirty="0"/>
              <a:t>Resolution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5722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0521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35319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05" y="466076"/>
            <a:ext cx="3585845" cy="989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Different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resolution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reveal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patterns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47900"/>
              </a:lnSpc>
              <a:spcBef>
                <a:spcPts val="420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resolution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fine,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pattern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buried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noise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resolution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coarse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pattern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disappear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35"/>
              </a:spcBef>
            </a:pP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bins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histograms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below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44" y="1606209"/>
            <a:ext cx="4083896" cy="136263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5722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0521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35319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05" y="466076"/>
            <a:ext cx="2879725" cy="989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0" dirty="0">
                <a:solidFill>
                  <a:srgbClr val="0000FF"/>
                </a:solidFill>
                <a:latin typeface="Arial"/>
                <a:cs typeface="Arial"/>
              </a:rPr>
              <a:t>Types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of data </a:t>
            </a:r>
            <a:r>
              <a:rPr sz="1100" b="1" spc="-55" dirty="0">
                <a:solidFill>
                  <a:srgbClr val="0000FF"/>
                </a:solidFill>
                <a:latin typeface="Arial"/>
                <a:cs typeface="Arial"/>
              </a:rPr>
              <a:t>based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number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of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attributes</a:t>
            </a:r>
            <a:endParaRPr sz="1100">
              <a:latin typeface="Arial"/>
              <a:cs typeface="Arial"/>
            </a:endParaRPr>
          </a:p>
          <a:p>
            <a:pPr marL="289560" marR="1557655">
              <a:lnSpc>
                <a:spcPct val="147900"/>
              </a:lnSpc>
              <a:spcBef>
                <a:spcPts val="420"/>
              </a:spcBef>
            </a:pPr>
            <a:r>
              <a:rPr sz="1100" spc="-25" dirty="0">
                <a:latin typeface="Tahoma"/>
                <a:cs typeface="Tahoma"/>
              </a:rPr>
              <a:t>Univariate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10" dirty="0">
                <a:latin typeface="Tahoma"/>
                <a:cs typeface="Tahoma"/>
              </a:rPr>
              <a:t>Bivariate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10" dirty="0">
                <a:latin typeface="Tahoma"/>
                <a:cs typeface="Tahoma"/>
              </a:rPr>
              <a:t>Multivariate</a:t>
            </a:r>
            <a:r>
              <a:rPr sz="1100" spc="-20" dirty="0">
                <a:latin typeface="Tahoma"/>
                <a:cs typeface="Tahoma"/>
              </a:rPr>
              <a:t> Data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5741" y="960920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5741" y="1168844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45741" y="1345971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45741" y="1523111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45741" y="1700250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45741" y="1877377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45741" y="2054517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45741" y="2231656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45741" y="2470366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2681" y="267188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2681" y="291515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8393" y="504023"/>
            <a:ext cx="3883660" cy="25057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Univariate:</a:t>
            </a:r>
            <a:r>
              <a:rPr sz="1100" b="1" spc="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Consists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45" dirty="0">
                <a:latin typeface="Tahoma"/>
                <a:cs typeface="Tahoma"/>
              </a:rPr>
              <a:t> one </a:t>
            </a:r>
            <a:r>
              <a:rPr sz="1100" spc="-35" dirty="0">
                <a:latin typeface="Tahoma"/>
                <a:cs typeface="Tahoma"/>
              </a:rPr>
              <a:t>feature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observation.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Analysis </a:t>
            </a:r>
            <a:r>
              <a:rPr sz="1100" spc="-50" dirty="0">
                <a:latin typeface="Tahoma"/>
                <a:cs typeface="Tahoma"/>
              </a:rPr>
              <a:t>deals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45" dirty="0">
                <a:latin typeface="Tahoma"/>
                <a:cs typeface="Tahoma"/>
              </a:rPr>
              <a:t> 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quantity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changes</a:t>
            </a:r>
            <a:endParaRPr sz="1100">
              <a:latin typeface="Tahoma"/>
              <a:cs typeface="Tahoma"/>
            </a:endParaRPr>
          </a:p>
          <a:p>
            <a:pPr marL="185420" algn="ctr">
              <a:lnSpc>
                <a:spcPct val="100000"/>
              </a:lnSpc>
              <a:spcBef>
                <a:spcPts val="700"/>
              </a:spcBef>
            </a:pPr>
            <a:r>
              <a:rPr sz="1100" b="1" spc="-20" dirty="0">
                <a:latin typeface="Arial"/>
                <a:cs typeface="Arial"/>
              </a:rPr>
              <a:t>Heights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(cm)</a:t>
            </a:r>
            <a:endParaRPr sz="1100">
              <a:latin typeface="Arial"/>
              <a:cs typeface="Arial"/>
            </a:endParaRPr>
          </a:p>
          <a:p>
            <a:pPr marL="184785" algn="ctr">
              <a:lnSpc>
                <a:spcPct val="100000"/>
              </a:lnSpc>
              <a:spcBef>
                <a:spcPts val="315"/>
              </a:spcBef>
            </a:pPr>
            <a:r>
              <a:rPr sz="1100" spc="-25" dirty="0">
                <a:latin typeface="Tahoma"/>
                <a:cs typeface="Tahoma"/>
              </a:rPr>
              <a:t>164</a:t>
            </a:r>
            <a:endParaRPr sz="1100">
              <a:latin typeface="Tahoma"/>
              <a:cs typeface="Tahoma"/>
            </a:endParaRPr>
          </a:p>
          <a:p>
            <a:pPr marL="184785" algn="ctr">
              <a:lnSpc>
                <a:spcPct val="100000"/>
              </a:lnSpc>
              <a:spcBef>
                <a:spcPts val="75"/>
              </a:spcBef>
            </a:pPr>
            <a:r>
              <a:rPr sz="1100" spc="-10" dirty="0">
                <a:latin typeface="Tahoma"/>
                <a:cs typeface="Tahoma"/>
              </a:rPr>
              <a:t>167</a:t>
            </a:r>
            <a:r>
              <a:rPr sz="1100" spc="-10" dirty="0">
                <a:latin typeface="Lucida Sans Unicode"/>
                <a:cs typeface="Lucida Sans Unicode"/>
              </a:rPr>
              <a:t>.</a:t>
            </a:r>
            <a:r>
              <a:rPr sz="1100" spc="-10" dirty="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  <a:p>
            <a:pPr marL="184785" algn="ctr">
              <a:lnSpc>
                <a:spcPct val="100000"/>
              </a:lnSpc>
              <a:spcBef>
                <a:spcPts val="75"/>
              </a:spcBef>
            </a:pPr>
            <a:r>
              <a:rPr sz="1100" spc="-25" dirty="0">
                <a:latin typeface="Tahoma"/>
                <a:cs typeface="Tahoma"/>
              </a:rPr>
              <a:t>170</a:t>
            </a:r>
            <a:endParaRPr sz="1100">
              <a:latin typeface="Tahoma"/>
              <a:cs typeface="Tahoma"/>
            </a:endParaRPr>
          </a:p>
          <a:p>
            <a:pPr marL="184785" algn="ctr">
              <a:lnSpc>
                <a:spcPct val="100000"/>
              </a:lnSpc>
              <a:spcBef>
                <a:spcPts val="75"/>
              </a:spcBef>
            </a:pPr>
            <a:r>
              <a:rPr sz="1100" spc="-10" dirty="0">
                <a:latin typeface="Tahoma"/>
                <a:cs typeface="Tahoma"/>
              </a:rPr>
              <a:t>174</a:t>
            </a:r>
            <a:r>
              <a:rPr sz="1100" spc="-10" dirty="0">
                <a:latin typeface="Lucida Sans Unicode"/>
                <a:cs typeface="Lucida Sans Unicode"/>
              </a:rPr>
              <a:t>.</a:t>
            </a:r>
            <a:r>
              <a:rPr sz="1100" spc="-10" dirty="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  <a:p>
            <a:pPr marL="184785" algn="ctr">
              <a:lnSpc>
                <a:spcPct val="100000"/>
              </a:lnSpc>
              <a:spcBef>
                <a:spcPts val="75"/>
              </a:spcBef>
            </a:pPr>
            <a:r>
              <a:rPr sz="1100" spc="-25" dirty="0">
                <a:latin typeface="Tahoma"/>
                <a:cs typeface="Tahoma"/>
              </a:rPr>
              <a:t>178</a:t>
            </a:r>
            <a:endParaRPr sz="1100">
              <a:latin typeface="Tahoma"/>
              <a:cs typeface="Tahoma"/>
            </a:endParaRPr>
          </a:p>
          <a:p>
            <a:pPr marL="184785" algn="ctr">
              <a:lnSpc>
                <a:spcPct val="100000"/>
              </a:lnSpc>
              <a:spcBef>
                <a:spcPts val="75"/>
              </a:spcBef>
            </a:pPr>
            <a:r>
              <a:rPr sz="1100" spc="-25" dirty="0">
                <a:latin typeface="Tahoma"/>
                <a:cs typeface="Tahoma"/>
              </a:rPr>
              <a:t>180</a:t>
            </a:r>
            <a:endParaRPr sz="1100">
              <a:latin typeface="Tahoma"/>
              <a:cs typeface="Tahoma"/>
            </a:endParaRPr>
          </a:p>
          <a:p>
            <a:pPr marL="184785" algn="ctr">
              <a:lnSpc>
                <a:spcPct val="100000"/>
              </a:lnSpc>
              <a:spcBef>
                <a:spcPts val="75"/>
              </a:spcBef>
            </a:pPr>
            <a:r>
              <a:rPr sz="1100" spc="-25" dirty="0">
                <a:latin typeface="Tahoma"/>
                <a:cs typeface="Tahoma"/>
              </a:rPr>
              <a:t>186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</a:pPr>
            <a:r>
              <a:rPr sz="1000" dirty="0">
                <a:latin typeface="Tahoma"/>
                <a:cs typeface="Tahoma"/>
              </a:rPr>
              <a:t>What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average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height?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715"/>
              </a:spcBef>
            </a:pPr>
            <a:r>
              <a:rPr sz="1000" spc="-10" dirty="0">
                <a:latin typeface="Tahoma"/>
                <a:cs typeface="Tahoma"/>
              </a:rPr>
              <a:t>How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much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40" dirty="0">
                <a:latin typeface="Tahoma"/>
                <a:cs typeface="Tahoma"/>
              </a:rPr>
              <a:t> values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deviate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form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average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height?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06753"/>
            <a:ext cx="3871595" cy="7245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Bivariate:</a:t>
            </a:r>
            <a:r>
              <a:rPr sz="1100" b="1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Involves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5" dirty="0">
                <a:latin typeface="Tahoma"/>
                <a:cs typeface="Tahoma"/>
              </a:rPr>
              <a:t> different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features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per </a:t>
            </a:r>
            <a:r>
              <a:rPr sz="1100" spc="-10" dirty="0">
                <a:latin typeface="Tahoma"/>
                <a:cs typeface="Tahoma"/>
              </a:rPr>
              <a:t>observation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720"/>
              </a:spcBef>
            </a:pPr>
            <a:r>
              <a:rPr sz="1100" spc="-25" dirty="0">
                <a:latin typeface="Tahoma"/>
                <a:cs typeface="Tahoma"/>
              </a:rPr>
              <a:t>Analysis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type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deals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comparisons,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relationships, </a:t>
            </a:r>
            <a:r>
              <a:rPr sz="1100" spc="-65" dirty="0">
                <a:latin typeface="Tahoma"/>
                <a:cs typeface="Tahoma"/>
              </a:rPr>
              <a:t>causes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explanations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15161" y="1262392"/>
          <a:ext cx="2454910" cy="94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2700"/>
                <a:gridCol w="1172210"/>
              </a:tblGrid>
              <a:tr h="207645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20" dirty="0">
                          <a:latin typeface="Arial"/>
                          <a:cs typeface="Arial"/>
                        </a:rPr>
                        <a:t>Temperature</a:t>
                      </a:r>
                      <a:r>
                        <a:rPr sz="1100" b="1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1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25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C)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Ice</a:t>
                      </a:r>
                      <a:r>
                        <a:rPr sz="11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Cream</a:t>
                      </a:r>
                      <a:r>
                        <a:rPr sz="11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Sales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20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2000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25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2500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35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5000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43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7800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572681" y="241819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5482" y="2335204"/>
            <a:ext cx="323532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Are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temperature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cream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sales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related/dependent? </a:t>
            </a:r>
            <a:r>
              <a:rPr sz="1000" dirty="0">
                <a:latin typeface="Tahoma"/>
                <a:cs typeface="Tahoma"/>
              </a:rPr>
              <a:t>As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temperature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0000FF"/>
                </a:solidFill>
                <a:latin typeface="Tahoma"/>
                <a:cs typeface="Tahoma"/>
              </a:rPr>
              <a:t>increases</a:t>
            </a:r>
            <a:r>
              <a:rPr sz="1000" spc="-45" dirty="0">
                <a:latin typeface="Tahoma"/>
                <a:cs typeface="Tahoma"/>
              </a:rPr>
              <a:t>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sales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also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Tahoma"/>
                <a:cs typeface="Tahoma"/>
              </a:rPr>
              <a:t>increases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2681" y="257002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06753"/>
            <a:ext cx="4050029" cy="98806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Multivariate:</a:t>
            </a:r>
            <a:r>
              <a:rPr sz="1100" b="1" spc="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Objects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described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2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features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them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predictive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certain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outcome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72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predictive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independent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outcome</a:t>
            </a:r>
            <a:r>
              <a:rPr sz="1100" spc="-25" dirty="0">
                <a:latin typeface="Tahoma"/>
                <a:cs typeface="Tahoma"/>
              </a:rPr>
              <a:t> is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dependent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78777" y="1639785"/>
          <a:ext cx="3609972" cy="131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945"/>
                <a:gridCol w="527049"/>
                <a:gridCol w="515619"/>
                <a:gridCol w="577214"/>
                <a:gridCol w="793750"/>
                <a:gridCol w="493395"/>
              </a:tblGrid>
              <a:tr h="18478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Roll </a:t>
                      </a:r>
                      <a:r>
                        <a:rPr sz="1000" b="1" spc="-25" dirty="0">
                          <a:latin typeface="Arial"/>
                          <a:cs typeface="Arial"/>
                        </a:rPr>
                        <a:t>Num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CS100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SS101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MT200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MGMT240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Major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36830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19100115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CS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36830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40" dirty="0">
                          <a:latin typeface="Tahoma"/>
                          <a:cs typeface="Tahoma"/>
                        </a:rPr>
                        <a:t>PHY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36830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CS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36830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EE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36830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CS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36830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19100133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40" dirty="0">
                          <a:latin typeface="Tahoma"/>
                          <a:cs typeface="Tahoma"/>
                        </a:rPr>
                        <a:t>PHY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marR="36830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19100135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Maths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21930"/>
            <a:ext cx="4472940" cy="777875"/>
            <a:chOff x="93204" y="1021930"/>
            <a:chExt cx="4472940" cy="777875"/>
          </a:xfrm>
        </p:grpSpPr>
        <p:sp>
          <p:nvSpPr>
            <p:cNvPr id="3" name="object 3"/>
            <p:cNvSpPr/>
            <p:nvPr/>
          </p:nvSpPr>
          <p:spPr>
            <a:xfrm>
              <a:off x="93204" y="1021930"/>
              <a:ext cx="4422140" cy="82550"/>
            </a:xfrm>
            <a:custGeom>
              <a:avLst/>
              <a:gdLst/>
              <a:ahLst/>
              <a:cxnLst/>
              <a:rect l="l" t="t" r="r" b="b"/>
              <a:pathLst>
                <a:path w="4422140" h="82550">
                  <a:moveTo>
                    <a:pt x="437085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21658" y="82384"/>
                  </a:lnTo>
                  <a:lnTo>
                    <a:pt x="4421658" y="50800"/>
                  </a:lnTo>
                  <a:lnTo>
                    <a:pt x="4417649" y="31075"/>
                  </a:lnTo>
                  <a:lnTo>
                    <a:pt x="4406735" y="14922"/>
                  </a:lnTo>
                  <a:lnTo>
                    <a:pt x="4390582" y="4008"/>
                  </a:lnTo>
                  <a:lnTo>
                    <a:pt x="43708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085189"/>
              <a:ext cx="4422140" cy="715010"/>
            </a:xfrm>
            <a:custGeom>
              <a:avLst/>
              <a:gdLst/>
              <a:ahLst/>
              <a:cxnLst/>
              <a:rect l="l" t="t" r="r" b="b"/>
              <a:pathLst>
                <a:path w="4422140" h="715010">
                  <a:moveTo>
                    <a:pt x="4421658" y="0"/>
                  </a:moveTo>
                  <a:lnTo>
                    <a:pt x="0" y="0"/>
                  </a:lnTo>
                  <a:lnTo>
                    <a:pt x="0" y="714554"/>
                  </a:lnTo>
                  <a:lnTo>
                    <a:pt x="4421658" y="714554"/>
                  </a:lnTo>
                  <a:lnTo>
                    <a:pt x="44216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66352"/>
              <a:ext cx="4422140" cy="682625"/>
            </a:xfrm>
            <a:custGeom>
              <a:avLst/>
              <a:gdLst/>
              <a:ahLst/>
              <a:cxnLst/>
              <a:rect l="l" t="t" r="r" b="b"/>
              <a:pathLst>
                <a:path w="4422140" h="682625">
                  <a:moveTo>
                    <a:pt x="4421658" y="0"/>
                  </a:moveTo>
                  <a:lnTo>
                    <a:pt x="0" y="0"/>
                  </a:lnTo>
                  <a:lnTo>
                    <a:pt x="0" y="631789"/>
                  </a:lnTo>
                  <a:lnTo>
                    <a:pt x="4008" y="651514"/>
                  </a:lnTo>
                  <a:lnTo>
                    <a:pt x="14922" y="667667"/>
                  </a:lnTo>
                  <a:lnTo>
                    <a:pt x="31075" y="678581"/>
                  </a:lnTo>
                  <a:lnTo>
                    <a:pt x="50800" y="682590"/>
                  </a:lnTo>
                  <a:lnTo>
                    <a:pt x="4370857" y="682590"/>
                  </a:lnTo>
                  <a:lnTo>
                    <a:pt x="4390582" y="678581"/>
                  </a:lnTo>
                  <a:lnTo>
                    <a:pt x="4406735" y="667667"/>
                  </a:lnTo>
                  <a:lnTo>
                    <a:pt x="4417649" y="651514"/>
                  </a:lnTo>
                  <a:lnTo>
                    <a:pt x="4421658" y="631789"/>
                  </a:lnTo>
                  <a:lnTo>
                    <a:pt x="4421658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005" y="1085189"/>
            <a:ext cx="4422140" cy="71501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143000">
              <a:lnSpc>
                <a:spcPct val="100000"/>
              </a:lnSpc>
              <a:spcBef>
                <a:spcPts val="930"/>
              </a:spcBef>
            </a:pPr>
            <a:r>
              <a:rPr sz="2050" u="none" spc="-130" dirty="0"/>
              <a:t>Types</a:t>
            </a:r>
            <a:r>
              <a:rPr sz="2050" u="none" spc="-30" dirty="0"/>
              <a:t> </a:t>
            </a:r>
            <a:r>
              <a:rPr sz="2050" u="none" spc="-50" dirty="0"/>
              <a:t>of</a:t>
            </a:r>
            <a:r>
              <a:rPr sz="2050" u="none" spc="-100" dirty="0"/>
              <a:t> </a:t>
            </a:r>
            <a:r>
              <a:rPr sz="2050" u="none" spc="-10" dirty="0"/>
              <a:t>Attributes</a:t>
            </a:r>
            <a:endParaRPr sz="2050"/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97838"/>
            <a:ext cx="43484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5145" algn="l"/>
              </a:tabLst>
            </a:pPr>
            <a:r>
              <a:rPr sz="1200" u="sng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Types</a:t>
            </a:r>
            <a:r>
              <a:rPr sz="12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of</a:t>
            </a:r>
            <a:r>
              <a:rPr sz="1200" u="sng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Attributes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	</a:t>
            </a:r>
            <a:endParaRPr sz="12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66342" y="571588"/>
          <a:ext cx="2632709" cy="131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945"/>
                <a:gridCol w="563880"/>
                <a:gridCol w="494664"/>
                <a:gridCol w="378460"/>
                <a:gridCol w="492760"/>
              </a:tblGrid>
              <a:tr h="18478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Roll </a:t>
                      </a:r>
                      <a:r>
                        <a:rPr sz="1000" b="1" spc="-25" dirty="0">
                          <a:latin typeface="Arial"/>
                          <a:cs typeface="Arial"/>
                        </a:rPr>
                        <a:t>Num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Gender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Grade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b="1" spc="-25" dirty="0">
                          <a:latin typeface="Arial"/>
                          <a:cs typeface="Arial"/>
                        </a:rPr>
                        <a:t>Age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Major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19100115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Male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23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CS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Male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22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40" dirty="0">
                          <a:latin typeface="Tahoma"/>
                          <a:cs typeface="Tahoma"/>
                        </a:rPr>
                        <a:t>PHY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Female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21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CS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Male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19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EE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19100127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Female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10" dirty="0">
                          <a:latin typeface="Tahoma"/>
                          <a:cs typeface="Tahoma"/>
                        </a:rPr>
                        <a:t>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21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CS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19100133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Female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20" dirty="0">
                          <a:latin typeface="Tahoma"/>
                          <a:cs typeface="Tahoma"/>
                        </a:rPr>
                        <a:t>B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40" dirty="0">
                          <a:latin typeface="Tahoma"/>
                          <a:cs typeface="Tahoma"/>
                        </a:rPr>
                        <a:t>PHY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19100135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Male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22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Maths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" y="222945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8393" y="2058045"/>
            <a:ext cx="1842135" cy="769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900"/>
              </a:lnSpc>
              <a:spcBef>
                <a:spcPts val="100"/>
              </a:spcBef>
            </a:pPr>
            <a:r>
              <a:rPr sz="1100" spc="-25" dirty="0">
                <a:latin typeface="Tahoma"/>
                <a:cs typeface="Tahoma"/>
              </a:rPr>
              <a:t>Nominal/Categorical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Attributes Ordinal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spc="-25" dirty="0">
                <a:latin typeface="Tahoma"/>
                <a:cs typeface="Tahoma"/>
              </a:rPr>
              <a:t>Numeric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245" y="247745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272544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30" dirty="0"/>
              <a:t>Attributes:</a:t>
            </a:r>
            <a:r>
              <a:rPr spc="40" dirty="0"/>
              <a:t> </a:t>
            </a:r>
            <a:r>
              <a:rPr spc="-10" dirty="0"/>
              <a:t>Nominal/Categorical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0030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681" y="68277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14110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5977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4111" y="1885440"/>
            <a:ext cx="794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17434" y="184729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8393" y="385546"/>
            <a:ext cx="4065270" cy="156400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30" dirty="0">
                <a:latin typeface="Tahoma"/>
                <a:cs typeface="Tahoma"/>
              </a:rPr>
              <a:t>Possible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symbols,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labels</a:t>
            </a:r>
            <a:r>
              <a:rPr sz="1100" spc="-20" dirty="0">
                <a:latin typeface="Tahoma"/>
                <a:cs typeface="Tahoma"/>
              </a:rPr>
              <a:t> 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names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things,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categories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spc="-55" dirty="0">
                <a:latin typeface="Tahoma"/>
                <a:cs typeface="Tahoma"/>
              </a:rPr>
              <a:t>gender,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major,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state,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color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Describe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feature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qualitatively</a:t>
            </a:r>
            <a:r>
              <a:rPr sz="11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b="1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values</a:t>
            </a:r>
            <a:r>
              <a:rPr sz="1100" b="1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have</a:t>
            </a:r>
            <a:r>
              <a:rPr sz="1100" b="1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no</a:t>
            </a:r>
            <a:r>
              <a:rPr sz="1100" b="1" u="sng" spc="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order</a:t>
            </a:r>
            <a:endParaRPr sz="1100">
              <a:latin typeface="Arial"/>
              <a:cs typeface="Arial"/>
            </a:endParaRPr>
          </a:p>
          <a:p>
            <a:pPr marL="289560" marR="12065" indent="-277495">
              <a:lnSpc>
                <a:spcPct val="124500"/>
              </a:lnSpc>
              <a:spcBef>
                <a:spcPts val="310"/>
              </a:spcBef>
              <a:tabLst>
                <a:tab pos="1805305" algn="l"/>
              </a:tabLst>
            </a:pPr>
            <a:r>
              <a:rPr sz="1100" b="1" dirty="0">
                <a:solidFill>
                  <a:srgbClr val="8C008C"/>
                </a:solidFill>
                <a:latin typeface="Arial"/>
                <a:cs typeface="Arial"/>
              </a:rPr>
              <a:t>Not</a:t>
            </a:r>
            <a:r>
              <a:rPr sz="1100" b="1" spc="50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8C008C"/>
                </a:solidFill>
                <a:latin typeface="Arial"/>
                <a:cs typeface="Arial"/>
              </a:rPr>
              <a:t>quantitative</a:t>
            </a:r>
            <a:r>
              <a:rPr sz="1100" spc="-20" dirty="0">
                <a:latin typeface="Tahoma"/>
                <a:cs typeface="Tahoma"/>
              </a:rPr>
              <a:t>, </a:t>
            </a:r>
            <a:r>
              <a:rPr sz="1100" spc="-25" dirty="0">
                <a:latin typeface="Tahoma"/>
                <a:cs typeface="Tahoma"/>
              </a:rPr>
              <a:t>arithmetic </a:t>
            </a:r>
            <a:r>
              <a:rPr sz="1100" spc="-35" dirty="0">
                <a:latin typeface="Tahoma"/>
                <a:cs typeface="Tahoma"/>
              </a:rPr>
              <a:t>operations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can’t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performed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20" dirty="0">
                <a:latin typeface="Tahoma"/>
                <a:cs typeface="Tahoma"/>
              </a:rPr>
              <a:t> them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male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229" dirty="0">
                <a:solidFill>
                  <a:srgbClr val="FF0000"/>
                </a:solidFill>
                <a:latin typeface="Cambria"/>
                <a:cs typeface="Cambria"/>
              </a:rPr>
              <a:t>−</a:t>
            </a:r>
            <a:r>
              <a:rPr sz="11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female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 =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??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sz="1100" spc="-65" dirty="0">
                <a:solidFill>
                  <a:srgbClr val="FF0000"/>
                </a:solidFill>
                <a:latin typeface="Tahoma"/>
                <a:cs typeface="Tahoma"/>
              </a:rPr>
              <a:t>green</a:t>
            </a:r>
            <a:r>
              <a:rPr sz="1100" spc="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+</a:t>
            </a:r>
            <a:r>
              <a:rPr sz="1100" spc="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blue</a:t>
            </a:r>
            <a:r>
              <a:rPr sz="1100" spc="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100" spc="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??</a:t>
            </a:r>
            <a:endParaRPr sz="1100">
              <a:latin typeface="Tahoma"/>
              <a:cs typeface="Tahoma"/>
            </a:endParaRPr>
          </a:p>
          <a:p>
            <a:pPr marL="1039494" marR="5080" indent="-1027430">
              <a:lnSpc>
                <a:spcPts val="1970"/>
              </a:lnSpc>
              <a:spcBef>
                <a:spcPts val="75"/>
              </a:spcBef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code</a:t>
            </a:r>
            <a:r>
              <a:rPr sz="1100" spc="-35" dirty="0">
                <a:latin typeface="Tahoma"/>
                <a:cs typeface="Tahoma"/>
              </a:rPr>
              <a:t> by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numbers</a:t>
            </a:r>
            <a:r>
              <a:rPr sz="1100" spc="-30" dirty="0">
                <a:latin typeface="Tahoma"/>
                <a:cs typeface="Tahoma"/>
              </a:rPr>
              <a:t> (numeric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symbols) </a:t>
            </a:r>
            <a:r>
              <a:rPr sz="1100" spc="-25" dirty="0">
                <a:latin typeface="Tahoma"/>
                <a:cs typeface="Tahoma"/>
              </a:rPr>
              <a:t>e.g.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postal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codes,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roll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 </a:t>
            </a:r>
            <a:r>
              <a:rPr sz="1100" spc="-50" dirty="0">
                <a:latin typeface="Tahoma"/>
                <a:cs typeface="Tahoma"/>
              </a:rPr>
              <a:t>frequency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frequent </a:t>
            </a:r>
            <a:r>
              <a:rPr sz="1100" spc="-10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17434" y="203202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35582" y="1923882"/>
            <a:ext cx="1695450" cy="39497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strike="sngStrike" spc="-30" dirty="0">
                <a:latin typeface="Tahoma"/>
                <a:cs typeface="Tahoma"/>
              </a:rPr>
              <a:t>middle</a:t>
            </a:r>
            <a:r>
              <a:rPr sz="1100" strike="sngStrike" spc="-55" dirty="0">
                <a:latin typeface="Tahoma"/>
                <a:cs typeface="Tahoma"/>
              </a:rPr>
              <a:t> </a:t>
            </a:r>
            <a:r>
              <a:rPr sz="1100" strike="sngStrike" spc="-10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trike="sngStrike" spc="-65" dirty="0">
                <a:latin typeface="Tahoma"/>
                <a:cs typeface="Tahoma"/>
              </a:rPr>
              <a:t>average</a:t>
            </a:r>
            <a:r>
              <a:rPr sz="1100" strike="sngStrike" spc="-25" dirty="0">
                <a:latin typeface="Tahoma"/>
                <a:cs typeface="Tahoma"/>
              </a:rPr>
              <a:t> </a:t>
            </a:r>
            <a:r>
              <a:rPr sz="1100" strike="sngStrike" spc="-40" dirty="0">
                <a:latin typeface="Tahoma"/>
                <a:cs typeface="Tahoma"/>
              </a:rPr>
              <a:t>value</a:t>
            </a:r>
            <a:r>
              <a:rPr sz="1100" strike="sngStrike" spc="-45" dirty="0">
                <a:latin typeface="Tahoma"/>
                <a:cs typeface="Tahoma"/>
              </a:rPr>
              <a:t> </a:t>
            </a:r>
            <a:r>
              <a:rPr sz="1100" strike="sngStrike" dirty="0">
                <a:latin typeface="Tahoma"/>
                <a:cs typeface="Tahoma"/>
              </a:rPr>
              <a:t>of</a:t>
            </a:r>
            <a:r>
              <a:rPr sz="1100" strike="sngStrike" spc="-40" dirty="0">
                <a:latin typeface="Tahoma"/>
                <a:cs typeface="Tahoma"/>
              </a:rPr>
              <a:t> </a:t>
            </a:r>
            <a:r>
              <a:rPr sz="1100" strike="sngStrike" dirty="0">
                <a:latin typeface="Tahoma"/>
                <a:cs typeface="Tahoma"/>
              </a:rPr>
              <a:t>an</a:t>
            </a:r>
            <a:r>
              <a:rPr sz="1100" strike="sngStrike" spc="-30" dirty="0">
                <a:latin typeface="Tahoma"/>
                <a:cs typeface="Tahoma"/>
              </a:rPr>
              <a:t> </a:t>
            </a:r>
            <a:r>
              <a:rPr sz="1100" strike="sngStrike" spc="-10" dirty="0">
                <a:latin typeface="Tahoma"/>
                <a:cs typeface="Tahoma"/>
              </a:rPr>
              <a:t>attribute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17434" y="221674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0245" y="27348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0245" y="298286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1305" y="2318230"/>
            <a:ext cx="4345940" cy="76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9560" marR="5080" indent="-277495">
              <a:lnSpc>
                <a:spcPct val="147500"/>
              </a:lnSpc>
              <a:spcBef>
                <a:spcPts val="95"/>
              </a:spcBef>
            </a:pPr>
            <a:r>
              <a:rPr sz="1100" b="1" spc="-30" dirty="0">
                <a:solidFill>
                  <a:srgbClr val="FF0000"/>
                </a:solidFill>
                <a:latin typeface="Arial"/>
                <a:cs typeface="Arial"/>
              </a:rPr>
              <a:t>Binary</a:t>
            </a:r>
            <a:r>
              <a:rPr sz="1100" b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Attribute:</a:t>
            </a:r>
            <a:r>
              <a:rPr sz="1100" b="1" spc="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special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case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nominal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cap="small" spc="120" dirty="0">
                <a:latin typeface="Calibri"/>
                <a:cs typeface="Calibri"/>
              </a:rPr>
              <a:t>true</a:t>
            </a:r>
            <a:r>
              <a:rPr sz="1100" spc="120" dirty="0">
                <a:latin typeface="Tahoma"/>
                <a:cs typeface="Tahoma"/>
              </a:rPr>
              <a:t>/</a:t>
            </a:r>
            <a:r>
              <a:rPr sz="1100" cap="small" spc="120" dirty="0">
                <a:latin typeface="Calibri"/>
                <a:cs typeface="Calibri"/>
              </a:rPr>
              <a:t>false</a:t>
            </a:r>
            <a:r>
              <a:rPr sz="1100" spc="120" dirty="0">
                <a:latin typeface="Tahoma"/>
                <a:cs typeface="Tahoma"/>
              </a:rPr>
              <a:t>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Pass/Fail,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0/1 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Symmetric:</a:t>
            </a:r>
            <a:r>
              <a:rPr sz="1100" b="1" spc="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40" dirty="0">
                <a:latin typeface="Tahoma"/>
                <a:cs typeface="Tahoma"/>
              </a:rPr>
              <a:t> symbols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carry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weight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e.g.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gender 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Asymmetric:</a:t>
            </a:r>
            <a:r>
              <a:rPr sz="1100" b="1" spc="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40" dirty="0">
                <a:latin typeface="Tahoma"/>
                <a:cs typeface="Tahoma"/>
              </a:rPr>
              <a:t> symbols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equally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important,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e.g.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Pass/Fail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30" dirty="0"/>
              <a:t>Attributes:</a:t>
            </a:r>
            <a:r>
              <a:rPr spc="50" dirty="0"/>
              <a:t> </a:t>
            </a:r>
            <a:r>
              <a:rPr spc="-30" dirty="0"/>
              <a:t>Ordinal</a:t>
            </a:r>
            <a:r>
              <a:rPr spc="-50" dirty="0"/>
              <a:t> </a:t>
            </a:r>
            <a:r>
              <a:rPr spc="-10" dirty="0"/>
              <a:t>Attributes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26974" y="52054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63523" y="628459"/>
            <a:ext cx="1841500" cy="0"/>
          </a:xfrm>
          <a:custGeom>
            <a:avLst/>
            <a:gdLst/>
            <a:ahLst/>
            <a:cxnLst/>
            <a:rect l="l" t="t" r="r" b="b"/>
            <a:pathLst>
              <a:path w="1841500">
                <a:moveTo>
                  <a:pt x="0" y="0"/>
                </a:moveTo>
                <a:lnTo>
                  <a:pt x="1841436" y="0"/>
                </a:lnTo>
              </a:path>
            </a:pathLst>
          </a:custGeom>
          <a:ln w="553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681" y="74874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93853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2681" y="112831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6974" y="137097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7822" y="1478876"/>
            <a:ext cx="2769235" cy="0"/>
          </a:xfrm>
          <a:custGeom>
            <a:avLst/>
            <a:gdLst/>
            <a:ahLst/>
            <a:cxnLst/>
            <a:rect l="l" t="t" r="r" b="b"/>
            <a:pathLst>
              <a:path w="2769235">
                <a:moveTo>
                  <a:pt x="0" y="0"/>
                </a:moveTo>
                <a:lnTo>
                  <a:pt x="276872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2681" y="159917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2681" y="178896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2681" y="197874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5122" y="355726"/>
            <a:ext cx="4040504" cy="211963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Possible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b="1" spc="-55" dirty="0">
                <a:solidFill>
                  <a:srgbClr val="0000FF"/>
                </a:solidFill>
                <a:latin typeface="Arial"/>
                <a:cs typeface="Arial"/>
              </a:rPr>
              <a:t>values</a:t>
            </a:r>
            <a:r>
              <a:rPr sz="1100" b="1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have</a:t>
            </a:r>
            <a:r>
              <a:rPr sz="1100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0000FF"/>
                </a:solidFill>
                <a:latin typeface="Arial"/>
                <a:cs typeface="Arial"/>
              </a:rPr>
              <a:t>meaningful</a:t>
            </a:r>
            <a:r>
              <a:rPr sz="1100" b="1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order</a:t>
            </a:r>
            <a:endParaRPr sz="1100">
              <a:latin typeface="Arial"/>
              <a:cs typeface="Arial"/>
            </a:endParaRPr>
          </a:p>
          <a:p>
            <a:pPr marL="353060">
              <a:lnSpc>
                <a:spcPct val="100000"/>
              </a:lnSpc>
              <a:spcBef>
                <a:spcPts val="535"/>
              </a:spcBef>
            </a:pPr>
            <a:r>
              <a:rPr sz="1000" spc="-40" dirty="0">
                <a:latin typeface="Tahoma"/>
                <a:cs typeface="Tahoma"/>
              </a:rPr>
              <a:t>Grades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A,B,C,D</a:t>
            </a:r>
            <a:endParaRPr sz="1000">
              <a:latin typeface="Tahoma"/>
              <a:cs typeface="Tahoma"/>
            </a:endParaRPr>
          </a:p>
          <a:p>
            <a:pPr marL="353060" marR="1692910">
              <a:lnSpc>
                <a:spcPct val="124500"/>
              </a:lnSpc>
            </a:pPr>
            <a:r>
              <a:rPr sz="1000" spc="-30" dirty="0">
                <a:latin typeface="Tahoma"/>
                <a:cs typeface="Tahoma"/>
              </a:rPr>
              <a:t>Serving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Sizes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Small,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Medium,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Large </a:t>
            </a:r>
            <a:r>
              <a:rPr sz="1000" spc="-20" dirty="0">
                <a:latin typeface="Tahoma"/>
                <a:cs typeface="Tahoma"/>
              </a:rPr>
              <a:t>Ratings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poor, </a:t>
            </a:r>
            <a:r>
              <a:rPr sz="1000" spc="-50" dirty="0">
                <a:latin typeface="Tahoma"/>
                <a:cs typeface="Tahoma"/>
              </a:rPr>
              <a:t>average,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excellent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No</a:t>
            </a:r>
            <a:r>
              <a:rPr sz="11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FF0000"/>
                </a:solidFill>
                <a:latin typeface="Arial"/>
                <a:cs typeface="Arial"/>
              </a:rPr>
              <a:t>quantified</a:t>
            </a:r>
            <a:r>
              <a:rPr sz="11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FF0000"/>
                </a:solidFill>
                <a:latin typeface="Arial"/>
                <a:cs typeface="Arial"/>
              </a:rPr>
              <a:t>difference</a:t>
            </a:r>
            <a:r>
              <a:rPr sz="11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FF0000"/>
                </a:solidFill>
                <a:latin typeface="Arial"/>
                <a:cs typeface="Arial"/>
              </a:rPr>
              <a:t>between</a:t>
            </a:r>
            <a:r>
              <a:rPr sz="11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two</a:t>
            </a:r>
            <a:r>
              <a:rPr sz="11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Arial"/>
                <a:cs typeface="Arial"/>
              </a:rPr>
              <a:t>levels</a:t>
            </a:r>
            <a:endParaRPr sz="1100">
              <a:latin typeface="Arial"/>
              <a:cs typeface="Arial"/>
            </a:endParaRPr>
          </a:p>
          <a:p>
            <a:pPr marL="353060">
              <a:lnSpc>
                <a:spcPct val="100000"/>
              </a:lnSpc>
              <a:spcBef>
                <a:spcPts val="535"/>
              </a:spcBef>
              <a:tabLst>
                <a:tab pos="1878330" algn="l"/>
              </a:tabLst>
            </a:pP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higher/better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than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20" dirty="0">
                <a:latin typeface="Tahoma"/>
                <a:cs typeface="Tahoma"/>
              </a:rPr>
              <a:t>B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25" dirty="0">
                <a:latin typeface="Tahoma"/>
                <a:cs typeface="Tahoma"/>
              </a:rPr>
              <a:t>but</a:t>
            </a:r>
            <a:endParaRPr sz="1000">
              <a:latin typeface="Tahoma"/>
              <a:cs typeface="Tahoma"/>
            </a:endParaRPr>
          </a:p>
          <a:p>
            <a:pPr marL="35306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Tahoma"/>
                <a:cs typeface="Tahoma"/>
              </a:rPr>
              <a:t>Cannot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quantify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how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much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higher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than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or</a:t>
            </a:r>
            <a:endParaRPr sz="1000">
              <a:latin typeface="Tahoma"/>
              <a:cs typeface="Tahoma"/>
            </a:endParaRPr>
          </a:p>
          <a:p>
            <a:pPr marL="353060" marR="508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Tahoma"/>
                <a:cs typeface="Tahoma"/>
              </a:rPr>
              <a:t>if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difference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between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B</a:t>
            </a:r>
            <a:r>
              <a:rPr sz="1000" spc="-20" dirty="0">
                <a:latin typeface="Tahoma"/>
                <a:cs typeface="Tahoma"/>
              </a:rPr>
              <a:t> the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same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as the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difference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between </a:t>
            </a:r>
            <a:r>
              <a:rPr sz="1000" spc="70" dirty="0">
                <a:latin typeface="Tahoma"/>
                <a:cs typeface="Tahoma"/>
              </a:rPr>
              <a:t>B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C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obtained 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discretizing</a:t>
            </a:r>
            <a:r>
              <a:rPr sz="1100" spc="-40" dirty="0">
                <a:latin typeface="Tahoma"/>
                <a:cs typeface="Tahoma"/>
              </a:rPr>
              <a:t> numeric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quantities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reduction)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6974" y="23732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84111" y="2706648"/>
            <a:ext cx="794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17434" y="266851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35582" y="2560368"/>
            <a:ext cx="2811780" cy="5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sz="1100" spc="-50" dirty="0">
                <a:latin typeface="Tahoma"/>
                <a:cs typeface="Tahoma"/>
              </a:rPr>
              <a:t>frequency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frequent </a:t>
            </a:r>
            <a:r>
              <a:rPr sz="1100" spc="-45" dirty="0">
                <a:latin typeface="Tahoma"/>
                <a:cs typeface="Tahoma"/>
              </a:rPr>
              <a:t>value </a:t>
            </a:r>
            <a:r>
              <a:rPr sz="1100" spc="-35" dirty="0">
                <a:latin typeface="Tahoma"/>
                <a:cs typeface="Tahoma"/>
              </a:rPr>
              <a:t>middle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trike="sngStrike" spc="-65" dirty="0">
                <a:latin typeface="Tahoma"/>
                <a:cs typeface="Tahoma"/>
              </a:rPr>
              <a:t>average</a:t>
            </a:r>
            <a:r>
              <a:rPr sz="1100" strike="sngStrike" spc="-25" dirty="0">
                <a:latin typeface="Tahoma"/>
                <a:cs typeface="Tahoma"/>
              </a:rPr>
              <a:t> </a:t>
            </a:r>
            <a:r>
              <a:rPr sz="1100" strike="sngStrike" spc="-40" dirty="0">
                <a:latin typeface="Tahoma"/>
                <a:cs typeface="Tahoma"/>
              </a:rPr>
              <a:t>value</a:t>
            </a:r>
            <a:r>
              <a:rPr sz="1100" strike="sngStrike" spc="-45" dirty="0">
                <a:latin typeface="Tahoma"/>
                <a:cs typeface="Tahoma"/>
              </a:rPr>
              <a:t> </a:t>
            </a:r>
            <a:r>
              <a:rPr sz="1100" strike="sngStrike" dirty="0">
                <a:latin typeface="Tahoma"/>
                <a:cs typeface="Tahoma"/>
              </a:rPr>
              <a:t>of</a:t>
            </a:r>
            <a:r>
              <a:rPr sz="1100" strike="sngStrike" spc="-40" dirty="0">
                <a:latin typeface="Tahoma"/>
                <a:cs typeface="Tahoma"/>
              </a:rPr>
              <a:t> </a:t>
            </a:r>
            <a:r>
              <a:rPr sz="1100" strike="sngStrike" dirty="0">
                <a:latin typeface="Tahoma"/>
                <a:cs typeface="Tahoma"/>
              </a:rPr>
              <a:t>an</a:t>
            </a:r>
            <a:r>
              <a:rPr sz="1100" strike="sngStrike" spc="-30" dirty="0">
                <a:latin typeface="Tahoma"/>
                <a:cs typeface="Tahoma"/>
              </a:rPr>
              <a:t> </a:t>
            </a:r>
            <a:r>
              <a:rPr sz="1100" strike="sngStrike" spc="-10" dirty="0">
                <a:latin typeface="Tahoma"/>
                <a:cs typeface="Tahoma"/>
              </a:rPr>
              <a:t>attribute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17434" y="285323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17434" y="303796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1" name="object 2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spc="-30" dirty="0"/>
              <a:t>Attributes:</a:t>
            </a:r>
            <a:r>
              <a:rPr spc="45" dirty="0"/>
              <a:t> </a:t>
            </a:r>
            <a:r>
              <a:rPr spc="-40" dirty="0"/>
              <a:t>Numeric</a:t>
            </a:r>
            <a:r>
              <a:rPr spc="-55" dirty="0"/>
              <a:t> </a:t>
            </a:r>
            <a:r>
              <a:rPr spc="-10" dirty="0"/>
              <a:t>Attributes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26974" y="50227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6974" y="71735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3745" y="825271"/>
            <a:ext cx="2717800" cy="0"/>
          </a:xfrm>
          <a:custGeom>
            <a:avLst/>
            <a:gdLst/>
            <a:ahLst/>
            <a:cxnLst/>
            <a:rect l="l" t="t" r="r" b="b"/>
            <a:pathLst>
              <a:path w="2717800">
                <a:moveTo>
                  <a:pt x="0" y="0"/>
                </a:moveTo>
                <a:lnTo>
                  <a:pt x="2717355" y="0"/>
                </a:lnTo>
              </a:path>
            </a:pathLst>
          </a:custGeom>
          <a:ln w="553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89983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4111" y="1163026"/>
            <a:ext cx="794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17434" y="112488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5122" y="363763"/>
            <a:ext cx="3902075" cy="8636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Quantitative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measurable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can</a:t>
            </a:r>
            <a:r>
              <a:rPr sz="1100" spc="-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b="1" spc="-15" dirty="0">
                <a:solidFill>
                  <a:srgbClr val="0000FF"/>
                </a:solidFill>
                <a:latin typeface="Arial"/>
                <a:cs typeface="Arial"/>
              </a:rPr>
              <a:t>quantify</a:t>
            </a:r>
            <a:r>
              <a:rPr sz="11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the </a:t>
            </a:r>
            <a:r>
              <a:rPr sz="1100" b="1" spc="-40" dirty="0">
                <a:solidFill>
                  <a:srgbClr val="0000FF"/>
                </a:solidFill>
                <a:latin typeface="Arial"/>
                <a:cs typeface="Arial"/>
              </a:rPr>
              <a:t>difference</a:t>
            </a:r>
            <a:r>
              <a:rPr sz="11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between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two</a:t>
            </a:r>
            <a:r>
              <a:rPr sz="11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values</a:t>
            </a:r>
            <a:endParaRPr sz="1100">
              <a:latin typeface="Arial"/>
              <a:cs typeface="Arial"/>
            </a:endParaRPr>
          </a:p>
          <a:p>
            <a:pPr marL="353060">
              <a:lnSpc>
                <a:spcPct val="100000"/>
              </a:lnSpc>
              <a:spcBef>
                <a:spcPts val="170"/>
              </a:spcBef>
            </a:pPr>
            <a:r>
              <a:rPr sz="1000" spc="-35" dirty="0">
                <a:latin typeface="Tahoma"/>
                <a:cs typeface="Tahoma"/>
              </a:rPr>
              <a:t>temperature,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age,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number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courses,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height,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years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experience</a:t>
            </a:r>
            <a:endParaRPr sz="1000">
              <a:latin typeface="Tahoma"/>
              <a:cs typeface="Tahoma"/>
            </a:endParaRPr>
          </a:p>
          <a:p>
            <a:pPr marL="1102995">
              <a:lnSpc>
                <a:spcPct val="100000"/>
              </a:lnSpc>
              <a:spcBef>
                <a:spcPts val="515"/>
              </a:spcBef>
            </a:pPr>
            <a:r>
              <a:rPr sz="1100" spc="-50" dirty="0">
                <a:latin typeface="Tahoma"/>
                <a:cs typeface="Tahoma"/>
              </a:rPr>
              <a:t>frequency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frequent </a:t>
            </a:r>
            <a:r>
              <a:rPr sz="1100" spc="-25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17434" y="130961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35582" y="1201468"/>
            <a:ext cx="1695450" cy="39497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spc="-35" dirty="0">
                <a:latin typeface="Tahoma"/>
                <a:cs typeface="Tahoma"/>
              </a:rPr>
              <a:t>middle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-60" dirty="0">
                <a:latin typeface="Tahoma"/>
                <a:cs typeface="Tahoma"/>
              </a:rPr>
              <a:t>average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17434" y="149433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6974" y="175954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2681" y="194202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6974" y="213912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2681" y="232159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26974" y="254400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2681" y="272647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6974" y="292357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2681" y="310605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19735" y="1644789"/>
            <a:ext cx="3616325" cy="155575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Discrete</a:t>
            </a:r>
            <a:r>
              <a:rPr sz="1100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Numeric</a:t>
            </a:r>
            <a:r>
              <a:rPr sz="1100" b="1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Attributes</a:t>
            </a:r>
            <a:endParaRPr sz="1100" dirty="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175"/>
              </a:spcBef>
            </a:pPr>
            <a:r>
              <a:rPr sz="1000" spc="-40" dirty="0">
                <a:latin typeface="Tahoma"/>
                <a:cs typeface="Tahoma"/>
              </a:rPr>
              <a:t>values come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from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finite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countably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infinite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sets</a:t>
            </a:r>
            <a:endParaRPr sz="10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100" b="1" spc="-50" dirty="0">
                <a:solidFill>
                  <a:srgbClr val="0000FF"/>
                </a:solidFill>
                <a:latin typeface="Arial"/>
                <a:cs typeface="Arial"/>
              </a:rPr>
              <a:t>Continuous</a:t>
            </a:r>
            <a:r>
              <a:rPr sz="11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Numeric</a:t>
            </a:r>
            <a:r>
              <a:rPr sz="11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Attributes</a:t>
            </a:r>
            <a:endParaRPr sz="1100" dirty="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175"/>
              </a:spcBef>
            </a:pPr>
            <a:r>
              <a:rPr sz="1000" spc="-40" dirty="0">
                <a:latin typeface="Tahoma"/>
                <a:cs typeface="Tahoma"/>
              </a:rPr>
              <a:t>values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real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(continuous)</a:t>
            </a:r>
            <a:endParaRPr sz="10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sz="1100" b="1" spc="-35" dirty="0">
                <a:solidFill>
                  <a:srgbClr val="FF0000"/>
                </a:solidFill>
                <a:latin typeface="Arial"/>
                <a:cs typeface="Arial"/>
              </a:rPr>
              <a:t>Interval-</a:t>
            </a:r>
            <a:r>
              <a:rPr sz="1100" b="1" spc="-20" dirty="0">
                <a:solidFill>
                  <a:srgbClr val="FF0000"/>
                </a:solidFill>
                <a:latin typeface="Arial"/>
                <a:cs typeface="Arial"/>
              </a:rPr>
              <a:t>Scaled:</a:t>
            </a:r>
            <a:r>
              <a:rPr sz="1100" b="1" spc="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No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ratios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meaning</a:t>
            </a:r>
            <a:endParaRPr sz="1100" dirty="0">
              <a:latin typeface="Tahoma"/>
              <a:cs typeface="Tahoma"/>
            </a:endParaRPr>
          </a:p>
          <a:p>
            <a:pPr marL="377825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e.g.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Temperature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Celsius.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30</a:t>
            </a:r>
            <a:r>
              <a:rPr sz="1050" i="1" baseline="27777" dirty="0">
                <a:latin typeface="Arial"/>
                <a:cs typeface="Arial"/>
              </a:rPr>
              <a:t>◦</a:t>
            </a:r>
            <a:r>
              <a:rPr sz="1050" i="1" spc="187" baseline="27777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not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double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hot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15</a:t>
            </a:r>
            <a:r>
              <a:rPr sz="1050" i="1" spc="-37" baseline="27777" dirty="0">
                <a:latin typeface="Arial"/>
                <a:cs typeface="Arial"/>
              </a:rPr>
              <a:t>◦</a:t>
            </a:r>
            <a:endParaRPr sz="1050" baseline="27777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100" b="1" spc="-40" dirty="0">
                <a:solidFill>
                  <a:srgbClr val="FF0000"/>
                </a:solidFill>
                <a:latin typeface="Arial"/>
                <a:cs typeface="Arial"/>
              </a:rPr>
              <a:t>Ratio-</a:t>
            </a:r>
            <a:r>
              <a:rPr sz="1100" b="1" spc="-20" dirty="0">
                <a:solidFill>
                  <a:srgbClr val="FF0000"/>
                </a:solidFill>
                <a:latin typeface="Arial"/>
                <a:cs typeface="Arial"/>
              </a:rPr>
              <a:t>Scaled:</a:t>
            </a:r>
            <a:r>
              <a:rPr sz="1100" b="1" spc="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Well-</a:t>
            </a:r>
            <a:r>
              <a:rPr sz="1100" spc="-35" dirty="0">
                <a:latin typeface="Tahoma"/>
                <a:cs typeface="Tahoma"/>
              </a:rPr>
              <a:t>Defined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ratios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meaningful</a:t>
            </a:r>
            <a:endParaRPr sz="1100" dirty="0">
              <a:latin typeface="Tahoma"/>
              <a:cs typeface="Tahoma"/>
            </a:endParaRPr>
          </a:p>
          <a:p>
            <a:pPr marL="377825">
              <a:lnSpc>
                <a:spcPct val="100000"/>
              </a:lnSpc>
              <a:spcBef>
                <a:spcPts val="170"/>
              </a:spcBef>
            </a:pPr>
            <a:r>
              <a:rPr sz="1000" spc="-10" dirty="0">
                <a:latin typeface="Tahoma"/>
                <a:cs typeface="Tahoma"/>
              </a:rPr>
              <a:t>e.g.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Temperature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Kelvin.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30</a:t>
            </a:r>
            <a:r>
              <a:rPr sz="1050" i="1" baseline="27777" dirty="0">
                <a:latin typeface="Arial"/>
                <a:cs typeface="Arial"/>
              </a:rPr>
              <a:t>◦</a:t>
            </a:r>
            <a:r>
              <a:rPr sz="1050" i="1" spc="195" baseline="27777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double as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hot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15</a:t>
            </a:r>
            <a:r>
              <a:rPr sz="1050" i="1" spc="-37" baseline="27777" dirty="0">
                <a:latin typeface="Arial"/>
                <a:cs typeface="Arial"/>
              </a:rPr>
              <a:t>◦</a:t>
            </a:r>
            <a:endParaRPr sz="1050" baseline="27777" dirty="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42352"/>
            <a:ext cx="4472940" cy="727075"/>
            <a:chOff x="93204" y="1042352"/>
            <a:chExt cx="4472940" cy="727075"/>
          </a:xfrm>
        </p:grpSpPr>
        <p:sp>
          <p:nvSpPr>
            <p:cNvPr id="3" name="object 3"/>
            <p:cNvSpPr/>
            <p:nvPr/>
          </p:nvSpPr>
          <p:spPr>
            <a:xfrm>
              <a:off x="93204" y="1042352"/>
              <a:ext cx="4422140" cy="82550"/>
            </a:xfrm>
            <a:custGeom>
              <a:avLst/>
              <a:gdLst/>
              <a:ahLst/>
              <a:cxnLst/>
              <a:rect l="l" t="t" r="r" b="b"/>
              <a:pathLst>
                <a:path w="4422140" h="82550">
                  <a:moveTo>
                    <a:pt x="437085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21658" y="82384"/>
                  </a:lnTo>
                  <a:lnTo>
                    <a:pt x="4421658" y="50800"/>
                  </a:lnTo>
                  <a:lnTo>
                    <a:pt x="4417649" y="31075"/>
                  </a:lnTo>
                  <a:lnTo>
                    <a:pt x="4406735" y="14922"/>
                  </a:lnTo>
                  <a:lnTo>
                    <a:pt x="4390582" y="4008"/>
                  </a:lnTo>
                  <a:lnTo>
                    <a:pt x="43708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105599"/>
              <a:ext cx="4422140" cy="663575"/>
            </a:xfrm>
            <a:custGeom>
              <a:avLst/>
              <a:gdLst/>
              <a:ahLst/>
              <a:cxnLst/>
              <a:rect l="l" t="t" r="r" b="b"/>
              <a:pathLst>
                <a:path w="4422140" h="663575">
                  <a:moveTo>
                    <a:pt x="4421658" y="0"/>
                  </a:moveTo>
                  <a:lnTo>
                    <a:pt x="0" y="0"/>
                  </a:lnTo>
                  <a:lnTo>
                    <a:pt x="0" y="663511"/>
                  </a:lnTo>
                  <a:lnTo>
                    <a:pt x="4421658" y="663511"/>
                  </a:lnTo>
                  <a:lnTo>
                    <a:pt x="44216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86762"/>
              <a:ext cx="4422140" cy="631825"/>
            </a:xfrm>
            <a:custGeom>
              <a:avLst/>
              <a:gdLst/>
              <a:ahLst/>
              <a:cxnLst/>
              <a:rect l="l" t="t" r="r" b="b"/>
              <a:pathLst>
                <a:path w="4422140" h="631825">
                  <a:moveTo>
                    <a:pt x="4421658" y="0"/>
                  </a:moveTo>
                  <a:lnTo>
                    <a:pt x="0" y="0"/>
                  </a:lnTo>
                  <a:lnTo>
                    <a:pt x="0" y="580747"/>
                  </a:lnTo>
                  <a:lnTo>
                    <a:pt x="4008" y="600471"/>
                  </a:lnTo>
                  <a:lnTo>
                    <a:pt x="14922" y="616624"/>
                  </a:lnTo>
                  <a:lnTo>
                    <a:pt x="31075" y="627539"/>
                  </a:lnTo>
                  <a:lnTo>
                    <a:pt x="50800" y="631547"/>
                  </a:lnTo>
                  <a:lnTo>
                    <a:pt x="4370857" y="631547"/>
                  </a:lnTo>
                  <a:lnTo>
                    <a:pt x="4390582" y="627539"/>
                  </a:lnTo>
                  <a:lnTo>
                    <a:pt x="4406735" y="616624"/>
                  </a:lnTo>
                  <a:lnTo>
                    <a:pt x="4417649" y="600471"/>
                  </a:lnTo>
                  <a:lnTo>
                    <a:pt x="4421658" y="580747"/>
                  </a:lnTo>
                  <a:lnTo>
                    <a:pt x="4421658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005" y="1105599"/>
            <a:ext cx="4422140" cy="66357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R="140335" algn="ctr">
              <a:lnSpc>
                <a:spcPct val="100000"/>
              </a:lnSpc>
              <a:spcBef>
                <a:spcPts val="930"/>
              </a:spcBef>
            </a:pPr>
            <a:r>
              <a:rPr sz="2050" u="none" spc="-45" dirty="0"/>
              <a:t>Statistical</a:t>
            </a:r>
            <a:r>
              <a:rPr sz="2050" u="none" spc="-105" dirty="0"/>
              <a:t> </a:t>
            </a:r>
            <a:r>
              <a:rPr sz="2050" u="none" spc="-25" dirty="0"/>
              <a:t>EDA</a:t>
            </a:r>
            <a:endParaRPr sz="2050"/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20" dirty="0"/>
              <a:t>Statistical</a:t>
            </a:r>
            <a:r>
              <a:rPr spc="-30" dirty="0"/>
              <a:t> </a:t>
            </a:r>
            <a:r>
              <a:rPr spc="-40" dirty="0"/>
              <a:t>Description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22285"/>
            <a:ext cx="3884295" cy="126555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spc="-20" dirty="0">
                <a:latin typeface="Tahoma"/>
                <a:cs typeface="Tahoma"/>
              </a:rPr>
              <a:t>Estimates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give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overall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picture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47900"/>
              </a:lnSpc>
            </a:pPr>
            <a:r>
              <a:rPr sz="1100" spc="-45" dirty="0">
                <a:latin typeface="Tahoma"/>
                <a:cs typeface="Tahoma"/>
              </a:rPr>
              <a:t>Summary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statistics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summarize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properties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10" dirty="0">
                <a:latin typeface="Tahoma"/>
                <a:cs typeface="Tahoma"/>
              </a:rPr>
              <a:t>Typical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 </a:t>
            </a:r>
            <a:r>
              <a:rPr sz="1100" spc="-10" dirty="0">
                <a:latin typeface="Tahoma"/>
                <a:cs typeface="Tahoma"/>
              </a:rPr>
              <a:t>(features/attributes)</a:t>
            </a:r>
            <a:endParaRPr sz="1100">
              <a:latin typeface="Tahoma"/>
              <a:cs typeface="Tahoma"/>
            </a:endParaRPr>
          </a:p>
          <a:p>
            <a:pPr marL="12700" marR="1146175">
              <a:lnSpc>
                <a:spcPct val="147900"/>
              </a:lnSpc>
            </a:pPr>
            <a:r>
              <a:rPr sz="1100" spc="-45" dirty="0">
                <a:latin typeface="Tahoma"/>
                <a:cs typeface="Tahoma"/>
              </a:rPr>
              <a:t>Spread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20" dirty="0">
                <a:latin typeface="Tahoma"/>
                <a:cs typeface="Tahoma"/>
              </a:rPr>
              <a:t>distribution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values </a:t>
            </a:r>
            <a:r>
              <a:rPr sz="1100" spc="-50" dirty="0">
                <a:latin typeface="Tahoma"/>
                <a:cs typeface="Tahoma"/>
              </a:rPr>
              <a:t>Dependencies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correlations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among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variables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4169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0896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33767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58565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70" dirty="0"/>
              <a:t>Measures</a:t>
            </a:r>
            <a:r>
              <a:rPr spc="-2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30" dirty="0"/>
              <a:t>Central</a:t>
            </a:r>
            <a:r>
              <a:rPr spc="-35" dirty="0"/>
              <a:t> </a:t>
            </a:r>
            <a:r>
              <a:rPr spc="-10" dirty="0"/>
              <a:t>Tendencies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681" y="81273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06805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328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58934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2681" y="180837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2681" y="199816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2681" y="218795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0245" y="244326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2681" y="267145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2681" y="286124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8393" y="438905"/>
            <a:ext cx="2922905" cy="251714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spc="-25" dirty="0">
                <a:latin typeface="Tahoma"/>
                <a:cs typeface="Tahoma"/>
              </a:rPr>
              <a:t>These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measures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describe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location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465"/>
              </a:spcBef>
            </a:pPr>
            <a:r>
              <a:rPr sz="1000" spc="-10" dirty="0">
                <a:latin typeface="Tahoma"/>
                <a:cs typeface="Tahoma"/>
              </a:rPr>
              <a:t>location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concentration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middle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marL="12700" marR="455295">
              <a:lnSpc>
                <a:spcPct val="155500"/>
              </a:lnSpc>
              <a:spcBef>
                <a:spcPts val="20"/>
              </a:spcBef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“distributed”</a:t>
            </a:r>
            <a:r>
              <a:rPr sz="1100" spc="-2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around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“center” </a:t>
            </a:r>
            <a:r>
              <a:rPr sz="1100" spc="-30" dirty="0">
                <a:latin typeface="Tahoma"/>
                <a:cs typeface="Tahoma"/>
              </a:rPr>
              <a:t>Computed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spc="-20" dirty="0">
                <a:latin typeface="Tahoma"/>
                <a:cs typeface="Tahoma"/>
              </a:rPr>
              <a:t>Three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common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types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locations</a:t>
            </a:r>
            <a:endParaRPr sz="1100">
              <a:latin typeface="Tahoma"/>
              <a:cs typeface="Tahoma"/>
            </a:endParaRPr>
          </a:p>
          <a:p>
            <a:pPr marL="289560" marR="2235835">
              <a:lnSpc>
                <a:spcPct val="124500"/>
              </a:lnSpc>
              <a:spcBef>
                <a:spcPts val="170"/>
              </a:spcBef>
            </a:pPr>
            <a:r>
              <a:rPr sz="1000" spc="-20" dirty="0">
                <a:latin typeface="Tahoma"/>
                <a:cs typeface="Tahoma"/>
              </a:rPr>
              <a:t>Mode Mean </a:t>
            </a:r>
            <a:r>
              <a:rPr sz="1000" spc="-30" dirty="0">
                <a:latin typeface="Tahoma"/>
                <a:cs typeface="Tahoma"/>
              </a:rPr>
              <a:t>Median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These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measures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do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not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give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information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regarding</a:t>
            </a:r>
            <a:endParaRPr sz="1100">
              <a:latin typeface="Tahoma"/>
              <a:cs typeface="Tahoma"/>
            </a:endParaRPr>
          </a:p>
          <a:p>
            <a:pPr marL="289560" marR="873760">
              <a:lnSpc>
                <a:spcPct val="124500"/>
              </a:lnSpc>
              <a:spcBef>
                <a:spcPts val="240"/>
              </a:spcBef>
            </a:pPr>
            <a:r>
              <a:rPr sz="1000" spc="-45" dirty="0">
                <a:latin typeface="Tahoma"/>
                <a:cs typeface="Tahoma"/>
              </a:rPr>
              <a:t>extreme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values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 distribution </a:t>
            </a:r>
            <a:r>
              <a:rPr sz="1000" spc="-10" dirty="0">
                <a:latin typeface="Tahoma"/>
                <a:cs typeface="Tahoma"/>
              </a:rPr>
              <a:t>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spread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0" dirty="0">
                <a:latin typeface="Tahoma"/>
                <a:cs typeface="Tahoma"/>
              </a:rPr>
              <a:t> the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10" dirty="0"/>
              <a:t>Frequency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5722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31525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681" y="154344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05" y="466076"/>
            <a:ext cx="4294505" cy="1172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Nominal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Ordinal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attributes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generally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described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frequencies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1019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45" dirty="0">
                <a:solidFill>
                  <a:srgbClr val="0000FF"/>
                </a:solidFill>
                <a:latin typeface="Arial"/>
                <a:cs typeface="Arial"/>
              </a:rPr>
              <a:t>frequency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value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times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value </a:t>
            </a:r>
            <a:r>
              <a:rPr sz="1100" spc="-35" dirty="0">
                <a:latin typeface="Tahoma"/>
                <a:cs typeface="Tahoma"/>
              </a:rPr>
              <a:t>occurs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dataset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930"/>
              </a:spcBef>
            </a:pPr>
            <a:r>
              <a:rPr sz="1100" spc="-45" dirty="0">
                <a:latin typeface="Tahoma"/>
                <a:cs typeface="Tahoma"/>
              </a:rPr>
              <a:t>Some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fraction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percentage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 </a:t>
            </a:r>
            <a:r>
              <a:rPr sz="1100" spc="-10" dirty="0">
                <a:latin typeface="Tahoma"/>
                <a:cs typeface="Tahoma"/>
              </a:rPr>
              <a:t>appears</a:t>
            </a:r>
            <a:endParaRPr sz="110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535"/>
              </a:spcBef>
            </a:pPr>
            <a:r>
              <a:rPr sz="1000" spc="-10" dirty="0">
                <a:latin typeface="Tahoma"/>
                <a:cs typeface="Tahoma"/>
              </a:rPr>
              <a:t>Probability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mass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function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70" dirty="0"/>
              <a:t>Measures</a:t>
            </a:r>
            <a:r>
              <a:rPr spc="-2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30" dirty="0"/>
              <a:t>Central</a:t>
            </a:r>
            <a:r>
              <a:rPr spc="-40" dirty="0"/>
              <a:t> </a:t>
            </a:r>
            <a:r>
              <a:rPr spc="-65" dirty="0"/>
              <a:t>Tendencies:</a:t>
            </a:r>
            <a:r>
              <a:rPr spc="65" dirty="0"/>
              <a:t> </a:t>
            </a:r>
            <a:r>
              <a:rPr spc="-20" dirty="0"/>
              <a:t>Mode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102929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27728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681" y="149632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168611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305" y="466076"/>
            <a:ext cx="4314825" cy="188213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65125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location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nominal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ordinal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attributes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most </a:t>
            </a:r>
            <a:r>
              <a:rPr sz="1100" spc="-40" dirty="0">
                <a:latin typeface="Tahoma"/>
                <a:cs typeface="Tahoma"/>
              </a:rPr>
              <a:t>frequent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</a:t>
            </a:r>
            <a:endParaRPr sz="1100" dirty="0">
              <a:latin typeface="Tahoma"/>
              <a:cs typeface="Tahoma"/>
            </a:endParaRPr>
          </a:p>
          <a:p>
            <a:pPr marL="289560" marR="1943100">
              <a:lnSpc>
                <a:spcPct val="147900"/>
              </a:lnSpc>
              <a:spcBef>
                <a:spcPts val="420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Mode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most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frequent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element </a:t>
            </a:r>
            <a:r>
              <a:rPr sz="1100" dirty="0">
                <a:latin typeface="Tahoma"/>
                <a:cs typeface="Tahoma"/>
              </a:rPr>
              <a:t>Can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modes</a:t>
            </a:r>
            <a:endParaRPr sz="1100" dirty="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465"/>
              </a:spcBef>
            </a:pPr>
            <a:r>
              <a:rPr sz="1000" spc="-25" dirty="0">
                <a:latin typeface="Tahoma"/>
                <a:cs typeface="Tahoma"/>
              </a:rPr>
              <a:t>unimodal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(one</a:t>
            </a:r>
            <a:r>
              <a:rPr sz="1000" spc="-35" dirty="0">
                <a:latin typeface="Tahoma"/>
                <a:cs typeface="Tahoma"/>
              </a:rPr>
              <a:t> mode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data)</a:t>
            </a:r>
            <a:endParaRPr sz="1000" dirty="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295"/>
              </a:spcBef>
            </a:pPr>
            <a:r>
              <a:rPr sz="1000" spc="-30" dirty="0">
                <a:latin typeface="Tahoma"/>
                <a:cs typeface="Tahoma"/>
              </a:rPr>
              <a:t>multi-</a:t>
            </a:r>
            <a:r>
              <a:rPr sz="1000" spc="-10" dirty="0">
                <a:latin typeface="Tahoma"/>
                <a:cs typeface="Tahoma"/>
              </a:rPr>
              <a:t>modal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(bimodal,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trimodal):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more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than </a:t>
            </a:r>
            <a:r>
              <a:rPr sz="1000" spc="-45" dirty="0">
                <a:latin typeface="Tahoma"/>
                <a:cs typeface="Tahoma"/>
              </a:rPr>
              <a:t>one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modes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20" dirty="0">
                <a:latin typeface="Tahoma"/>
                <a:cs typeface="Tahoma"/>
              </a:rPr>
              <a:t> data</a:t>
            </a:r>
            <a:endParaRPr sz="1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0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Not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same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as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Majority</a:t>
            </a:r>
            <a:r>
              <a:rPr sz="11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element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(a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value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with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frequency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more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than 50%)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70" dirty="0"/>
              <a:t>Measures</a:t>
            </a:r>
            <a:r>
              <a:rPr spc="-2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30" dirty="0"/>
              <a:t>Central</a:t>
            </a:r>
            <a:r>
              <a:rPr spc="-40" dirty="0"/>
              <a:t> </a:t>
            </a:r>
            <a:r>
              <a:rPr spc="-65" dirty="0"/>
              <a:t>Tendencies:</a:t>
            </a:r>
            <a:r>
              <a:rPr spc="65" dirty="0"/>
              <a:t> </a:t>
            </a:r>
            <a:r>
              <a:rPr spc="-20" dirty="0"/>
              <a:t>Mean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76577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5905" y="330845"/>
            <a:ext cx="4396740" cy="70929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95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dirty="0">
                <a:latin typeface="Tahoma"/>
                <a:cs typeface="Tahoma"/>
              </a:rPr>
              <a:t> 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150" dirty="0">
                <a:latin typeface="Cambria"/>
                <a:cs typeface="Cambria"/>
              </a:rPr>
              <a:t>X</a:t>
            </a:r>
            <a:r>
              <a:rPr sz="1100" spc="130" dirty="0">
                <a:latin typeface="Cambria"/>
                <a:cs typeface="Cambria"/>
              </a:rPr>
              <a:t> 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54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30" dirty="0">
                <a:latin typeface="Arial"/>
                <a:cs typeface="Arial"/>
              </a:rPr>
              <a:t>x</a:t>
            </a:r>
            <a:r>
              <a:rPr sz="1200" spc="-44" baseline="-10416" dirty="0">
                <a:latin typeface="Tahoma"/>
                <a:cs typeface="Tahoma"/>
              </a:rPr>
              <a:t>2</a:t>
            </a:r>
            <a:r>
              <a:rPr sz="1100" spc="-3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Cambria"/>
                <a:cs typeface="Cambria"/>
              </a:rPr>
              <a:t>·</a:t>
            </a:r>
            <a:r>
              <a:rPr sz="1100" spc="-60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·</a:t>
            </a:r>
            <a:r>
              <a:rPr sz="1100" spc="-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·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n</a:t>
            </a:r>
            <a:r>
              <a:rPr sz="1100" spc="-25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  <a:p>
            <a:pPr marL="314960">
              <a:lnSpc>
                <a:spcPct val="100000"/>
              </a:lnSpc>
              <a:spcBef>
                <a:spcPts val="69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(Arithmetic)</a:t>
            </a:r>
            <a:r>
              <a:rPr sz="1100" b="1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Mean</a:t>
            </a:r>
            <a:r>
              <a:rPr sz="11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average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set</a:t>
            </a:r>
            <a:endParaRPr sz="1100">
              <a:latin typeface="Tahoma"/>
              <a:cs typeface="Tahoma"/>
            </a:endParaRPr>
          </a:p>
          <a:p>
            <a:pPr marL="970280">
              <a:lnSpc>
                <a:spcPct val="100000"/>
              </a:lnSpc>
              <a:spcBef>
                <a:spcPts val="35"/>
              </a:spcBef>
            </a:pPr>
            <a:r>
              <a:rPr sz="1100" spc="-335" dirty="0">
                <a:latin typeface="Lucida Sans Unicode"/>
                <a:cs typeface="Lucida Sans Unicode"/>
              </a:rPr>
              <a:t>▷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This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definition</a:t>
            </a:r>
            <a:r>
              <a:rPr sz="11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readily</a:t>
            </a:r>
            <a:r>
              <a:rPr sz="11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extend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11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higher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dimensional</a:t>
            </a:r>
            <a:r>
              <a:rPr sz="11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23886" y="1301051"/>
            <a:ext cx="76835" cy="0"/>
          </a:xfrm>
          <a:custGeom>
            <a:avLst/>
            <a:gdLst/>
            <a:ahLst/>
            <a:cxnLst/>
            <a:rect l="l" t="t" r="r" b="b"/>
            <a:pathLst>
              <a:path w="76834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1186" y="1230768"/>
            <a:ext cx="2870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34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9252" y="1114537"/>
            <a:ext cx="111379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1200" u="sng" baseline="-10416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sz="1200" u="sng" spc="60" baseline="-10416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1200" u="sng" baseline="-10416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r>
              <a:rPr sz="1200" u="sng" spc="60" baseline="-10416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5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.</a:t>
            </a:r>
            <a:r>
              <a:rPr sz="1100" u="sng" spc="-16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spc="-5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.</a:t>
            </a:r>
            <a:r>
              <a:rPr sz="1100" u="sng" spc="-17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spc="-5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.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1200" i="1" u="sng" spc="-37" baseline="-1041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endParaRPr sz="1200" baseline="-10416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  <a:spcBef>
                <a:spcPts val="17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0316" y="123076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8721" y="1031861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30" dirty="0">
                <a:latin typeface="Georgia"/>
                <a:cs typeface="Georgia"/>
              </a:rPr>
              <a:t>Σ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24961" y="110925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78721" y="1214068"/>
            <a:ext cx="48005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6725" algn="l"/>
              </a:tabLst>
            </a:pPr>
            <a:r>
              <a:rPr sz="800" i="1" u="sng" spc="3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sz="800" i="1" u="sng" spc="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800" u="sng" spc="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=1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02050" y="1135772"/>
            <a:ext cx="165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68992" y="1325802"/>
            <a:ext cx="97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0245" y="162557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8393" y="1535898"/>
            <a:ext cx="1037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Weighted</a:t>
            </a:r>
            <a:r>
              <a:rPr sz="11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Mean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24113" y="1849590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341841" y="1580399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30" dirty="0">
                <a:latin typeface="Georgia"/>
                <a:cs typeface="Georgia"/>
              </a:rPr>
              <a:t>Σ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88082" y="165779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1841" y="1762606"/>
            <a:ext cx="617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3885" algn="l"/>
              </a:tabLst>
            </a:pPr>
            <a:r>
              <a:rPr sz="800" i="1" u="sng" spc="3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sz="800" i="1" u="sng" spc="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800" u="sng" spc="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=1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65183" y="1684310"/>
            <a:ext cx="302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0" dirty="0">
                <a:latin typeface="Arial"/>
                <a:cs typeface="Arial"/>
              </a:rPr>
              <a:t>w</a:t>
            </a:r>
            <a:r>
              <a:rPr sz="1200" i="1" spc="-30" baseline="-10416" dirty="0">
                <a:latin typeface="Arial"/>
                <a:cs typeface="Arial"/>
              </a:rPr>
              <a:t>i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i="1" spc="-30" baseline="-10416" dirty="0"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11413" y="1779306"/>
            <a:ext cx="6553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4470" algn="l"/>
                <a:tab pos="495934" algn="l"/>
              </a:tabLst>
            </a:pP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650" spc="644" baseline="2525" dirty="0">
                <a:latin typeface="Georgia"/>
                <a:cs typeface="Georgia"/>
              </a:rPr>
              <a:t>Σ</a:t>
            </a:r>
            <a:endParaRPr sz="1650" baseline="2525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41016" y="184782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1016" y="1952636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43517" y="1874341"/>
            <a:ext cx="120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38183" y="1933319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90245" y="21581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08393" y="2068460"/>
            <a:ext cx="1040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Harmonic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Mean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988870" y="2310803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600451" y="2146806"/>
            <a:ext cx="97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419311" y="2357145"/>
            <a:ext cx="462280" cy="0"/>
          </a:xfrm>
          <a:custGeom>
            <a:avLst/>
            <a:gdLst/>
            <a:ahLst/>
            <a:cxnLst/>
            <a:rect l="l" t="t" r="r" b="b"/>
            <a:pathLst>
              <a:path w="462280">
                <a:moveTo>
                  <a:pt x="0" y="0"/>
                </a:moveTo>
                <a:lnTo>
                  <a:pt x="46173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976170" y="2240532"/>
            <a:ext cx="602615" cy="1936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665"/>
              </a:lnSpc>
              <a:spcBef>
                <a:spcPts val="90"/>
              </a:spcBef>
              <a:tabLst>
                <a:tab pos="204470" algn="l"/>
              </a:tabLst>
            </a:pP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 marR="5080" algn="r">
              <a:lnSpc>
                <a:spcPts val="665"/>
              </a:lnSpc>
            </a:pPr>
            <a:r>
              <a:rPr sz="1100" spc="430" dirty="0">
                <a:latin typeface="Georgia"/>
                <a:cs typeface="Georgia"/>
              </a:rPr>
              <a:t>Σ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14752" y="2329039"/>
            <a:ext cx="38862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885"/>
              </a:lnSpc>
              <a:spcBef>
                <a:spcPts val="95"/>
              </a:spcBef>
              <a:tabLst>
                <a:tab pos="267970" algn="l"/>
              </a:tabLst>
            </a:pPr>
            <a:r>
              <a:rPr sz="1200" i="1" spc="-75" baseline="3472" dirty="0">
                <a:latin typeface="Arial"/>
                <a:cs typeface="Arial"/>
              </a:rPr>
              <a:t>n</a:t>
            </a:r>
            <a:r>
              <a:rPr sz="1200" i="1" baseline="3472" dirty="0">
                <a:latin typeface="Arial"/>
                <a:cs typeface="Arial"/>
              </a:rPr>
              <a:t>	</a:t>
            </a:r>
            <a:r>
              <a:rPr sz="800" u="sng" spc="-10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  <a:p>
            <a:pPr marL="50800">
              <a:lnSpc>
                <a:spcPts val="885"/>
              </a:lnSpc>
            </a:pPr>
            <a:r>
              <a:rPr sz="1200" i="1" baseline="3472" dirty="0">
                <a:latin typeface="Arial"/>
                <a:cs typeface="Arial"/>
              </a:rPr>
              <a:t>i</a:t>
            </a:r>
            <a:r>
              <a:rPr sz="1200" i="1" spc="-202" baseline="3472" dirty="0">
                <a:latin typeface="Arial"/>
                <a:cs typeface="Arial"/>
              </a:rPr>
              <a:t> </a:t>
            </a:r>
            <a:r>
              <a:rPr sz="1200" baseline="3472" dirty="0">
                <a:latin typeface="Tahoma"/>
                <a:cs typeface="Tahoma"/>
              </a:rPr>
              <a:t>=1</a:t>
            </a:r>
            <a:r>
              <a:rPr sz="1200" spc="247" baseline="3472" dirty="0">
                <a:latin typeface="Tahoma"/>
                <a:cs typeface="Tahoma"/>
              </a:rPr>
              <a:t> </a:t>
            </a:r>
            <a:r>
              <a:rPr sz="800" i="1" spc="-25" dirty="0">
                <a:latin typeface="Arial"/>
                <a:cs typeface="Arial"/>
              </a:rPr>
              <a:t>x</a:t>
            </a:r>
            <a:r>
              <a:rPr sz="900" i="1" spc="-37" baseline="-13888" dirty="0">
                <a:latin typeface="Arial"/>
                <a:cs typeface="Arial"/>
              </a:rPr>
              <a:t>i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90245" y="265402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08393" y="2564344"/>
            <a:ext cx="1083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Geometric</a:t>
            </a:r>
            <a:r>
              <a:rPr sz="11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Mean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909533" y="2925584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896833" y="2855314"/>
            <a:ext cx="325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4470" algn="l"/>
              </a:tabLst>
            </a:pP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12085" y="2618395"/>
            <a:ext cx="1352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81668" y="2719449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21763" y="2723691"/>
            <a:ext cx="1898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23744" y="3061283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596489" y="2855314"/>
            <a:ext cx="165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702356" y="2652914"/>
            <a:ext cx="3041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135" baseline="12626" dirty="0">
                <a:latin typeface="Georgia"/>
                <a:cs typeface="Georgia"/>
              </a:rPr>
              <a:t>!</a:t>
            </a:r>
            <a:r>
              <a:rPr sz="900" spc="135" baseline="13888" dirty="0">
                <a:latin typeface="Tahoma"/>
                <a:cs typeface="Tahoma"/>
              </a:rPr>
              <a:t>1</a:t>
            </a:r>
            <a:r>
              <a:rPr sz="800" i="1" spc="90" dirty="0">
                <a:latin typeface="Calibri"/>
                <a:cs typeface="Calibri"/>
              </a:rPr>
              <a:t>/</a:t>
            </a:r>
            <a:r>
              <a:rPr sz="600" i="1" spc="90" dirty="0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44" name="object 44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30" dirty="0"/>
              <a:t>Other</a:t>
            </a:r>
            <a:r>
              <a:rPr spc="-65" dirty="0"/>
              <a:t> </a:t>
            </a: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0" dirty="0"/>
              <a:t>Mean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47900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373466"/>
            <a:ext cx="4068445" cy="600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100"/>
              </a:spcBef>
              <a:tabLst>
                <a:tab pos="2963545" algn="l"/>
              </a:tabLst>
            </a:pPr>
            <a:r>
              <a:rPr sz="1100" spc="-10" dirty="0">
                <a:latin typeface="Tahoma"/>
                <a:cs typeface="Tahoma"/>
              </a:rPr>
              <a:t>Arithmetic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sensitive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outliers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335" dirty="0">
                <a:latin typeface="Lucida Sans Unicode"/>
                <a:cs typeface="Lucida Sans Unicode"/>
              </a:rPr>
              <a:t>▷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unstable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statistic </a:t>
            </a:r>
            <a:r>
              <a:rPr sz="1100" dirty="0">
                <a:latin typeface="Tahoma"/>
                <a:cs typeface="Tahoma"/>
              </a:rPr>
              <a:t>Just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high/low </a:t>
            </a:r>
            <a:r>
              <a:rPr sz="1100" spc="-35" dirty="0">
                <a:latin typeface="Tahoma"/>
                <a:cs typeface="Tahoma"/>
              </a:rPr>
              <a:t>value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(think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120" dirty="0">
                <a:latin typeface="Cambria"/>
                <a:cs typeface="Cambria"/>
              </a:rPr>
              <a:t>±∞</a:t>
            </a:r>
            <a:r>
              <a:rPr sz="1100" spc="12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makes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very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high/low</a:t>
            </a:r>
            <a:endParaRPr sz="1100">
              <a:latin typeface="Tahoma"/>
              <a:cs typeface="Tahoma"/>
            </a:endParaRPr>
          </a:p>
          <a:p>
            <a:pPr marL="227329">
              <a:lnSpc>
                <a:spcPct val="100000"/>
              </a:lnSpc>
              <a:spcBef>
                <a:spcPts val="755"/>
              </a:spcBef>
            </a:pPr>
            <a:r>
              <a:rPr sz="750" dirty="0">
                <a:latin typeface="Calibri"/>
                <a:cs typeface="Calibri"/>
              </a:rPr>
              <a:t>2.5</a:t>
            </a:r>
            <a:r>
              <a:rPr sz="750" spc="455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2.5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3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3.5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3.5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3.5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3.5</a:t>
            </a:r>
            <a:r>
              <a:rPr sz="750" spc="455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4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4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4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4.5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4.5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4.5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5</a:t>
            </a:r>
            <a:r>
              <a:rPr sz="750" spc="455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5.5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5.5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6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98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spc="-25" dirty="0">
                <a:latin typeface="Calibri"/>
                <a:cs typeface="Calibri"/>
              </a:rPr>
              <a:t>99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66112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38342" y="1189219"/>
            <a:ext cx="3823335" cy="410209"/>
            <a:chOff x="338342" y="1189219"/>
            <a:chExt cx="3823335" cy="410209"/>
          </a:xfrm>
        </p:grpSpPr>
        <p:sp>
          <p:nvSpPr>
            <p:cNvPr id="7" name="object 7"/>
            <p:cNvSpPr/>
            <p:nvPr/>
          </p:nvSpPr>
          <p:spPr>
            <a:xfrm>
              <a:off x="345009" y="1543956"/>
              <a:ext cx="1694814" cy="0"/>
            </a:xfrm>
            <a:custGeom>
              <a:avLst/>
              <a:gdLst/>
              <a:ahLst/>
              <a:cxnLst/>
              <a:rect l="l" t="t" r="r" b="b"/>
              <a:pathLst>
                <a:path w="1694814">
                  <a:moveTo>
                    <a:pt x="0" y="0"/>
                  </a:moveTo>
                  <a:lnTo>
                    <a:pt x="1694265" y="0"/>
                  </a:lnTo>
                </a:path>
              </a:pathLst>
            </a:custGeom>
            <a:ln w="132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622" y="1401002"/>
              <a:ext cx="74124" cy="741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14" y="1401002"/>
              <a:ext cx="74124" cy="741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405" y="1401002"/>
              <a:ext cx="74124" cy="741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3297" y="1401002"/>
              <a:ext cx="74124" cy="741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622" y="1295111"/>
              <a:ext cx="74124" cy="741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1514" y="1295111"/>
              <a:ext cx="74124" cy="741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405" y="1295111"/>
              <a:ext cx="74124" cy="741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3297" y="1295111"/>
              <a:ext cx="74124" cy="741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1514" y="1189219"/>
              <a:ext cx="74124" cy="741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405" y="1189219"/>
              <a:ext cx="74124" cy="741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88" y="1401002"/>
              <a:ext cx="74124" cy="7412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039275" y="1493128"/>
              <a:ext cx="2118360" cy="102235"/>
            </a:xfrm>
            <a:custGeom>
              <a:avLst/>
              <a:gdLst/>
              <a:ahLst/>
              <a:cxnLst/>
              <a:rect l="l" t="t" r="r" b="b"/>
              <a:pathLst>
                <a:path w="2118360" h="102234">
                  <a:moveTo>
                    <a:pt x="0" y="0"/>
                  </a:moveTo>
                  <a:lnTo>
                    <a:pt x="0" y="101655"/>
                  </a:lnTo>
                </a:path>
                <a:path w="2118360" h="102234">
                  <a:moveTo>
                    <a:pt x="2117831" y="0"/>
                  </a:moveTo>
                  <a:lnTo>
                    <a:pt x="2117831" y="101655"/>
                  </a:lnTo>
                </a:path>
              </a:pathLst>
            </a:custGeom>
            <a:ln w="7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105670" y="1577880"/>
            <a:ext cx="103505" cy="1206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5" dirty="0">
                <a:latin typeface="Calibri"/>
                <a:cs typeface="Calibri"/>
              </a:rPr>
              <a:t>99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8261" y="1401002"/>
            <a:ext cx="74124" cy="74124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413839" y="1083327"/>
            <a:ext cx="3849370" cy="654050"/>
            <a:chOff x="413839" y="1083327"/>
            <a:chExt cx="3849370" cy="654050"/>
          </a:xfrm>
        </p:grpSpPr>
        <p:sp>
          <p:nvSpPr>
            <p:cNvPr id="23" name="object 23"/>
            <p:cNvSpPr/>
            <p:nvPr/>
          </p:nvSpPr>
          <p:spPr>
            <a:xfrm>
              <a:off x="4120044" y="1401002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4">
                  <a:moveTo>
                    <a:pt x="37062" y="0"/>
                  </a:moveTo>
                  <a:lnTo>
                    <a:pt x="22635" y="2912"/>
                  </a:lnTo>
                  <a:lnTo>
                    <a:pt x="10854" y="10854"/>
                  </a:lnTo>
                  <a:lnTo>
                    <a:pt x="2912" y="22635"/>
                  </a:lnTo>
                  <a:lnTo>
                    <a:pt x="0" y="37062"/>
                  </a:lnTo>
                  <a:lnTo>
                    <a:pt x="2912" y="51488"/>
                  </a:lnTo>
                  <a:lnTo>
                    <a:pt x="10854" y="63269"/>
                  </a:lnTo>
                  <a:lnTo>
                    <a:pt x="22635" y="71211"/>
                  </a:lnTo>
                  <a:lnTo>
                    <a:pt x="37062" y="74124"/>
                  </a:lnTo>
                  <a:lnTo>
                    <a:pt x="51488" y="71211"/>
                  </a:lnTo>
                  <a:lnTo>
                    <a:pt x="63269" y="63269"/>
                  </a:lnTo>
                  <a:lnTo>
                    <a:pt x="71211" y="51488"/>
                  </a:lnTo>
                  <a:lnTo>
                    <a:pt x="74124" y="37062"/>
                  </a:lnTo>
                  <a:lnTo>
                    <a:pt x="71211" y="22635"/>
                  </a:lnTo>
                  <a:lnTo>
                    <a:pt x="63269" y="10854"/>
                  </a:lnTo>
                  <a:lnTo>
                    <a:pt x="51488" y="2912"/>
                  </a:lnTo>
                  <a:lnTo>
                    <a:pt x="370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622" y="1189219"/>
              <a:ext cx="74124" cy="741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622" y="1083327"/>
              <a:ext cx="74124" cy="741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730" y="1401002"/>
              <a:ext cx="74124" cy="741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839" y="1401002"/>
              <a:ext cx="74124" cy="741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65222" y="1558847"/>
              <a:ext cx="89346" cy="17828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3839" y="1295111"/>
              <a:ext cx="74124" cy="741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5080" y="1401002"/>
              <a:ext cx="74124" cy="741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9188" y="1295111"/>
              <a:ext cx="74124" cy="7412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039275" y="1543956"/>
              <a:ext cx="1694814" cy="0"/>
            </a:xfrm>
            <a:custGeom>
              <a:avLst/>
              <a:gdLst/>
              <a:ahLst/>
              <a:cxnLst/>
              <a:rect l="l" t="t" r="r" b="b"/>
              <a:pathLst>
                <a:path w="1694814">
                  <a:moveTo>
                    <a:pt x="0" y="0"/>
                  </a:moveTo>
                  <a:lnTo>
                    <a:pt x="1694265" y="0"/>
                  </a:lnTo>
                </a:path>
              </a:pathLst>
            </a:custGeom>
            <a:ln w="13236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33540" y="1543956"/>
              <a:ext cx="529590" cy="0"/>
            </a:xfrm>
            <a:custGeom>
              <a:avLst/>
              <a:gdLst/>
              <a:ahLst/>
              <a:cxnLst/>
              <a:rect l="l" t="t" r="r" b="b"/>
              <a:pathLst>
                <a:path w="529589">
                  <a:moveTo>
                    <a:pt x="0" y="0"/>
                  </a:moveTo>
                  <a:lnTo>
                    <a:pt x="529457" y="0"/>
                  </a:lnTo>
                </a:path>
              </a:pathLst>
            </a:custGeom>
            <a:ln w="132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80359" y="1493128"/>
              <a:ext cx="0" cy="102235"/>
            </a:xfrm>
            <a:custGeom>
              <a:avLst/>
              <a:gdLst/>
              <a:ahLst/>
              <a:cxnLst/>
              <a:rect l="l" t="t" r="r" b="b"/>
              <a:pathLst>
                <a:path h="102234">
                  <a:moveTo>
                    <a:pt x="0" y="0"/>
                  </a:moveTo>
                  <a:lnTo>
                    <a:pt x="0" y="101655"/>
                  </a:lnTo>
                </a:path>
              </a:pathLst>
            </a:custGeom>
            <a:ln w="7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31305" y="1740748"/>
            <a:ext cx="4344035" cy="609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725" algn="ctr">
              <a:lnSpc>
                <a:spcPct val="100000"/>
              </a:lnSpc>
              <a:spcBef>
                <a:spcPts val="95"/>
              </a:spcBef>
            </a:pPr>
            <a:r>
              <a:rPr sz="750" dirty="0">
                <a:solidFill>
                  <a:srgbClr val="0000FF"/>
                </a:solidFill>
                <a:latin typeface="Calibri"/>
                <a:cs typeface="Calibri"/>
              </a:rPr>
              <a:t>Mean</a:t>
            </a:r>
            <a:r>
              <a:rPr sz="750" spc="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50" spc="19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750" spc="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0000FF"/>
                </a:solidFill>
                <a:latin typeface="Calibri"/>
                <a:cs typeface="Calibri"/>
              </a:rPr>
              <a:t>13</a:t>
            </a:r>
            <a:r>
              <a:rPr sz="750" i="1" spc="-10" dirty="0">
                <a:solidFill>
                  <a:srgbClr val="0000FF"/>
                </a:solidFill>
                <a:latin typeface="Arial"/>
                <a:cs typeface="Arial"/>
              </a:rPr>
              <a:t>.</a:t>
            </a:r>
            <a:r>
              <a:rPr sz="750" spc="-10" dirty="0">
                <a:solidFill>
                  <a:srgbClr val="0000FF"/>
                </a:solidFill>
                <a:latin typeface="Calibri"/>
                <a:cs typeface="Calibri"/>
              </a:rPr>
              <a:t>57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Trimmed</a:t>
            </a:r>
            <a:r>
              <a:rPr sz="1100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Mean:</a:t>
            </a:r>
            <a:r>
              <a:rPr sz="1100" b="1" spc="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75" dirty="0">
                <a:latin typeface="Tahoma"/>
                <a:cs typeface="Tahoma"/>
              </a:rPr>
              <a:t>Ignore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Arial"/>
                <a:cs typeface="Arial"/>
              </a:rPr>
              <a:t>k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%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extremes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mean</a:t>
            </a:r>
            <a:endParaRPr sz="1100">
              <a:latin typeface="Tahoma"/>
              <a:cs typeface="Tahoma"/>
            </a:endParaRPr>
          </a:p>
          <a:p>
            <a:pPr marL="487680">
              <a:lnSpc>
                <a:spcPct val="100000"/>
              </a:lnSpc>
              <a:spcBef>
                <a:spcPts val="580"/>
              </a:spcBef>
            </a:pPr>
            <a:r>
              <a:rPr sz="750" dirty="0">
                <a:latin typeface="Calibri"/>
                <a:cs typeface="Calibri"/>
              </a:rPr>
              <a:t>2.5</a:t>
            </a:r>
            <a:r>
              <a:rPr sz="750" spc="455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2.5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3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3.5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3.5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3.5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3.5</a:t>
            </a:r>
            <a:r>
              <a:rPr sz="750" spc="455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4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4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4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4.5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4.5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4.5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5</a:t>
            </a:r>
            <a:r>
              <a:rPr sz="750" spc="455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5.5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5.5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6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dirty="0">
                <a:latin typeface="Calibri"/>
                <a:cs typeface="Calibri"/>
              </a:rPr>
              <a:t>98</a:t>
            </a:r>
            <a:r>
              <a:rPr sz="750" spc="459" dirty="0">
                <a:latin typeface="Calibri"/>
                <a:cs typeface="Calibri"/>
              </a:rPr>
              <a:t> </a:t>
            </a:r>
            <a:r>
              <a:rPr sz="750" spc="-25" dirty="0">
                <a:latin typeface="Calibri"/>
                <a:cs typeface="Calibri"/>
              </a:rPr>
              <a:t>99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48290" y="1577880"/>
            <a:ext cx="64135" cy="1206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50" dirty="0">
                <a:latin typeface="Calibri"/>
                <a:cs typeface="Calibri"/>
              </a:rPr>
              <a:t>5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38342" y="2562193"/>
            <a:ext cx="3823335" cy="410209"/>
            <a:chOff x="338342" y="2562193"/>
            <a:chExt cx="3823335" cy="410209"/>
          </a:xfrm>
        </p:grpSpPr>
        <p:sp>
          <p:nvSpPr>
            <p:cNvPr id="38" name="object 38"/>
            <p:cNvSpPr/>
            <p:nvPr/>
          </p:nvSpPr>
          <p:spPr>
            <a:xfrm>
              <a:off x="345009" y="2916930"/>
              <a:ext cx="1694814" cy="0"/>
            </a:xfrm>
            <a:custGeom>
              <a:avLst/>
              <a:gdLst/>
              <a:ahLst/>
              <a:cxnLst/>
              <a:rect l="l" t="t" r="r" b="b"/>
              <a:pathLst>
                <a:path w="1694814">
                  <a:moveTo>
                    <a:pt x="0" y="0"/>
                  </a:moveTo>
                  <a:lnTo>
                    <a:pt x="1694265" y="0"/>
                  </a:lnTo>
                </a:path>
              </a:pathLst>
            </a:custGeom>
            <a:ln w="132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622" y="2773976"/>
              <a:ext cx="74124" cy="7412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14" y="2773976"/>
              <a:ext cx="74124" cy="7412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405" y="2773976"/>
              <a:ext cx="74124" cy="7412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3297" y="2773976"/>
              <a:ext cx="74124" cy="7412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622" y="2668085"/>
              <a:ext cx="74124" cy="7412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14" y="2668085"/>
              <a:ext cx="74124" cy="7412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405" y="2668085"/>
              <a:ext cx="74124" cy="7412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3297" y="2668085"/>
              <a:ext cx="74124" cy="7412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1514" y="2562193"/>
              <a:ext cx="74124" cy="7412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405" y="2562193"/>
              <a:ext cx="74124" cy="7412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039275" y="2866102"/>
              <a:ext cx="0" cy="102235"/>
            </a:xfrm>
            <a:custGeom>
              <a:avLst/>
              <a:gdLst/>
              <a:ahLst/>
              <a:cxnLst/>
              <a:rect l="l" t="t" r="r" b="b"/>
              <a:pathLst>
                <a:path h="102235">
                  <a:moveTo>
                    <a:pt x="0" y="0"/>
                  </a:moveTo>
                  <a:lnTo>
                    <a:pt x="0" y="101655"/>
                  </a:lnTo>
                </a:path>
              </a:pathLst>
            </a:custGeom>
            <a:ln w="7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88" y="2773976"/>
              <a:ext cx="74124" cy="7412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157106" y="2866102"/>
              <a:ext cx="0" cy="102235"/>
            </a:xfrm>
            <a:custGeom>
              <a:avLst/>
              <a:gdLst/>
              <a:ahLst/>
              <a:cxnLst/>
              <a:rect l="l" t="t" r="r" b="b"/>
              <a:pathLst>
                <a:path h="102235">
                  <a:moveTo>
                    <a:pt x="0" y="0"/>
                  </a:moveTo>
                  <a:lnTo>
                    <a:pt x="0" y="101655"/>
                  </a:lnTo>
                </a:path>
              </a:pathLst>
            </a:custGeom>
            <a:ln w="7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105670" y="2950854"/>
            <a:ext cx="103505" cy="1206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5" dirty="0">
                <a:latin typeface="Calibri"/>
                <a:cs typeface="Calibri"/>
              </a:rPr>
              <a:t>99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53" name="object 5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08261" y="2773976"/>
            <a:ext cx="74124" cy="74124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413839" y="2456302"/>
            <a:ext cx="3856354" cy="515620"/>
            <a:chOff x="413839" y="2456302"/>
            <a:chExt cx="3856354" cy="515620"/>
          </a:xfrm>
        </p:grpSpPr>
        <p:sp>
          <p:nvSpPr>
            <p:cNvPr id="55" name="object 55"/>
            <p:cNvSpPr/>
            <p:nvPr/>
          </p:nvSpPr>
          <p:spPr>
            <a:xfrm>
              <a:off x="4120044" y="2773976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4">
                  <a:moveTo>
                    <a:pt x="37062" y="0"/>
                  </a:moveTo>
                  <a:lnTo>
                    <a:pt x="22635" y="2912"/>
                  </a:lnTo>
                  <a:lnTo>
                    <a:pt x="10854" y="10854"/>
                  </a:lnTo>
                  <a:lnTo>
                    <a:pt x="2912" y="22635"/>
                  </a:lnTo>
                  <a:lnTo>
                    <a:pt x="0" y="37062"/>
                  </a:lnTo>
                  <a:lnTo>
                    <a:pt x="2912" y="51488"/>
                  </a:lnTo>
                  <a:lnTo>
                    <a:pt x="10854" y="63269"/>
                  </a:lnTo>
                  <a:lnTo>
                    <a:pt x="22635" y="71211"/>
                  </a:lnTo>
                  <a:lnTo>
                    <a:pt x="37062" y="74124"/>
                  </a:lnTo>
                  <a:lnTo>
                    <a:pt x="51488" y="71211"/>
                  </a:lnTo>
                  <a:lnTo>
                    <a:pt x="63269" y="63269"/>
                  </a:lnTo>
                  <a:lnTo>
                    <a:pt x="71211" y="51488"/>
                  </a:lnTo>
                  <a:lnTo>
                    <a:pt x="74124" y="37062"/>
                  </a:lnTo>
                  <a:lnTo>
                    <a:pt x="71211" y="22635"/>
                  </a:lnTo>
                  <a:lnTo>
                    <a:pt x="63269" y="10854"/>
                  </a:lnTo>
                  <a:lnTo>
                    <a:pt x="51488" y="2912"/>
                  </a:lnTo>
                  <a:lnTo>
                    <a:pt x="37062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622" y="2562193"/>
              <a:ext cx="74124" cy="7412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622" y="2456302"/>
              <a:ext cx="74124" cy="7412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730" y="2773976"/>
              <a:ext cx="74124" cy="7412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839" y="2773976"/>
              <a:ext cx="74124" cy="7412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839" y="2668085"/>
              <a:ext cx="74124" cy="74124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5080" y="2773976"/>
              <a:ext cx="74124" cy="7412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88" y="2668085"/>
              <a:ext cx="74124" cy="7412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039275" y="2916930"/>
              <a:ext cx="1694814" cy="0"/>
            </a:xfrm>
            <a:custGeom>
              <a:avLst/>
              <a:gdLst/>
              <a:ahLst/>
              <a:cxnLst/>
              <a:rect l="l" t="t" r="r" b="b"/>
              <a:pathLst>
                <a:path w="1694814">
                  <a:moveTo>
                    <a:pt x="0" y="0"/>
                  </a:moveTo>
                  <a:lnTo>
                    <a:pt x="1694265" y="0"/>
                  </a:lnTo>
                </a:path>
              </a:pathLst>
            </a:custGeom>
            <a:ln w="13236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733540" y="2916930"/>
              <a:ext cx="529590" cy="0"/>
            </a:xfrm>
            <a:custGeom>
              <a:avLst/>
              <a:gdLst/>
              <a:ahLst/>
              <a:cxnLst/>
              <a:rect l="l" t="t" r="r" b="b"/>
              <a:pathLst>
                <a:path w="529589">
                  <a:moveTo>
                    <a:pt x="0" y="0"/>
                  </a:moveTo>
                  <a:lnTo>
                    <a:pt x="529457" y="0"/>
                  </a:lnTo>
                </a:path>
              </a:pathLst>
            </a:custGeom>
            <a:ln w="132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80359" y="2866102"/>
              <a:ext cx="0" cy="102235"/>
            </a:xfrm>
            <a:custGeom>
              <a:avLst/>
              <a:gdLst/>
              <a:ahLst/>
              <a:cxnLst/>
              <a:rect l="l" t="t" r="r" b="b"/>
              <a:pathLst>
                <a:path h="102235">
                  <a:moveTo>
                    <a:pt x="0" y="0"/>
                  </a:moveTo>
                  <a:lnTo>
                    <a:pt x="0" y="101655"/>
                  </a:lnTo>
                </a:path>
              </a:pathLst>
            </a:custGeom>
            <a:ln w="7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948290" y="2950854"/>
            <a:ext cx="64135" cy="1206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50" dirty="0">
                <a:latin typeface="Calibri"/>
                <a:cs typeface="Calibri"/>
              </a:rPr>
              <a:t>5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67" name="object 6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7281" y="2932225"/>
            <a:ext cx="89346" cy="178281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503913" y="3114126"/>
            <a:ext cx="549910" cy="139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dirty="0">
                <a:solidFill>
                  <a:srgbClr val="0000FF"/>
                </a:solidFill>
                <a:latin typeface="Calibri"/>
                <a:cs typeface="Calibri"/>
              </a:rPr>
              <a:t>Mean</a:t>
            </a:r>
            <a:r>
              <a:rPr sz="750" spc="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50" spc="19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750" spc="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0000FF"/>
                </a:solidFill>
                <a:latin typeface="Calibri"/>
                <a:cs typeface="Calibri"/>
              </a:rPr>
              <a:t>4</a:t>
            </a:r>
            <a:r>
              <a:rPr sz="750" i="1" spc="-20" dirty="0">
                <a:solidFill>
                  <a:srgbClr val="0000FF"/>
                </a:solidFill>
                <a:latin typeface="Arial"/>
                <a:cs typeface="Arial"/>
              </a:rPr>
              <a:t>.</a:t>
            </a:r>
            <a:r>
              <a:rPr sz="750" spc="-20" dirty="0">
                <a:solidFill>
                  <a:srgbClr val="0000FF"/>
                </a:solidFill>
                <a:latin typeface="Calibri"/>
                <a:cs typeface="Calibri"/>
              </a:rPr>
              <a:t>34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0" name="object 7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70" dirty="0"/>
              <a:t>Measures</a:t>
            </a:r>
            <a:r>
              <a:rPr spc="-2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30" dirty="0"/>
              <a:t>Central</a:t>
            </a:r>
            <a:r>
              <a:rPr spc="-40" dirty="0"/>
              <a:t> </a:t>
            </a:r>
            <a:r>
              <a:rPr spc="-65" dirty="0"/>
              <a:t>Tendencies:</a:t>
            </a:r>
            <a:r>
              <a:rPr spc="65" dirty="0"/>
              <a:t> </a:t>
            </a:r>
            <a:r>
              <a:rPr spc="-10" dirty="0"/>
              <a:t>Median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189026" y="8389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9026" y="104896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026" y="125900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05" y="466076"/>
            <a:ext cx="4344670" cy="895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Median</a:t>
            </a:r>
            <a:r>
              <a:rPr sz="11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middle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value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dataset</a:t>
            </a:r>
            <a:endParaRPr sz="1100">
              <a:latin typeface="Tahoma"/>
              <a:cs typeface="Tahoma"/>
            </a:endParaRPr>
          </a:p>
          <a:p>
            <a:pPr marL="187960">
              <a:lnSpc>
                <a:spcPct val="100000"/>
              </a:lnSpc>
              <a:spcBef>
                <a:spcPts val="910"/>
              </a:spcBef>
            </a:pPr>
            <a:r>
              <a:rPr sz="1100" spc="-25" dirty="0">
                <a:latin typeface="Tahoma"/>
                <a:cs typeface="Tahoma"/>
              </a:rPr>
              <a:t>Odd/even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values</a:t>
            </a:r>
            <a:endParaRPr sz="1100">
              <a:latin typeface="Tahoma"/>
              <a:cs typeface="Tahoma"/>
            </a:endParaRPr>
          </a:p>
          <a:p>
            <a:pPr marL="1879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latin typeface="Tahoma"/>
                <a:cs typeface="Tahoma"/>
              </a:rPr>
              <a:t>Median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less</a:t>
            </a:r>
            <a:r>
              <a:rPr sz="1100" spc="-35" dirty="0">
                <a:latin typeface="Tahoma"/>
                <a:cs typeface="Tahoma"/>
              </a:rPr>
              <a:t> sensitive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outliers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compared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mean</a:t>
            </a:r>
            <a:endParaRPr sz="1100">
              <a:latin typeface="Tahoma"/>
              <a:cs typeface="Tahoma"/>
            </a:endParaRPr>
          </a:p>
          <a:p>
            <a:pPr marL="187960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Tahoma"/>
                <a:cs typeface="Tahoma"/>
              </a:rPr>
              <a:t>Median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good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asymmetric</a:t>
            </a:r>
            <a:r>
              <a:rPr sz="1100" spc="-30" dirty="0">
                <a:latin typeface="Tahoma"/>
                <a:cs typeface="Tahoma"/>
              </a:rPr>
              <a:t> distributions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where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outliers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38353" y="1714135"/>
            <a:ext cx="3829685" cy="410845"/>
            <a:chOff x="338353" y="1714135"/>
            <a:chExt cx="3829685" cy="410845"/>
          </a:xfrm>
        </p:grpSpPr>
        <p:sp>
          <p:nvSpPr>
            <p:cNvPr id="8" name="object 8"/>
            <p:cNvSpPr/>
            <p:nvPr/>
          </p:nvSpPr>
          <p:spPr>
            <a:xfrm>
              <a:off x="345020" y="2069464"/>
              <a:ext cx="1697355" cy="0"/>
            </a:xfrm>
            <a:custGeom>
              <a:avLst/>
              <a:gdLst/>
              <a:ahLst/>
              <a:cxnLst/>
              <a:rect l="l" t="t" r="r" b="b"/>
              <a:pathLst>
                <a:path w="1697355">
                  <a:moveTo>
                    <a:pt x="0" y="0"/>
                  </a:moveTo>
                  <a:lnTo>
                    <a:pt x="1697093" y="0"/>
                  </a:lnTo>
                </a:path>
              </a:pathLst>
            </a:custGeom>
            <a:ln w="132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101" y="1926272"/>
              <a:ext cx="74247" cy="7424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170" y="1926272"/>
              <a:ext cx="74247" cy="7424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307" y="1926272"/>
              <a:ext cx="74247" cy="7424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38" y="1926272"/>
              <a:ext cx="74247" cy="7424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101" y="1820203"/>
              <a:ext cx="74247" cy="7424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170" y="1820203"/>
              <a:ext cx="74247" cy="7424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38" y="1820203"/>
              <a:ext cx="74247" cy="7424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307" y="1820203"/>
              <a:ext cx="74247" cy="742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2170" y="1714135"/>
              <a:ext cx="74247" cy="7424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238" y="1714135"/>
              <a:ext cx="74247" cy="7424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0375" y="1926272"/>
              <a:ext cx="74247" cy="7424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042114" y="2018551"/>
              <a:ext cx="2121535" cy="102235"/>
            </a:xfrm>
            <a:custGeom>
              <a:avLst/>
              <a:gdLst/>
              <a:ahLst/>
              <a:cxnLst/>
              <a:rect l="l" t="t" r="r" b="b"/>
              <a:pathLst>
                <a:path w="2121535" h="102235">
                  <a:moveTo>
                    <a:pt x="0" y="0"/>
                  </a:moveTo>
                  <a:lnTo>
                    <a:pt x="0" y="101825"/>
                  </a:lnTo>
                </a:path>
                <a:path w="2121535" h="102235">
                  <a:moveTo>
                    <a:pt x="2121367" y="0"/>
                  </a:moveTo>
                  <a:lnTo>
                    <a:pt x="2121367" y="101825"/>
                  </a:lnTo>
                </a:path>
              </a:pathLst>
            </a:custGeom>
            <a:ln w="7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111980" y="2103466"/>
            <a:ext cx="103505" cy="120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-25" dirty="0">
                <a:latin typeface="Calibri"/>
                <a:cs typeface="Calibri"/>
              </a:rPr>
              <a:t>99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4221" y="1926272"/>
            <a:ext cx="74247" cy="74247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413965" y="1608067"/>
            <a:ext cx="3855720" cy="655320"/>
            <a:chOff x="413965" y="1608067"/>
            <a:chExt cx="3855720" cy="655320"/>
          </a:xfrm>
        </p:grpSpPr>
        <p:sp>
          <p:nvSpPr>
            <p:cNvPr id="24" name="object 24"/>
            <p:cNvSpPr/>
            <p:nvPr/>
          </p:nvSpPr>
          <p:spPr>
            <a:xfrm>
              <a:off x="4126358" y="1926272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4">
                  <a:moveTo>
                    <a:pt x="37123" y="0"/>
                  </a:moveTo>
                  <a:lnTo>
                    <a:pt x="22673" y="2917"/>
                  </a:lnTo>
                  <a:lnTo>
                    <a:pt x="10872" y="10872"/>
                  </a:lnTo>
                  <a:lnTo>
                    <a:pt x="2917" y="22673"/>
                  </a:lnTo>
                  <a:lnTo>
                    <a:pt x="0" y="37123"/>
                  </a:lnTo>
                  <a:lnTo>
                    <a:pt x="2917" y="51574"/>
                  </a:lnTo>
                  <a:lnTo>
                    <a:pt x="10872" y="63375"/>
                  </a:lnTo>
                  <a:lnTo>
                    <a:pt x="22673" y="71330"/>
                  </a:lnTo>
                  <a:lnTo>
                    <a:pt x="37123" y="74247"/>
                  </a:lnTo>
                  <a:lnTo>
                    <a:pt x="51574" y="71330"/>
                  </a:lnTo>
                  <a:lnTo>
                    <a:pt x="63375" y="63375"/>
                  </a:lnTo>
                  <a:lnTo>
                    <a:pt x="71330" y="51574"/>
                  </a:lnTo>
                  <a:lnTo>
                    <a:pt x="74247" y="37123"/>
                  </a:lnTo>
                  <a:lnTo>
                    <a:pt x="71330" y="22673"/>
                  </a:lnTo>
                  <a:lnTo>
                    <a:pt x="63375" y="10872"/>
                  </a:lnTo>
                  <a:lnTo>
                    <a:pt x="51574" y="2917"/>
                  </a:lnTo>
                  <a:lnTo>
                    <a:pt x="371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6101" y="1714135"/>
              <a:ext cx="74247" cy="7424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6101" y="1608067"/>
              <a:ext cx="74247" cy="7424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033" y="1926272"/>
              <a:ext cx="74247" cy="7424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965" y="1926272"/>
              <a:ext cx="74247" cy="7424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68606" y="2084380"/>
              <a:ext cx="89495" cy="17857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965" y="1820203"/>
              <a:ext cx="74247" cy="7424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443" y="1926272"/>
              <a:ext cx="74247" cy="7424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0375" y="1820203"/>
              <a:ext cx="74247" cy="7424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042114" y="2069464"/>
              <a:ext cx="1697355" cy="0"/>
            </a:xfrm>
            <a:custGeom>
              <a:avLst/>
              <a:gdLst/>
              <a:ahLst/>
              <a:cxnLst/>
              <a:rect l="l" t="t" r="r" b="b"/>
              <a:pathLst>
                <a:path w="1697354">
                  <a:moveTo>
                    <a:pt x="0" y="0"/>
                  </a:moveTo>
                  <a:lnTo>
                    <a:pt x="1697093" y="0"/>
                  </a:lnTo>
                </a:path>
              </a:pathLst>
            </a:custGeom>
            <a:ln w="13258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39208" y="2069464"/>
              <a:ext cx="530860" cy="0"/>
            </a:xfrm>
            <a:custGeom>
              <a:avLst/>
              <a:gdLst/>
              <a:ahLst/>
              <a:cxnLst/>
              <a:rect l="l" t="t" r="r" b="b"/>
              <a:pathLst>
                <a:path w="530860">
                  <a:moveTo>
                    <a:pt x="0" y="0"/>
                  </a:moveTo>
                  <a:lnTo>
                    <a:pt x="530341" y="0"/>
                  </a:lnTo>
                </a:path>
              </a:pathLst>
            </a:custGeom>
            <a:ln w="132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81430" y="2018551"/>
              <a:ext cx="0" cy="102235"/>
            </a:xfrm>
            <a:custGeom>
              <a:avLst/>
              <a:gdLst/>
              <a:ahLst/>
              <a:cxnLst/>
              <a:rect l="l" t="t" r="r" b="b"/>
              <a:pathLst>
                <a:path h="102235">
                  <a:moveTo>
                    <a:pt x="0" y="0"/>
                  </a:moveTo>
                  <a:lnTo>
                    <a:pt x="0" y="101825"/>
                  </a:lnTo>
                </a:path>
              </a:pathLst>
            </a:custGeom>
            <a:ln w="7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6586" y="2084380"/>
              <a:ext cx="89495" cy="17857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97296" y="2103466"/>
            <a:ext cx="2214880" cy="30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64184">
              <a:lnSpc>
                <a:spcPct val="100000"/>
              </a:lnSpc>
              <a:spcBef>
                <a:spcPts val="125"/>
              </a:spcBef>
            </a:pPr>
            <a:r>
              <a:rPr sz="600" spc="-50" dirty="0">
                <a:latin typeface="Calibri"/>
                <a:cs typeface="Calibri"/>
              </a:rPr>
              <a:t>5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  <a:tabLst>
                <a:tab pos="1630045" algn="l"/>
              </a:tabLst>
            </a:pPr>
            <a:r>
              <a:rPr sz="750" dirty="0">
                <a:solidFill>
                  <a:srgbClr val="0000FF"/>
                </a:solidFill>
                <a:latin typeface="Calibri"/>
                <a:cs typeface="Calibri"/>
              </a:rPr>
              <a:t>Median</a:t>
            </a:r>
            <a:r>
              <a:rPr sz="750" spc="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50" spc="19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750" spc="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0000FF"/>
                </a:solidFill>
                <a:latin typeface="Calibri"/>
                <a:cs typeface="Calibri"/>
              </a:rPr>
              <a:t>4</a:t>
            </a:r>
            <a:r>
              <a:rPr sz="750" i="1" spc="-20" dirty="0">
                <a:solidFill>
                  <a:srgbClr val="0000FF"/>
                </a:solidFill>
                <a:latin typeface="Arial"/>
                <a:cs typeface="Arial"/>
              </a:rPr>
              <a:t>.</a:t>
            </a:r>
            <a:r>
              <a:rPr sz="750" spc="-20" dirty="0">
                <a:solidFill>
                  <a:srgbClr val="0000FF"/>
                </a:solidFill>
                <a:latin typeface="Calibri"/>
                <a:cs typeface="Calibri"/>
              </a:rPr>
              <a:t>25</a:t>
            </a:r>
            <a:r>
              <a:rPr sz="750" dirty="0">
                <a:solidFill>
                  <a:srgbClr val="0000FF"/>
                </a:solidFill>
                <a:latin typeface="Calibri"/>
                <a:cs typeface="Calibri"/>
              </a:rPr>
              <a:t>	Mean</a:t>
            </a:r>
            <a:r>
              <a:rPr sz="750" spc="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50" spc="19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750" spc="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0000FF"/>
                </a:solidFill>
                <a:latin typeface="Calibri"/>
                <a:cs typeface="Calibri"/>
              </a:rPr>
              <a:t>13</a:t>
            </a:r>
            <a:r>
              <a:rPr sz="750" i="1" spc="-20" dirty="0">
                <a:solidFill>
                  <a:srgbClr val="0000FF"/>
                </a:solidFill>
                <a:latin typeface="Arial"/>
                <a:cs typeface="Arial"/>
              </a:rPr>
              <a:t>.</a:t>
            </a:r>
            <a:r>
              <a:rPr sz="750" spc="-20" dirty="0">
                <a:solidFill>
                  <a:srgbClr val="0000FF"/>
                </a:solidFill>
                <a:latin typeface="Calibri"/>
                <a:cs typeface="Calibri"/>
              </a:rPr>
              <a:t>57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90245" y="264444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08393" y="2510990"/>
            <a:ext cx="3825875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30" dirty="0">
                <a:latin typeface="Tahoma"/>
                <a:cs typeface="Tahoma"/>
              </a:rPr>
              <a:t>Various </a:t>
            </a:r>
            <a:r>
              <a:rPr sz="1100" spc="-40" dirty="0">
                <a:latin typeface="Tahoma"/>
                <a:cs typeface="Tahoma"/>
              </a:rPr>
              <a:t>possible</a:t>
            </a:r>
            <a:r>
              <a:rPr sz="1100" spc="-30" dirty="0">
                <a:latin typeface="Tahoma"/>
                <a:cs typeface="Tahoma"/>
              </a:rPr>
              <a:t> definitions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median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higher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dirty="0">
                <a:latin typeface="Tahoma"/>
                <a:cs typeface="Tahoma"/>
              </a:rPr>
              <a:t>Mean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together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5" dirty="0">
                <a:latin typeface="Tahoma"/>
                <a:cs typeface="Tahoma"/>
              </a:rPr>
              <a:t> variance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(see</a:t>
            </a:r>
            <a:r>
              <a:rPr sz="1100" spc="-35" dirty="0">
                <a:latin typeface="Tahoma"/>
                <a:cs typeface="Tahoma"/>
              </a:rPr>
              <a:t> below)</a:t>
            </a:r>
            <a:r>
              <a:rPr sz="1100" spc="-45" dirty="0">
                <a:latin typeface="Tahoma"/>
                <a:cs typeface="Tahoma"/>
              </a:rPr>
              <a:t> has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nice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properties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90245" y="285447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42" name="object 4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299203" y="3351784"/>
            <a:ext cx="2540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latin typeface="Tahoma"/>
                <a:cs typeface="Tahoma"/>
              </a:rPr>
              <a:t>23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90" dirty="0">
                <a:latin typeface="Tahoma"/>
                <a:cs typeface="Tahoma"/>
              </a:rPr>
              <a:t>/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35" dirty="0">
                <a:latin typeface="Tahoma"/>
                <a:cs typeface="Tahoma"/>
              </a:rPr>
              <a:t>64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257" y="97838"/>
            <a:ext cx="43516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8320" algn="l"/>
              </a:tabLst>
            </a:pPr>
            <a:r>
              <a:rPr spc="114" dirty="0"/>
              <a:t> </a:t>
            </a:r>
            <a:r>
              <a:rPr spc="-70" dirty="0"/>
              <a:t>Measures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Spread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124710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52039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79368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206697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234027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261357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88686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1305" y="420343"/>
            <a:ext cx="4127500" cy="25685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Tahoma"/>
                <a:cs typeface="Tahoma"/>
              </a:rPr>
              <a:t>Location</a:t>
            </a:r>
            <a:r>
              <a:rPr sz="1100" spc="-60" dirty="0">
                <a:latin typeface="Tahoma"/>
                <a:cs typeface="Tahoma"/>
              </a:rPr>
              <a:t> measures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tell</a:t>
            </a:r>
            <a:r>
              <a:rPr sz="1100" spc="-30" dirty="0">
                <a:latin typeface="Tahoma"/>
                <a:cs typeface="Tahoma"/>
              </a:rPr>
              <a:t> anything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extremes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spread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(how extreme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extremes)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Measures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0000FF"/>
                </a:solidFill>
                <a:latin typeface="Tahoma"/>
                <a:cs typeface="Tahoma"/>
              </a:rPr>
              <a:t>spread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describe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distribution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endParaRPr sz="1100" dirty="0">
              <a:latin typeface="Tahoma"/>
              <a:cs typeface="Tahoma"/>
            </a:endParaRPr>
          </a:p>
          <a:p>
            <a:pPr marL="289560" marR="3552190">
              <a:lnSpc>
                <a:spcPct val="163000"/>
              </a:lnSpc>
              <a:spcBef>
                <a:spcPts val="220"/>
              </a:spcBef>
            </a:pP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Max Min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835"/>
              </a:spcBef>
            </a:pP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Range</a:t>
            </a:r>
            <a:r>
              <a:rPr sz="11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max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min</a:t>
            </a:r>
            <a:endParaRPr sz="11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830"/>
              </a:spcBef>
            </a:pP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Midrange</a:t>
            </a:r>
            <a:r>
              <a:rPr sz="11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average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min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max</a:t>
            </a:r>
            <a:endParaRPr sz="1100" dirty="0">
              <a:latin typeface="Tahoma"/>
              <a:cs typeface="Tahoma"/>
            </a:endParaRPr>
          </a:p>
          <a:p>
            <a:pPr marL="289560" marR="600075">
              <a:lnSpc>
                <a:spcPct val="163000"/>
              </a:lnSpc>
              <a:tabLst>
                <a:tab pos="1016000" algn="l"/>
                <a:tab pos="1410335" algn="l"/>
                <a:tab pos="1530350" algn="l"/>
                <a:tab pos="2737485" algn="l"/>
              </a:tabLst>
            </a:pP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Inter-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Quartile</a:t>
            </a:r>
            <a:r>
              <a:rPr sz="11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Range</a:t>
            </a:r>
            <a:r>
              <a:rPr sz="11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3rd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quartile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1st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quartile 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Low</a:t>
            </a:r>
            <a:r>
              <a:rPr sz="11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Spread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		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Mid-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spread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	High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solidFill>
                  <a:srgbClr val="0000FF"/>
                </a:solidFill>
                <a:latin typeface="Arial"/>
                <a:cs typeface="Arial"/>
              </a:rPr>
              <a:t>Spread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Variance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1100" spc="-25" dirty="0">
                <a:latin typeface="Tahoma"/>
                <a:cs typeface="Tahoma"/>
              </a:rPr>
              <a:t>and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Standard</a:t>
            </a:r>
            <a:r>
              <a:rPr sz="11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Deviation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10" dirty="0"/>
              <a:t>Quantile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102929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47467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74796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3205" y="466076"/>
            <a:ext cx="4447540" cy="13843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251460">
              <a:lnSpc>
                <a:spcPct val="102600"/>
              </a:lnSpc>
              <a:spcBef>
                <a:spcPts val="55"/>
              </a:spcBef>
            </a:pP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Quantiles</a:t>
            </a:r>
            <a:r>
              <a:rPr sz="11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taken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regular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interval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divided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into </a:t>
            </a:r>
            <a:r>
              <a:rPr sz="1100" spc="-35" dirty="0">
                <a:latin typeface="Tahoma"/>
                <a:cs typeface="Tahoma"/>
              </a:rPr>
              <a:t>roughly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sized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consecutive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subsets</a:t>
            </a:r>
            <a:endParaRPr sz="1100">
              <a:latin typeface="Tahoma"/>
              <a:cs typeface="Tahoma"/>
            </a:endParaRPr>
          </a:p>
          <a:p>
            <a:pPr marL="327660" marR="68580">
              <a:lnSpc>
                <a:spcPct val="102600"/>
              </a:lnSpc>
              <a:spcBef>
                <a:spcPts val="1019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q</a:t>
            </a:r>
            <a:r>
              <a:rPr sz="1100" spc="-25" dirty="0">
                <a:latin typeface="Tahoma"/>
                <a:cs typeface="Tahoma"/>
              </a:rPr>
              <a:t>-</a:t>
            </a:r>
            <a:r>
              <a:rPr sz="1100" spc="-30" dirty="0">
                <a:latin typeface="Tahoma"/>
                <a:cs typeface="Tahoma"/>
              </a:rPr>
              <a:t>quantile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such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55" dirty="0">
                <a:latin typeface="Cambria"/>
                <a:cs typeface="Cambria"/>
              </a:rPr>
              <a:t>∼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200" i="1" baseline="13888" dirty="0">
                <a:latin typeface="Arial"/>
                <a:cs typeface="Arial"/>
              </a:rPr>
              <a:t>i</a:t>
            </a:r>
            <a:r>
              <a:rPr sz="1100" dirty="0">
                <a:latin typeface="Lucida Sans Unicode"/>
                <a:cs typeface="Lucida Sans Unicode"/>
              </a:rPr>
              <a:t>/</a:t>
            </a:r>
            <a:r>
              <a:rPr sz="800" i="1" dirty="0">
                <a:latin typeface="Arial"/>
                <a:cs typeface="Arial"/>
              </a:rPr>
              <a:t>q</a:t>
            </a:r>
            <a:r>
              <a:rPr sz="800" i="1" spc="114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fraction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points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less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55" dirty="0">
                <a:latin typeface="Cambria"/>
                <a:cs typeface="Cambria"/>
              </a:rPr>
              <a:t>∼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200" spc="89" baseline="13888" dirty="0">
                <a:latin typeface="Tahoma"/>
                <a:cs typeface="Tahoma"/>
              </a:rPr>
              <a:t>(</a:t>
            </a:r>
            <a:r>
              <a:rPr sz="1200" i="1" spc="89" baseline="13888" dirty="0">
                <a:latin typeface="Arial"/>
                <a:cs typeface="Arial"/>
              </a:rPr>
              <a:t>q−i</a:t>
            </a:r>
            <a:r>
              <a:rPr sz="1200" i="1" spc="-217" baseline="13888" dirty="0">
                <a:latin typeface="Arial"/>
                <a:cs typeface="Arial"/>
              </a:rPr>
              <a:t> </a:t>
            </a:r>
            <a:r>
              <a:rPr sz="1200" spc="-52" baseline="13888" dirty="0">
                <a:latin typeface="Tahoma"/>
                <a:cs typeface="Tahoma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/</a:t>
            </a:r>
            <a:r>
              <a:rPr sz="800" i="1" spc="-35" dirty="0">
                <a:latin typeface="Arial"/>
                <a:cs typeface="Arial"/>
              </a:rPr>
              <a:t>q</a:t>
            </a:r>
            <a:r>
              <a:rPr sz="800" i="1" spc="12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fraction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greater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marL="327660">
              <a:lnSpc>
                <a:spcPct val="100000"/>
              </a:lnSpc>
              <a:spcBef>
                <a:spcPts val="830"/>
              </a:spcBef>
            </a:pP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Median</a:t>
            </a:r>
            <a:r>
              <a:rPr sz="1100" spc="-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is</a:t>
            </a:r>
            <a:r>
              <a:rPr sz="1100" spc="-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first</a:t>
            </a:r>
            <a:r>
              <a:rPr sz="1100" spc="-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2-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quantile</a:t>
            </a:r>
            <a:endParaRPr sz="110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  <a:spcBef>
                <a:spcPts val="835"/>
              </a:spcBef>
            </a:pPr>
            <a:r>
              <a:rPr sz="1100" spc="-30" dirty="0">
                <a:latin typeface="Tahoma"/>
                <a:cs typeface="Tahoma"/>
              </a:rPr>
              <a:t>3rd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quartile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:=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3rd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4-</a:t>
            </a:r>
            <a:r>
              <a:rPr sz="1100" spc="-30" dirty="0">
                <a:latin typeface="Tahoma"/>
                <a:cs typeface="Tahoma"/>
              </a:rPr>
              <a:t>quantile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75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percentile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4902" y="2014989"/>
            <a:ext cx="2021300" cy="94597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97838"/>
            <a:ext cx="43484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5145" algn="l"/>
              </a:tabLst>
            </a:pPr>
            <a:r>
              <a:rPr sz="1200" u="sng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Measures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of</a:t>
            </a:r>
            <a:r>
              <a:rPr sz="12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Spread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	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220" y="849551"/>
            <a:ext cx="3707624" cy="117380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45" dirty="0"/>
              <a:t>Five-</a:t>
            </a:r>
            <a:r>
              <a:rPr spc="-50" dirty="0"/>
              <a:t>Number</a:t>
            </a:r>
            <a:r>
              <a:rPr dirty="0"/>
              <a:t> </a:t>
            </a:r>
            <a:r>
              <a:rPr spc="-10" dirty="0"/>
              <a:t>Summary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305" y="466076"/>
            <a:ext cx="40970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0000FF"/>
                </a:solidFill>
                <a:latin typeface="Arial"/>
                <a:cs typeface="Arial"/>
              </a:rPr>
              <a:t>Five-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number</a:t>
            </a:r>
            <a:r>
              <a:rPr sz="1100" b="1" spc="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solidFill>
                  <a:srgbClr val="0000FF"/>
                </a:solidFill>
                <a:latin typeface="Arial"/>
                <a:cs typeface="Arial"/>
              </a:rPr>
              <a:t>summary</a:t>
            </a:r>
            <a:r>
              <a:rPr sz="11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(elementary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EDA 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numeric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univariate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2239" y="115971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0387" y="1070037"/>
            <a:ext cx="2514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Min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2239" y="155953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4987" y="1469858"/>
            <a:ext cx="1083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1</a:t>
            </a:r>
            <a:r>
              <a:rPr sz="1200" i="1" spc="-30" baseline="27777" dirty="0">
                <a:latin typeface="Arial"/>
                <a:cs typeface="Arial"/>
              </a:rPr>
              <a:t>st</a:t>
            </a:r>
            <a:r>
              <a:rPr sz="1200" i="1" spc="-179" baseline="27777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/lower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quartile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2239" y="195935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0387" y="1869680"/>
            <a:ext cx="45148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Median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2239" y="235917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22287" y="2269501"/>
            <a:ext cx="1172210" cy="591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2</a:t>
            </a:r>
            <a:r>
              <a:rPr sz="1200" i="1" spc="-52" baseline="27777" dirty="0">
                <a:latin typeface="Arial"/>
                <a:cs typeface="Arial"/>
              </a:rPr>
              <a:t>nd</a:t>
            </a:r>
            <a:r>
              <a:rPr sz="1200" i="1" spc="-150" baseline="27777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/upper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quartile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100" spc="-25" dirty="0">
                <a:latin typeface="Tahoma"/>
                <a:cs typeface="Tahoma"/>
              </a:rPr>
              <a:t>Max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2239" y="275899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75243" y="1041024"/>
            <a:ext cx="299720" cy="1876425"/>
          </a:xfrm>
          <a:custGeom>
            <a:avLst/>
            <a:gdLst/>
            <a:ahLst/>
            <a:cxnLst/>
            <a:rect l="l" t="t" r="r" b="b"/>
            <a:pathLst>
              <a:path w="299719" h="1876425">
                <a:moveTo>
                  <a:pt x="0" y="499353"/>
                </a:moveTo>
                <a:lnTo>
                  <a:pt x="0" y="1277028"/>
                </a:lnTo>
                <a:lnTo>
                  <a:pt x="299612" y="1277028"/>
                </a:lnTo>
                <a:lnTo>
                  <a:pt x="299612" y="499353"/>
                </a:lnTo>
                <a:lnTo>
                  <a:pt x="0" y="499353"/>
                </a:lnTo>
                <a:close/>
              </a:path>
              <a:path w="299719" h="1876425">
                <a:moveTo>
                  <a:pt x="0" y="805208"/>
                </a:moveTo>
                <a:lnTo>
                  <a:pt x="299612" y="805208"/>
                </a:lnTo>
              </a:path>
              <a:path w="299719" h="1876425">
                <a:moveTo>
                  <a:pt x="149806" y="0"/>
                </a:moveTo>
                <a:lnTo>
                  <a:pt x="149806" y="499353"/>
                </a:lnTo>
              </a:path>
              <a:path w="299719" h="1876425">
                <a:moveTo>
                  <a:pt x="124838" y="0"/>
                </a:moveTo>
                <a:lnTo>
                  <a:pt x="174773" y="0"/>
                </a:lnTo>
              </a:path>
              <a:path w="299719" h="1876425">
                <a:moveTo>
                  <a:pt x="149806" y="1277035"/>
                </a:moveTo>
                <a:lnTo>
                  <a:pt x="149806" y="1876259"/>
                </a:lnTo>
              </a:path>
              <a:path w="299719" h="1876425">
                <a:moveTo>
                  <a:pt x="124838" y="1876259"/>
                </a:moveTo>
                <a:lnTo>
                  <a:pt x="174773" y="1876259"/>
                </a:lnTo>
              </a:path>
            </a:pathLst>
          </a:custGeom>
          <a:ln w="74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836875" y="836819"/>
            <a:ext cx="50165" cy="2284730"/>
            <a:chOff x="2836875" y="836819"/>
            <a:chExt cx="50165" cy="2284730"/>
          </a:xfrm>
        </p:grpSpPr>
        <p:sp>
          <p:nvSpPr>
            <p:cNvPr id="15" name="object 15"/>
            <p:cNvSpPr/>
            <p:nvPr/>
          </p:nvSpPr>
          <p:spPr>
            <a:xfrm>
              <a:off x="2861843" y="840565"/>
              <a:ext cx="0" cy="2277745"/>
            </a:xfrm>
            <a:custGeom>
              <a:avLst/>
              <a:gdLst/>
              <a:ahLst/>
              <a:cxnLst/>
              <a:rect l="l" t="t" r="r" b="b"/>
              <a:pathLst>
                <a:path h="2277745">
                  <a:moveTo>
                    <a:pt x="0" y="0"/>
                  </a:moveTo>
                  <a:lnTo>
                    <a:pt x="0" y="2277172"/>
                  </a:lnTo>
                </a:path>
              </a:pathLst>
            </a:custGeom>
            <a:ln w="7490">
              <a:solidFill>
                <a:srgbClr val="A9A9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47293" y="3074043"/>
              <a:ext cx="29209" cy="43815"/>
            </a:xfrm>
            <a:custGeom>
              <a:avLst/>
              <a:gdLst/>
              <a:ahLst/>
              <a:cxnLst/>
              <a:rect l="l" t="t" r="r" b="b"/>
              <a:pathLst>
                <a:path w="29210" h="43814">
                  <a:moveTo>
                    <a:pt x="29099" y="0"/>
                  </a:moveTo>
                  <a:lnTo>
                    <a:pt x="14549" y="8738"/>
                  </a:lnTo>
                  <a:lnTo>
                    <a:pt x="0" y="0"/>
                  </a:lnTo>
                  <a:lnTo>
                    <a:pt x="14549" y="43693"/>
                  </a:lnTo>
                  <a:lnTo>
                    <a:pt x="29099" y="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47293" y="3074043"/>
              <a:ext cx="29209" cy="43815"/>
            </a:xfrm>
            <a:custGeom>
              <a:avLst/>
              <a:gdLst/>
              <a:ahLst/>
              <a:cxnLst/>
              <a:rect l="l" t="t" r="r" b="b"/>
              <a:pathLst>
                <a:path w="29210" h="43814">
                  <a:moveTo>
                    <a:pt x="14549" y="43693"/>
                  </a:moveTo>
                  <a:lnTo>
                    <a:pt x="29099" y="0"/>
                  </a:lnTo>
                  <a:lnTo>
                    <a:pt x="14549" y="8738"/>
                  </a:lnTo>
                  <a:lnTo>
                    <a:pt x="0" y="0"/>
                  </a:lnTo>
                  <a:lnTo>
                    <a:pt x="14549" y="43693"/>
                  </a:lnTo>
                  <a:close/>
                </a:path>
              </a:pathLst>
            </a:custGeom>
            <a:ln w="7490">
              <a:solidFill>
                <a:srgbClr val="A9A9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47293" y="840565"/>
              <a:ext cx="29209" cy="43815"/>
            </a:xfrm>
            <a:custGeom>
              <a:avLst/>
              <a:gdLst/>
              <a:ahLst/>
              <a:cxnLst/>
              <a:rect l="l" t="t" r="r" b="b"/>
              <a:pathLst>
                <a:path w="29210" h="43815">
                  <a:moveTo>
                    <a:pt x="14549" y="0"/>
                  </a:moveTo>
                  <a:lnTo>
                    <a:pt x="0" y="43693"/>
                  </a:lnTo>
                  <a:lnTo>
                    <a:pt x="14549" y="34954"/>
                  </a:lnTo>
                  <a:lnTo>
                    <a:pt x="29099" y="43693"/>
                  </a:lnTo>
                  <a:lnTo>
                    <a:pt x="14549" y="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36875" y="840565"/>
              <a:ext cx="50165" cy="2171065"/>
            </a:xfrm>
            <a:custGeom>
              <a:avLst/>
              <a:gdLst/>
              <a:ahLst/>
              <a:cxnLst/>
              <a:rect l="l" t="t" r="r" b="b"/>
              <a:pathLst>
                <a:path w="50164" h="2171065">
                  <a:moveTo>
                    <a:pt x="24967" y="0"/>
                  </a:moveTo>
                  <a:lnTo>
                    <a:pt x="10417" y="43693"/>
                  </a:lnTo>
                  <a:lnTo>
                    <a:pt x="24967" y="34954"/>
                  </a:lnTo>
                  <a:lnTo>
                    <a:pt x="39517" y="43693"/>
                  </a:lnTo>
                  <a:lnTo>
                    <a:pt x="24967" y="0"/>
                  </a:lnTo>
                  <a:close/>
                </a:path>
                <a:path w="50164" h="2171065">
                  <a:moveTo>
                    <a:pt x="0" y="106649"/>
                  </a:moveTo>
                  <a:lnTo>
                    <a:pt x="49935" y="106649"/>
                  </a:lnTo>
                </a:path>
                <a:path w="50164" h="2171065">
                  <a:moveTo>
                    <a:pt x="0" y="192644"/>
                  </a:moveTo>
                  <a:lnTo>
                    <a:pt x="49935" y="192644"/>
                  </a:lnTo>
                </a:path>
                <a:path w="50164" h="2171065">
                  <a:moveTo>
                    <a:pt x="0" y="278639"/>
                  </a:moveTo>
                  <a:lnTo>
                    <a:pt x="49935" y="278639"/>
                  </a:lnTo>
                </a:path>
                <a:path w="50164" h="2171065">
                  <a:moveTo>
                    <a:pt x="0" y="364634"/>
                  </a:moveTo>
                  <a:lnTo>
                    <a:pt x="49935" y="364634"/>
                  </a:lnTo>
                </a:path>
                <a:path w="50164" h="2171065">
                  <a:moveTo>
                    <a:pt x="0" y="450629"/>
                  </a:moveTo>
                  <a:lnTo>
                    <a:pt x="49935" y="450629"/>
                  </a:lnTo>
                </a:path>
                <a:path w="50164" h="2171065">
                  <a:moveTo>
                    <a:pt x="0" y="536624"/>
                  </a:moveTo>
                  <a:lnTo>
                    <a:pt x="49935" y="536624"/>
                  </a:lnTo>
                </a:path>
                <a:path w="50164" h="2171065">
                  <a:moveTo>
                    <a:pt x="0" y="622619"/>
                  </a:moveTo>
                  <a:lnTo>
                    <a:pt x="49935" y="622619"/>
                  </a:lnTo>
                </a:path>
                <a:path w="50164" h="2171065">
                  <a:moveTo>
                    <a:pt x="0" y="708614"/>
                  </a:moveTo>
                  <a:lnTo>
                    <a:pt x="49935" y="708614"/>
                  </a:lnTo>
                </a:path>
                <a:path w="50164" h="2171065">
                  <a:moveTo>
                    <a:pt x="0" y="794609"/>
                  </a:moveTo>
                  <a:lnTo>
                    <a:pt x="49935" y="794609"/>
                  </a:lnTo>
                </a:path>
                <a:path w="50164" h="2171065">
                  <a:moveTo>
                    <a:pt x="0" y="880604"/>
                  </a:moveTo>
                  <a:lnTo>
                    <a:pt x="49935" y="880604"/>
                  </a:lnTo>
                </a:path>
                <a:path w="50164" h="2171065">
                  <a:moveTo>
                    <a:pt x="0" y="966599"/>
                  </a:moveTo>
                  <a:lnTo>
                    <a:pt x="49935" y="966599"/>
                  </a:lnTo>
                </a:path>
                <a:path w="50164" h="2171065">
                  <a:moveTo>
                    <a:pt x="0" y="1052594"/>
                  </a:moveTo>
                  <a:lnTo>
                    <a:pt x="49935" y="1052594"/>
                  </a:lnTo>
                </a:path>
                <a:path w="50164" h="2171065">
                  <a:moveTo>
                    <a:pt x="0" y="1138589"/>
                  </a:moveTo>
                  <a:lnTo>
                    <a:pt x="49935" y="1138589"/>
                  </a:lnTo>
                </a:path>
                <a:path w="50164" h="2171065">
                  <a:moveTo>
                    <a:pt x="0" y="1224584"/>
                  </a:moveTo>
                  <a:lnTo>
                    <a:pt x="49935" y="1224584"/>
                  </a:lnTo>
                </a:path>
                <a:path w="50164" h="2171065">
                  <a:moveTo>
                    <a:pt x="0" y="1310579"/>
                  </a:moveTo>
                  <a:lnTo>
                    <a:pt x="49935" y="1310579"/>
                  </a:lnTo>
                </a:path>
                <a:path w="50164" h="2171065">
                  <a:moveTo>
                    <a:pt x="0" y="1396574"/>
                  </a:moveTo>
                  <a:lnTo>
                    <a:pt x="49935" y="1396574"/>
                  </a:lnTo>
                </a:path>
                <a:path w="50164" h="2171065">
                  <a:moveTo>
                    <a:pt x="0" y="1482569"/>
                  </a:moveTo>
                  <a:lnTo>
                    <a:pt x="49935" y="1482569"/>
                  </a:lnTo>
                </a:path>
                <a:path w="50164" h="2171065">
                  <a:moveTo>
                    <a:pt x="0" y="1568564"/>
                  </a:moveTo>
                  <a:lnTo>
                    <a:pt x="49935" y="1568564"/>
                  </a:lnTo>
                </a:path>
                <a:path w="50164" h="2171065">
                  <a:moveTo>
                    <a:pt x="0" y="1654559"/>
                  </a:moveTo>
                  <a:lnTo>
                    <a:pt x="49935" y="1654559"/>
                  </a:lnTo>
                </a:path>
                <a:path w="50164" h="2171065">
                  <a:moveTo>
                    <a:pt x="0" y="1740554"/>
                  </a:moveTo>
                  <a:lnTo>
                    <a:pt x="49935" y="1740554"/>
                  </a:lnTo>
                </a:path>
                <a:path w="50164" h="2171065">
                  <a:moveTo>
                    <a:pt x="0" y="1826548"/>
                  </a:moveTo>
                  <a:lnTo>
                    <a:pt x="49935" y="1826548"/>
                  </a:lnTo>
                </a:path>
                <a:path w="50164" h="2171065">
                  <a:moveTo>
                    <a:pt x="0" y="1912543"/>
                  </a:moveTo>
                  <a:lnTo>
                    <a:pt x="49935" y="1912543"/>
                  </a:lnTo>
                </a:path>
                <a:path w="50164" h="2171065">
                  <a:moveTo>
                    <a:pt x="0" y="1998538"/>
                  </a:moveTo>
                  <a:lnTo>
                    <a:pt x="49935" y="1998538"/>
                  </a:lnTo>
                </a:path>
                <a:path w="50164" h="2171065">
                  <a:moveTo>
                    <a:pt x="0" y="2084533"/>
                  </a:moveTo>
                  <a:lnTo>
                    <a:pt x="49935" y="2084533"/>
                  </a:lnTo>
                </a:path>
                <a:path w="50164" h="2171065">
                  <a:moveTo>
                    <a:pt x="0" y="2170528"/>
                  </a:moveTo>
                  <a:lnTo>
                    <a:pt x="49935" y="2170528"/>
                  </a:lnTo>
                </a:path>
              </a:pathLst>
            </a:custGeom>
            <a:ln w="7490">
              <a:solidFill>
                <a:srgbClr val="A9A9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762156" y="2966540"/>
            <a:ext cx="6223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-50" dirty="0">
                <a:latin typeface="Calibri"/>
                <a:cs typeface="Calibri"/>
              </a:rPr>
              <a:t>0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36930" y="2829960"/>
            <a:ext cx="37338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b="1" spc="60" dirty="0">
                <a:latin typeface="Calibri"/>
                <a:cs typeface="Calibri"/>
              </a:rPr>
              <a:t>minimum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11530" y="2216223"/>
            <a:ext cx="123952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50" b="1" spc="10" dirty="0">
                <a:latin typeface="Calibri"/>
                <a:cs typeface="Calibri"/>
              </a:rPr>
              <a:t>lower</a:t>
            </a:r>
            <a:r>
              <a:rPr sz="550" b="1" spc="170" dirty="0">
                <a:latin typeface="Calibri"/>
                <a:cs typeface="Calibri"/>
              </a:rPr>
              <a:t> </a:t>
            </a:r>
            <a:r>
              <a:rPr sz="550" b="1" spc="50" dirty="0">
                <a:latin typeface="Calibri"/>
                <a:cs typeface="Calibri"/>
              </a:rPr>
              <a:t>quartile</a:t>
            </a:r>
            <a:r>
              <a:rPr sz="550" b="1" spc="235" dirty="0">
                <a:latin typeface="Calibri"/>
                <a:cs typeface="Calibri"/>
              </a:rPr>
              <a:t>  </a:t>
            </a:r>
            <a:r>
              <a:rPr sz="825" b="1" spc="15" baseline="5050" dirty="0">
                <a:latin typeface="Calibri"/>
                <a:cs typeface="Calibri"/>
              </a:rPr>
              <a:t>(25</a:t>
            </a:r>
            <a:r>
              <a:rPr sz="600" i="1" spc="15" baseline="34722" dirty="0">
                <a:latin typeface="Calibri"/>
                <a:cs typeface="Calibri"/>
              </a:rPr>
              <a:t>th</a:t>
            </a:r>
            <a:r>
              <a:rPr sz="600" i="1" spc="337" baseline="34722" dirty="0">
                <a:latin typeface="Calibri"/>
                <a:cs typeface="Calibri"/>
              </a:rPr>
              <a:t> </a:t>
            </a:r>
            <a:r>
              <a:rPr sz="825" b="1" spc="60" baseline="5050" dirty="0">
                <a:latin typeface="Calibri"/>
                <a:cs typeface="Calibri"/>
              </a:rPr>
              <a:t>percentile)</a:t>
            </a:r>
            <a:endParaRPr sz="825" baseline="50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11530" y="1784819"/>
            <a:ext cx="123952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612140" algn="l"/>
              </a:tabLst>
            </a:pPr>
            <a:r>
              <a:rPr sz="550" b="1" spc="45" dirty="0">
                <a:latin typeface="Calibri"/>
                <a:cs typeface="Calibri"/>
              </a:rPr>
              <a:t>median</a:t>
            </a:r>
            <a:r>
              <a:rPr sz="550" b="1" dirty="0">
                <a:latin typeface="Calibri"/>
                <a:cs typeface="Calibri"/>
              </a:rPr>
              <a:t>	</a:t>
            </a:r>
            <a:r>
              <a:rPr sz="825" b="1" spc="15" baseline="5050" dirty="0">
                <a:latin typeface="Calibri"/>
                <a:cs typeface="Calibri"/>
              </a:rPr>
              <a:t>(50</a:t>
            </a:r>
            <a:r>
              <a:rPr sz="600" i="1" spc="15" baseline="34722" dirty="0">
                <a:latin typeface="Calibri"/>
                <a:cs typeface="Calibri"/>
              </a:rPr>
              <a:t>th</a:t>
            </a:r>
            <a:r>
              <a:rPr sz="600" i="1" spc="494" baseline="34722" dirty="0">
                <a:latin typeface="Calibri"/>
                <a:cs typeface="Calibri"/>
              </a:rPr>
              <a:t> </a:t>
            </a:r>
            <a:r>
              <a:rPr sz="825" b="1" spc="60" baseline="5050" dirty="0">
                <a:latin typeface="Calibri"/>
                <a:cs typeface="Calibri"/>
              </a:rPr>
              <a:t>percentile)</a:t>
            </a:r>
            <a:endParaRPr sz="825" baseline="50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11530" y="1515998"/>
            <a:ext cx="123952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825" b="1" spc="89" baseline="10101" dirty="0">
                <a:latin typeface="Calibri"/>
                <a:cs typeface="Calibri"/>
              </a:rPr>
              <a:t>upper</a:t>
            </a:r>
            <a:r>
              <a:rPr sz="825" b="1" spc="225" baseline="10101" dirty="0">
                <a:latin typeface="Calibri"/>
                <a:cs typeface="Calibri"/>
              </a:rPr>
              <a:t> </a:t>
            </a:r>
            <a:r>
              <a:rPr sz="825" b="1" spc="75" baseline="10101" dirty="0">
                <a:latin typeface="Calibri"/>
                <a:cs typeface="Calibri"/>
              </a:rPr>
              <a:t>quartile</a:t>
            </a:r>
            <a:r>
              <a:rPr sz="825" b="1" spc="517" baseline="10101" dirty="0">
                <a:latin typeface="Calibri"/>
                <a:cs typeface="Calibri"/>
              </a:rPr>
              <a:t> </a:t>
            </a:r>
            <a:r>
              <a:rPr sz="550" b="1" spc="10" dirty="0">
                <a:latin typeface="Calibri"/>
                <a:cs typeface="Calibri"/>
              </a:rPr>
              <a:t>(75</a:t>
            </a:r>
            <a:r>
              <a:rPr sz="600" i="1" spc="15" baseline="27777" dirty="0">
                <a:latin typeface="Calibri"/>
                <a:cs typeface="Calibri"/>
              </a:rPr>
              <a:t>th</a:t>
            </a:r>
            <a:r>
              <a:rPr sz="600" i="1" spc="307" baseline="27777" dirty="0">
                <a:latin typeface="Calibri"/>
                <a:cs typeface="Calibri"/>
              </a:rPr>
              <a:t> </a:t>
            </a:r>
            <a:r>
              <a:rPr sz="550" b="1" spc="40" dirty="0">
                <a:latin typeface="Calibri"/>
                <a:cs typeface="Calibri"/>
              </a:rPr>
              <a:t>percentile)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36930" y="1005521"/>
            <a:ext cx="38862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b="1" spc="65" dirty="0">
                <a:latin typeface="Calibri"/>
                <a:cs typeface="Calibri"/>
              </a:rPr>
              <a:t>maximum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56680" y="2270540"/>
            <a:ext cx="87630" cy="53975"/>
          </a:xfrm>
          <a:prstGeom prst="rect">
            <a:avLst/>
          </a:prstGeom>
        </p:spPr>
        <p:txBody>
          <a:bodyPr vert="vert270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450" spc="-50" dirty="0">
                <a:latin typeface="Georgia"/>
                <a:cs typeface="Georgia"/>
              </a:rPr>
              <a:t>¸</a:t>
            </a:r>
            <a:endParaRPr sz="450">
              <a:latin typeface="Georgia"/>
              <a:cs typeface="Georg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10302" y="1957207"/>
            <a:ext cx="7620" cy="326390"/>
          </a:xfrm>
          <a:custGeom>
            <a:avLst/>
            <a:gdLst/>
            <a:ahLst/>
            <a:cxnLst/>
            <a:rect l="l" t="t" r="r" b="b"/>
            <a:pathLst>
              <a:path w="7619" h="326389">
                <a:moveTo>
                  <a:pt x="0" y="0"/>
                </a:moveTo>
                <a:lnTo>
                  <a:pt x="0" y="326034"/>
                </a:lnTo>
                <a:lnTo>
                  <a:pt x="7459" y="326034"/>
                </a:lnTo>
                <a:lnTo>
                  <a:pt x="745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410302" y="1575201"/>
            <a:ext cx="7620" cy="326390"/>
          </a:xfrm>
          <a:custGeom>
            <a:avLst/>
            <a:gdLst/>
            <a:ahLst/>
            <a:cxnLst/>
            <a:rect l="l" t="t" r="r" b="b"/>
            <a:pathLst>
              <a:path w="7619" h="326389">
                <a:moveTo>
                  <a:pt x="0" y="0"/>
                </a:moveTo>
                <a:lnTo>
                  <a:pt x="0" y="326034"/>
                </a:lnTo>
                <a:lnTo>
                  <a:pt x="7459" y="326034"/>
                </a:lnTo>
                <a:lnTo>
                  <a:pt x="745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356680" y="1534512"/>
            <a:ext cx="87630" cy="53975"/>
          </a:xfrm>
          <a:prstGeom prst="rect">
            <a:avLst/>
          </a:prstGeom>
        </p:spPr>
        <p:txBody>
          <a:bodyPr vert="vert270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450" spc="-50" dirty="0">
                <a:latin typeface="Georgia"/>
                <a:cs typeface="Georgia"/>
              </a:rPr>
              <a:t>˛</a:t>
            </a:r>
            <a:endParaRPr sz="45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85786" y="2811303"/>
            <a:ext cx="62357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50" b="1" dirty="0">
                <a:latin typeface="Calibri"/>
                <a:cs typeface="Calibri"/>
              </a:rPr>
              <a:t>(0</a:t>
            </a:r>
            <a:r>
              <a:rPr sz="600" i="1" baseline="27777" dirty="0">
                <a:latin typeface="Calibri"/>
                <a:cs typeface="Calibri"/>
              </a:rPr>
              <a:t>th</a:t>
            </a:r>
            <a:r>
              <a:rPr sz="600" i="1" spc="494" baseline="27777" dirty="0">
                <a:latin typeface="Calibri"/>
                <a:cs typeface="Calibri"/>
              </a:rPr>
              <a:t> </a:t>
            </a:r>
            <a:r>
              <a:rPr sz="550" b="1" spc="40" dirty="0">
                <a:latin typeface="Calibri"/>
                <a:cs typeface="Calibri"/>
              </a:rPr>
              <a:t>percentile)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85786" y="1016644"/>
            <a:ext cx="707390" cy="115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50" b="1" spc="10" dirty="0">
                <a:latin typeface="Calibri"/>
                <a:cs typeface="Calibri"/>
              </a:rPr>
              <a:t>(100</a:t>
            </a:r>
            <a:r>
              <a:rPr sz="600" i="1" spc="15" baseline="27777" dirty="0">
                <a:latin typeface="Calibri"/>
                <a:cs typeface="Calibri"/>
              </a:rPr>
              <a:t>th</a:t>
            </a:r>
            <a:r>
              <a:rPr sz="600" i="1" spc="562" baseline="27777" dirty="0">
                <a:latin typeface="Calibri"/>
                <a:cs typeface="Calibri"/>
              </a:rPr>
              <a:t> </a:t>
            </a:r>
            <a:r>
              <a:rPr sz="550" b="1" spc="40" dirty="0">
                <a:latin typeface="Calibri"/>
                <a:cs typeface="Calibri"/>
              </a:rPr>
              <a:t>percentile)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15742" y="2871013"/>
            <a:ext cx="87630" cy="53975"/>
          </a:xfrm>
          <a:prstGeom prst="rect">
            <a:avLst/>
          </a:prstGeom>
        </p:spPr>
        <p:txBody>
          <a:bodyPr vert="vert270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450" spc="-50" dirty="0">
                <a:latin typeface="Georgia"/>
                <a:cs typeface="Georgia"/>
              </a:rPr>
              <a:t>¸</a:t>
            </a:r>
            <a:endParaRPr sz="450">
              <a:latin typeface="Georgia"/>
              <a:cs typeface="Georgi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169364" y="2007142"/>
            <a:ext cx="7620" cy="876935"/>
          </a:xfrm>
          <a:custGeom>
            <a:avLst/>
            <a:gdLst/>
            <a:ahLst/>
            <a:cxnLst/>
            <a:rect l="l" t="t" r="r" b="b"/>
            <a:pathLst>
              <a:path w="7619" h="876935">
                <a:moveTo>
                  <a:pt x="0" y="0"/>
                </a:moveTo>
                <a:lnTo>
                  <a:pt x="0" y="876571"/>
                </a:lnTo>
                <a:lnTo>
                  <a:pt x="7459" y="876571"/>
                </a:lnTo>
                <a:lnTo>
                  <a:pt x="745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169364" y="1074599"/>
            <a:ext cx="7620" cy="876935"/>
          </a:xfrm>
          <a:custGeom>
            <a:avLst/>
            <a:gdLst/>
            <a:ahLst/>
            <a:cxnLst/>
            <a:rect l="l" t="t" r="r" b="b"/>
            <a:pathLst>
              <a:path w="7619" h="876935">
                <a:moveTo>
                  <a:pt x="0" y="0"/>
                </a:moveTo>
                <a:lnTo>
                  <a:pt x="0" y="876571"/>
                </a:lnTo>
                <a:lnTo>
                  <a:pt x="7459" y="876571"/>
                </a:lnTo>
                <a:lnTo>
                  <a:pt x="745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115742" y="1033916"/>
            <a:ext cx="87630" cy="53975"/>
          </a:xfrm>
          <a:prstGeom prst="rect">
            <a:avLst/>
          </a:prstGeom>
        </p:spPr>
        <p:txBody>
          <a:bodyPr vert="vert270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450" spc="-50" dirty="0">
                <a:latin typeface="Georgia"/>
                <a:cs typeface="Georgia"/>
              </a:rPr>
              <a:t>˛</a:t>
            </a:r>
            <a:endParaRPr sz="45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44419" y="1770947"/>
            <a:ext cx="159385" cy="41655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620"/>
              </a:lnSpc>
            </a:pPr>
            <a:r>
              <a:rPr sz="550" b="1" spc="50" dirty="0">
                <a:latin typeface="Calibri"/>
                <a:cs typeface="Calibri"/>
              </a:rPr>
              <a:t>data</a:t>
            </a:r>
            <a:r>
              <a:rPr sz="550" b="1" spc="110" dirty="0">
                <a:latin typeface="Calibri"/>
                <a:cs typeface="Calibri"/>
              </a:rPr>
              <a:t> </a:t>
            </a:r>
            <a:r>
              <a:rPr sz="550" b="1" spc="45" dirty="0">
                <a:latin typeface="Calibri"/>
                <a:cs typeface="Calibri"/>
              </a:rPr>
              <a:t>range</a:t>
            </a:r>
            <a:endParaRPr sz="550">
              <a:latin typeface="Calibri"/>
              <a:cs typeface="Calibri"/>
            </a:endParaRPr>
          </a:p>
          <a:p>
            <a:pPr algn="ctr">
              <a:lnSpc>
                <a:spcPts val="509"/>
              </a:lnSpc>
            </a:pPr>
            <a:r>
              <a:rPr sz="450" spc="-25" dirty="0">
                <a:latin typeface="Georgia"/>
                <a:cs typeface="Georgia"/>
              </a:rPr>
              <a:t>x`</a:t>
            </a:r>
            <a:endParaRPr sz="450">
              <a:latin typeface="Georgia"/>
              <a:cs typeface="Georgi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253780" y="1041024"/>
            <a:ext cx="306070" cy="1876425"/>
          </a:xfrm>
          <a:custGeom>
            <a:avLst/>
            <a:gdLst/>
            <a:ahLst/>
            <a:cxnLst/>
            <a:rect l="l" t="t" r="r" b="b"/>
            <a:pathLst>
              <a:path w="306069" h="1876425">
                <a:moveTo>
                  <a:pt x="0" y="0"/>
                </a:moveTo>
                <a:lnTo>
                  <a:pt x="305604" y="0"/>
                </a:lnTo>
              </a:path>
              <a:path w="306069" h="1876425">
                <a:moveTo>
                  <a:pt x="0" y="1876259"/>
                </a:moveTo>
                <a:lnTo>
                  <a:pt x="305604" y="1876259"/>
                </a:lnTo>
              </a:path>
            </a:pathLst>
          </a:custGeom>
          <a:ln w="4993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281613" y="1573471"/>
            <a:ext cx="163195" cy="7118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635"/>
              </a:lnSpc>
            </a:pPr>
            <a:r>
              <a:rPr sz="550" b="1" spc="50" dirty="0">
                <a:latin typeface="Calibri"/>
                <a:cs typeface="Calibri"/>
              </a:rPr>
              <a:t>interquartile</a:t>
            </a:r>
            <a:r>
              <a:rPr sz="550" b="1" spc="100" dirty="0">
                <a:latin typeface="Calibri"/>
                <a:cs typeface="Calibri"/>
              </a:rPr>
              <a:t> </a:t>
            </a:r>
            <a:r>
              <a:rPr sz="550" b="1" spc="45" dirty="0">
                <a:latin typeface="Calibri"/>
                <a:cs typeface="Calibri"/>
              </a:rPr>
              <a:t>range</a:t>
            </a:r>
            <a:endParaRPr sz="550">
              <a:latin typeface="Calibri"/>
              <a:cs typeface="Calibri"/>
            </a:endParaRPr>
          </a:p>
          <a:p>
            <a:pPr algn="ctr">
              <a:lnSpc>
                <a:spcPts val="525"/>
              </a:lnSpc>
            </a:pPr>
            <a:r>
              <a:rPr sz="450" spc="-25" dirty="0">
                <a:latin typeface="Georgia"/>
                <a:cs typeface="Georgia"/>
              </a:rPr>
              <a:t>x`</a:t>
            </a:r>
            <a:endParaRPr sz="45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40" name="object 4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dirty="0"/>
              <a:t>EDA:</a:t>
            </a:r>
            <a:r>
              <a:rPr spc="-40" dirty="0"/>
              <a:t> </a:t>
            </a:r>
            <a:r>
              <a:rPr spc="-70" dirty="0"/>
              <a:t>Measures</a:t>
            </a:r>
            <a:r>
              <a:rPr spc="-2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Spread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305" y="466076"/>
            <a:ext cx="3602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25805" algn="l"/>
              </a:tabLst>
            </a:pP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Variance: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1100" spc="-40" dirty="0">
                <a:latin typeface="Tahoma"/>
                <a:cs typeface="Tahoma"/>
              </a:rPr>
              <a:t>Measures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deviation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</a:t>
            </a:r>
            <a:r>
              <a:rPr sz="1100" spc="-30" dirty="0">
                <a:latin typeface="Tahoma"/>
                <a:cs typeface="Tahoma"/>
              </a:rPr>
              <a:t> relative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mean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985" y="829600"/>
            <a:ext cx="104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3130" y="630693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30" dirty="0">
                <a:latin typeface="Georgia"/>
                <a:cs typeface="Georgia"/>
              </a:rPr>
              <a:t>Σ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9383" y="70808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7723" y="775562"/>
            <a:ext cx="1181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143000" algn="l"/>
              </a:tabLst>
            </a:pPr>
            <a:r>
              <a:rPr sz="800" dirty="0">
                <a:latin typeface="Tahoma"/>
                <a:cs typeface="Tahoma"/>
              </a:rPr>
              <a:t>2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=</a:t>
            </a:r>
            <a:r>
              <a:rPr sz="1650" spc="120" baseline="-22727" dirty="0">
                <a:latin typeface="Tahoma"/>
                <a:cs typeface="Tahoma"/>
              </a:rPr>
              <a:t> </a:t>
            </a:r>
            <a:r>
              <a:rPr sz="800" i="1" u="sng" spc="3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sz="800" i="1" u="sng" spc="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800" u="sng" spc="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=1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00566" y="80487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33383" y="734605"/>
            <a:ext cx="5899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)</a:t>
            </a:r>
            <a:r>
              <a:rPr sz="1200" spc="-52" baseline="27777" dirty="0">
                <a:latin typeface="Tahoma"/>
                <a:cs typeface="Tahoma"/>
              </a:rPr>
              <a:t>2</a:t>
            </a:r>
            <a:endParaRPr sz="1200" baseline="27777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8765" y="924635"/>
            <a:ext cx="97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6974" y="120886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45122" y="1024799"/>
            <a:ext cx="3289300" cy="5467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Varaince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mean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squared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deviation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from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mean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spc="-45" dirty="0">
                <a:latin typeface="Tahoma"/>
                <a:cs typeface="Tahoma"/>
              </a:rPr>
              <a:t>Squared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avoid</a:t>
            </a:r>
            <a:r>
              <a:rPr sz="1100" spc="-30" dirty="0">
                <a:latin typeface="Tahoma"/>
                <a:cs typeface="Tahoma"/>
              </a:rPr>
              <a:t> cancellation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+</a:t>
            </a:r>
            <a:r>
              <a:rPr sz="1100" i="1" spc="-10" dirty="0">
                <a:latin typeface="Arial"/>
                <a:cs typeface="Arial"/>
              </a:rPr>
              <a:t>ve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−</a:t>
            </a:r>
            <a:r>
              <a:rPr sz="1100" i="1" dirty="0">
                <a:latin typeface="Arial"/>
                <a:cs typeface="Arial"/>
              </a:rPr>
              <a:t>ve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deviation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6974" y="146950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6974" y="173014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45122" y="1546083"/>
            <a:ext cx="4131310" cy="9823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28345">
              <a:lnSpc>
                <a:spcPct val="155500"/>
              </a:lnSpc>
              <a:spcBef>
                <a:spcPts val="100"/>
              </a:spcBef>
            </a:pP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Mean</a:t>
            </a:r>
            <a:r>
              <a:rPr sz="1100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deviation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could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be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0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for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with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significant</a:t>
            </a:r>
            <a:r>
              <a:rPr sz="1100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FF0000"/>
                </a:solidFill>
                <a:latin typeface="Tahoma"/>
                <a:cs typeface="Tahoma"/>
              </a:rPr>
              <a:t>spread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average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distance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both</a:t>
            </a:r>
            <a:endParaRPr sz="1100">
              <a:latin typeface="Tahoma"/>
              <a:cs typeface="Tahoma"/>
            </a:endParaRPr>
          </a:p>
          <a:p>
            <a:pPr marL="75565">
              <a:lnSpc>
                <a:spcPct val="100000"/>
              </a:lnSpc>
              <a:spcBef>
                <a:spcPts val="395"/>
              </a:spcBef>
              <a:tabLst>
                <a:tab pos="1167765" algn="l"/>
                <a:tab pos="1515110" algn="l"/>
              </a:tabLst>
            </a:pPr>
            <a:r>
              <a:rPr sz="1100" spc="55" dirty="0">
                <a:latin typeface="Cambria"/>
                <a:cs typeface="Cambria"/>
              </a:rPr>
              <a:t>{−</a:t>
            </a:r>
            <a:r>
              <a:rPr sz="1100" spc="55" dirty="0">
                <a:latin typeface="Tahoma"/>
                <a:cs typeface="Tahoma"/>
              </a:rPr>
              <a:t>5</a:t>
            </a:r>
            <a:r>
              <a:rPr sz="1100" spc="55" dirty="0">
                <a:latin typeface="Lucida Sans Unicode"/>
                <a:cs typeface="Lucida Sans Unicode"/>
              </a:rPr>
              <a:t>,</a:t>
            </a:r>
            <a:r>
              <a:rPr sz="1100" spc="-14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mbria"/>
                <a:cs typeface="Cambria"/>
              </a:rPr>
              <a:t>−</a:t>
            </a:r>
            <a:r>
              <a:rPr sz="1100" dirty="0">
                <a:latin typeface="Tahoma"/>
                <a:cs typeface="Tahoma"/>
              </a:rPr>
              <a:t>10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35" dirty="0">
                <a:latin typeface="Lucida Sans Unicode"/>
                <a:cs typeface="Lucida Sans Unicode"/>
              </a:rPr>
              <a:t> </a:t>
            </a:r>
            <a:r>
              <a:rPr sz="1100" spc="-65" dirty="0">
                <a:latin typeface="Tahoma"/>
                <a:cs typeface="Tahoma"/>
              </a:rPr>
              <a:t>5</a:t>
            </a:r>
            <a:r>
              <a:rPr sz="1100" spc="-65" dirty="0">
                <a:latin typeface="Lucida Sans Unicode"/>
                <a:cs typeface="Lucida Sans Unicode"/>
              </a:rPr>
              <a:t>,</a:t>
            </a:r>
            <a:r>
              <a:rPr sz="1100" spc="-1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10</a:t>
            </a:r>
            <a:r>
              <a:rPr sz="1100" spc="-25" dirty="0">
                <a:latin typeface="Cambria"/>
                <a:cs typeface="Cambria"/>
              </a:rPr>
              <a:t>}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-25" dirty="0">
                <a:latin typeface="Tahoma"/>
                <a:cs typeface="Tahoma"/>
              </a:rPr>
              <a:t>and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dirty="0">
                <a:latin typeface="Cambria"/>
                <a:cs typeface="Cambria"/>
              </a:rPr>
              <a:t>{−</a:t>
            </a:r>
            <a:r>
              <a:rPr sz="1100" dirty="0">
                <a:latin typeface="Tahoma"/>
                <a:cs typeface="Tahoma"/>
              </a:rPr>
              <a:t>100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mbria"/>
                <a:cs typeface="Cambria"/>
              </a:rPr>
              <a:t>−</a:t>
            </a:r>
            <a:r>
              <a:rPr sz="1100" dirty="0">
                <a:latin typeface="Tahoma"/>
                <a:cs typeface="Tahoma"/>
              </a:rPr>
              <a:t>50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65" dirty="0">
                <a:latin typeface="Tahoma"/>
                <a:cs typeface="Tahoma"/>
              </a:rPr>
              <a:t>50</a:t>
            </a:r>
            <a:r>
              <a:rPr sz="1100" spc="-65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100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  <a:p>
            <a:pPr marL="1026160">
              <a:lnSpc>
                <a:spcPct val="100000"/>
              </a:lnSpc>
              <a:spcBef>
                <a:spcPts val="395"/>
              </a:spcBef>
            </a:pPr>
            <a:r>
              <a:rPr sz="1100" spc="-335" dirty="0">
                <a:latin typeface="Lucida Sans Unicode"/>
                <a:cs typeface="Lucida Sans Unicode"/>
              </a:rPr>
              <a:t>▷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significantly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spread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latter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6974" y="199078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1305" y="2631235"/>
            <a:ext cx="2296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Mean</a:t>
            </a:r>
            <a:r>
              <a:rPr sz="1100" b="1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0000FF"/>
                </a:solidFill>
                <a:latin typeface="Arial"/>
                <a:cs typeface="Arial"/>
              </a:rPr>
              <a:t>Absolute</a:t>
            </a:r>
            <a:r>
              <a:rPr sz="11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Deviation:</a:t>
            </a:r>
            <a:r>
              <a:rPr sz="1100" b="1" spc="1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00FF"/>
                </a:solidFill>
                <a:latin typeface="Arial"/>
                <a:cs typeface="Arial"/>
              </a:rPr>
              <a:t>MAD</a:t>
            </a:r>
            <a:r>
              <a:rPr sz="11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:=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29725" y="2518065"/>
            <a:ext cx="2317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175" dirty="0">
                <a:solidFill>
                  <a:srgbClr val="0000FF"/>
                </a:solidFill>
                <a:latin typeface="Lucida Sans Unicode"/>
                <a:cs typeface="Lucida Sans Unicode"/>
              </a:rPr>
              <a:t>Σ</a:t>
            </a:r>
            <a:r>
              <a:rPr sz="900" i="1" spc="262" baseline="-23148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endParaRPr sz="900" baseline="-23148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31553" y="2646972"/>
            <a:ext cx="59055" cy="0"/>
          </a:xfrm>
          <a:custGeom>
            <a:avLst/>
            <a:gdLst/>
            <a:ahLst/>
            <a:cxnLst/>
            <a:rect l="l" t="t" r="r" b="b"/>
            <a:pathLst>
              <a:path w="59055">
                <a:moveTo>
                  <a:pt x="0" y="0"/>
                </a:moveTo>
                <a:lnTo>
                  <a:pt x="58813" y="0"/>
                </a:lnTo>
              </a:path>
            </a:pathLst>
          </a:custGeom>
          <a:ln w="455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697302" y="2593973"/>
            <a:ext cx="3613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solidFill>
                  <a:srgbClr val="0000FF"/>
                </a:solidFill>
                <a:latin typeface="Arial"/>
                <a:cs typeface="Arial"/>
              </a:rPr>
              <a:t>|x</a:t>
            </a:r>
            <a:r>
              <a:rPr sz="900" i="1" baseline="-13888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i="1" spc="-60" baseline="-1388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800" i="1" spc="65" dirty="0">
                <a:solidFill>
                  <a:srgbClr val="0000FF"/>
                </a:solidFill>
                <a:latin typeface="Arial"/>
                <a:cs typeface="Arial"/>
              </a:rPr>
              <a:t>−x|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67825" y="2747848"/>
            <a:ext cx="552450" cy="0"/>
          </a:xfrm>
          <a:custGeom>
            <a:avLst/>
            <a:gdLst/>
            <a:ahLst/>
            <a:cxnLst/>
            <a:rect l="l" t="t" r="r" b="b"/>
            <a:pathLst>
              <a:path w="552450">
                <a:moveTo>
                  <a:pt x="0" y="0"/>
                </a:moveTo>
                <a:lnTo>
                  <a:pt x="552424" y="0"/>
                </a:lnTo>
              </a:path>
            </a:pathLst>
          </a:custGeom>
          <a:ln w="553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568638" y="2650914"/>
            <a:ext cx="215265" cy="212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615"/>
              </a:lnSpc>
              <a:spcBef>
                <a:spcPts val="95"/>
              </a:spcBef>
            </a:pPr>
            <a:r>
              <a:rPr sz="600" i="1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600" i="1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0000FF"/>
                </a:solidFill>
                <a:latin typeface="Tahoma"/>
                <a:cs typeface="Tahoma"/>
              </a:rPr>
              <a:t>=1</a:t>
            </a:r>
            <a:endParaRPr sz="600">
              <a:latin typeface="Tahoma"/>
              <a:cs typeface="Tahoma"/>
            </a:endParaRPr>
          </a:p>
          <a:p>
            <a:pPr marR="5080" algn="r">
              <a:lnSpc>
                <a:spcPts val="855"/>
              </a:lnSpc>
            </a:pPr>
            <a:r>
              <a:rPr sz="800" i="1" spc="-5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1305" y="2894747"/>
            <a:ext cx="39624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Variance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easy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useful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mathematical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properties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70" dirty="0"/>
              <a:t>Measures</a:t>
            </a:r>
            <a:r>
              <a:rPr spc="-2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Spread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5722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0521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35319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05" y="466076"/>
            <a:ext cx="4325620" cy="989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Standard</a:t>
            </a:r>
            <a:r>
              <a:rPr sz="11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Deviation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100" spc="-35" dirty="0">
                <a:latin typeface="Tahoma"/>
                <a:cs typeface="Tahoma"/>
              </a:rPr>
              <a:t>Variance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different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original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47900"/>
              </a:lnSpc>
            </a:pPr>
            <a:r>
              <a:rPr sz="1100" spc="-35" dirty="0">
                <a:latin typeface="Tahoma"/>
                <a:cs typeface="Tahoma"/>
              </a:rPr>
              <a:t>Standard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deviation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measures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deviation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relative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mean </a:t>
            </a:r>
            <a:r>
              <a:rPr sz="1100" spc="-35" dirty="0">
                <a:latin typeface="Tahoma"/>
                <a:cs typeface="Tahoma"/>
              </a:rPr>
              <a:t>Standard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deviation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square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root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variance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8312" y="1681491"/>
            <a:ext cx="25590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25" dirty="0">
                <a:latin typeface="Lucida Sans Unicode"/>
                <a:cs typeface="Lucida Sans Unicode"/>
              </a:rPr>
              <a:t>σ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7171" y="1453386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85" dirty="0">
                <a:latin typeface="Georgia"/>
                <a:cs typeface="Georgia"/>
              </a:rPr>
              <a:t>r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08415" y="1601851"/>
            <a:ext cx="875665" cy="0"/>
          </a:xfrm>
          <a:custGeom>
            <a:avLst/>
            <a:gdLst/>
            <a:ahLst/>
            <a:cxnLst/>
            <a:rect l="l" t="t" r="r" b="b"/>
            <a:pathLst>
              <a:path w="875664">
                <a:moveTo>
                  <a:pt x="0" y="0"/>
                </a:moveTo>
                <a:lnTo>
                  <a:pt x="87566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10904" y="1482584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30" dirty="0">
                <a:latin typeface="Georgia"/>
                <a:cs typeface="Georgia"/>
              </a:rPr>
              <a:t>Σ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57145" y="155997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78327" y="165676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11158" y="1586495"/>
            <a:ext cx="5899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)</a:t>
            </a:r>
            <a:r>
              <a:rPr sz="1200" spc="-52" baseline="20833" dirty="0">
                <a:latin typeface="Tahoma"/>
                <a:cs typeface="Tahoma"/>
              </a:rPr>
              <a:t>2</a:t>
            </a:r>
            <a:endParaRPr sz="1200" baseline="20833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10904" y="1664778"/>
            <a:ext cx="871219" cy="303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915"/>
              </a:lnSpc>
              <a:spcBef>
                <a:spcPts val="95"/>
              </a:spcBef>
              <a:tabLst>
                <a:tab pos="845185" algn="l"/>
              </a:tabLst>
            </a:pPr>
            <a:r>
              <a:rPr sz="800" i="1" u="sng" spc="3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sz="800" i="1" u="sng" spc="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800" u="sng" spc="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=1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ts val="1275"/>
              </a:lnSpc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0245" y="21180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8393" y="2028392"/>
            <a:ext cx="39357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Standard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deviation </a:t>
            </a:r>
            <a:r>
              <a:rPr sz="1100" spc="-50" dirty="0">
                <a:latin typeface="Tahoma"/>
                <a:cs typeface="Tahoma"/>
              </a:rPr>
              <a:t>restores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measure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original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8" name="object 1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40" dirty="0"/>
              <a:t>Normal</a:t>
            </a:r>
            <a:r>
              <a:rPr spc="5" dirty="0"/>
              <a:t> </a:t>
            </a:r>
            <a:r>
              <a:rPr spc="-30" dirty="0"/>
              <a:t>Distribution</a:t>
            </a:r>
            <a:r>
              <a:rPr spc="10" dirty="0"/>
              <a:t> </a:t>
            </a:r>
            <a:r>
              <a:rPr spc="-40" dirty="0"/>
              <a:t>(Bell-</a:t>
            </a:r>
            <a:r>
              <a:rPr spc="-10" dirty="0"/>
              <a:t>Curve)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97241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3872" y="953008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8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20774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3872" y="1188339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8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44308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01619" y="1423682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8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1305" y="420343"/>
            <a:ext cx="4345940" cy="11252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For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normal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distribution,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there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0000FF"/>
                </a:solidFill>
                <a:latin typeface="Tahoma"/>
                <a:cs typeface="Tahoma"/>
              </a:rPr>
              <a:t>are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guarantees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that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certain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number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values must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fall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within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k</a:t>
            </a:r>
            <a:r>
              <a:rPr sz="1100" i="1" spc="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st-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dev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from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mean</a:t>
            </a:r>
            <a:endParaRPr sz="1100">
              <a:latin typeface="Tahoma"/>
              <a:cs typeface="Tahoma"/>
            </a:endParaRPr>
          </a:p>
          <a:p>
            <a:pPr marL="289560" marR="814705">
              <a:lnSpc>
                <a:spcPct val="140400"/>
              </a:lnSpc>
              <a:spcBef>
                <a:spcPts val="434"/>
              </a:spcBef>
            </a:pP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At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least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8C008C"/>
                </a:solidFill>
                <a:latin typeface="Cambria"/>
                <a:cs typeface="Cambria"/>
              </a:rPr>
              <a:t>∼</a:t>
            </a:r>
            <a:r>
              <a:rPr sz="1100" spc="35" dirty="0">
                <a:solidFill>
                  <a:srgbClr val="8C008C"/>
                </a:solidFill>
                <a:latin typeface="Cambria"/>
                <a:cs typeface="Cambria"/>
              </a:rPr>
              <a:t> </a:t>
            </a:r>
            <a:r>
              <a:rPr sz="1100" spc="-100" dirty="0">
                <a:solidFill>
                  <a:srgbClr val="8C008C"/>
                </a:solidFill>
                <a:latin typeface="Tahoma"/>
                <a:cs typeface="Tahoma"/>
              </a:rPr>
              <a:t>68%</a:t>
            </a:r>
            <a:r>
              <a:rPr sz="1100" spc="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8C008C"/>
                </a:solidFill>
                <a:latin typeface="Tahoma"/>
                <a:cs typeface="Tahoma"/>
              </a:rPr>
              <a:t>must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lie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within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k</a:t>
            </a:r>
            <a:r>
              <a:rPr sz="1100" i="1" spc="55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=</a:t>
            </a:r>
            <a:r>
              <a:rPr sz="1100" spc="-7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1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8C008C"/>
                </a:solidFill>
                <a:latin typeface="Tahoma"/>
                <a:cs typeface="Tahoma"/>
              </a:rPr>
              <a:t>st-</a:t>
            </a:r>
            <a:r>
              <a:rPr sz="1100" spc="-25" dirty="0">
                <a:solidFill>
                  <a:srgbClr val="8C008C"/>
                </a:solidFill>
                <a:latin typeface="Tahoma"/>
                <a:cs typeface="Tahoma"/>
              </a:rPr>
              <a:t>dev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x</a:t>
            </a:r>
            <a:r>
              <a:rPr sz="1100" i="1" spc="5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spc="229" dirty="0">
                <a:solidFill>
                  <a:srgbClr val="8C008C"/>
                </a:solidFill>
                <a:latin typeface="Cambria"/>
                <a:cs typeface="Cambria"/>
              </a:rPr>
              <a:t>±</a:t>
            </a:r>
            <a:r>
              <a:rPr sz="1100" spc="-20" dirty="0">
                <a:solidFill>
                  <a:srgbClr val="8C008C"/>
                </a:solidFill>
                <a:latin typeface="Cambria"/>
                <a:cs typeface="Cambria"/>
              </a:rPr>
              <a:t> </a:t>
            </a:r>
            <a:r>
              <a:rPr sz="1100" spc="-25" dirty="0">
                <a:solidFill>
                  <a:srgbClr val="8C008C"/>
                </a:solidFill>
                <a:latin typeface="Tahoma"/>
                <a:cs typeface="Tahoma"/>
              </a:rPr>
              <a:t>1</a:t>
            </a:r>
            <a:r>
              <a:rPr sz="1100" spc="-25" dirty="0">
                <a:solidFill>
                  <a:srgbClr val="8C008C"/>
                </a:solidFill>
                <a:latin typeface="Lucida Sans Unicode"/>
                <a:cs typeface="Lucida Sans Unicode"/>
              </a:rPr>
              <a:t>σ</a:t>
            </a:r>
            <a:r>
              <a:rPr sz="1100" spc="-25" dirty="0">
                <a:solidFill>
                  <a:srgbClr val="8C008C"/>
                </a:solidFill>
                <a:latin typeface="Tahoma"/>
                <a:cs typeface="Tahoma"/>
              </a:rPr>
              <a:t>)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At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least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8C008C"/>
                </a:solidFill>
                <a:latin typeface="Cambria"/>
                <a:cs typeface="Cambria"/>
              </a:rPr>
              <a:t>∼</a:t>
            </a:r>
            <a:r>
              <a:rPr sz="1100" spc="35" dirty="0">
                <a:solidFill>
                  <a:srgbClr val="8C008C"/>
                </a:solidFill>
                <a:latin typeface="Cambria"/>
                <a:cs typeface="Cambria"/>
              </a:rPr>
              <a:t> </a:t>
            </a:r>
            <a:r>
              <a:rPr sz="1100" spc="-100" dirty="0">
                <a:solidFill>
                  <a:srgbClr val="8C008C"/>
                </a:solidFill>
                <a:latin typeface="Tahoma"/>
                <a:cs typeface="Tahoma"/>
              </a:rPr>
              <a:t>95%</a:t>
            </a:r>
            <a:r>
              <a:rPr sz="1100" spc="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8C008C"/>
                </a:solidFill>
                <a:latin typeface="Tahoma"/>
                <a:cs typeface="Tahoma"/>
              </a:rPr>
              <a:t>must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lie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within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k</a:t>
            </a:r>
            <a:r>
              <a:rPr sz="1100" i="1" spc="55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=</a:t>
            </a:r>
            <a:r>
              <a:rPr sz="1100" spc="-7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2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8C008C"/>
                </a:solidFill>
                <a:latin typeface="Tahoma"/>
                <a:cs typeface="Tahoma"/>
              </a:rPr>
              <a:t>st-</a:t>
            </a:r>
            <a:r>
              <a:rPr sz="1100" spc="-25" dirty="0">
                <a:solidFill>
                  <a:srgbClr val="8C008C"/>
                </a:solidFill>
                <a:latin typeface="Tahoma"/>
                <a:cs typeface="Tahoma"/>
              </a:rPr>
              <a:t>dev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x</a:t>
            </a:r>
            <a:r>
              <a:rPr sz="1100" i="1" spc="5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spc="229" dirty="0">
                <a:solidFill>
                  <a:srgbClr val="8C008C"/>
                </a:solidFill>
                <a:latin typeface="Cambria"/>
                <a:cs typeface="Cambria"/>
              </a:rPr>
              <a:t>±</a:t>
            </a:r>
            <a:r>
              <a:rPr sz="1100" spc="-20" dirty="0">
                <a:solidFill>
                  <a:srgbClr val="8C008C"/>
                </a:solidFill>
                <a:latin typeface="Cambria"/>
                <a:cs typeface="Cambria"/>
              </a:rPr>
              <a:t> </a:t>
            </a:r>
            <a:r>
              <a:rPr sz="1100" spc="-25" dirty="0">
                <a:solidFill>
                  <a:srgbClr val="8C008C"/>
                </a:solidFill>
                <a:latin typeface="Tahoma"/>
                <a:cs typeface="Tahoma"/>
              </a:rPr>
              <a:t>2</a:t>
            </a:r>
            <a:r>
              <a:rPr sz="1100" spc="-25" dirty="0">
                <a:solidFill>
                  <a:srgbClr val="8C008C"/>
                </a:solidFill>
                <a:latin typeface="Lucida Sans Unicode"/>
                <a:cs typeface="Lucida Sans Unicode"/>
              </a:rPr>
              <a:t>σ</a:t>
            </a:r>
            <a:r>
              <a:rPr sz="1100" spc="-25" dirty="0">
                <a:solidFill>
                  <a:srgbClr val="8C008C"/>
                </a:solidFill>
                <a:latin typeface="Tahoma"/>
                <a:cs typeface="Tahoma"/>
              </a:rPr>
              <a:t>)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At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least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8C008C"/>
                </a:solidFill>
                <a:latin typeface="Cambria"/>
                <a:cs typeface="Cambria"/>
              </a:rPr>
              <a:t>∼</a:t>
            </a:r>
            <a:r>
              <a:rPr sz="1100" spc="30" dirty="0">
                <a:solidFill>
                  <a:srgbClr val="8C008C"/>
                </a:solidFill>
                <a:latin typeface="Cambria"/>
                <a:cs typeface="Cambria"/>
              </a:rPr>
              <a:t> </a:t>
            </a:r>
            <a:r>
              <a:rPr sz="1100" spc="-80" dirty="0">
                <a:solidFill>
                  <a:srgbClr val="8C008C"/>
                </a:solidFill>
                <a:latin typeface="Tahoma"/>
                <a:cs typeface="Tahoma"/>
              </a:rPr>
              <a:t>99</a:t>
            </a:r>
            <a:r>
              <a:rPr sz="1100" spc="-80" dirty="0">
                <a:solidFill>
                  <a:srgbClr val="8C008C"/>
                </a:solidFill>
                <a:latin typeface="Lucida Sans Unicode"/>
                <a:cs typeface="Lucida Sans Unicode"/>
              </a:rPr>
              <a:t>.</a:t>
            </a:r>
            <a:r>
              <a:rPr sz="1100" spc="-80" dirty="0">
                <a:solidFill>
                  <a:srgbClr val="8C008C"/>
                </a:solidFill>
                <a:latin typeface="Tahoma"/>
                <a:cs typeface="Tahoma"/>
              </a:rPr>
              <a:t>7%</a:t>
            </a:r>
            <a:r>
              <a:rPr sz="1100" spc="-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8C008C"/>
                </a:solidFill>
                <a:latin typeface="Tahoma"/>
                <a:cs typeface="Tahoma"/>
              </a:rPr>
              <a:t>must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lie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within 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k</a:t>
            </a:r>
            <a:r>
              <a:rPr sz="1100" i="1" spc="50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=</a:t>
            </a:r>
            <a:r>
              <a:rPr sz="1100" spc="-7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3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8C008C"/>
                </a:solidFill>
                <a:latin typeface="Tahoma"/>
                <a:cs typeface="Tahoma"/>
              </a:rPr>
              <a:t>st-</a:t>
            </a:r>
            <a:r>
              <a:rPr sz="1100" spc="-25" dirty="0">
                <a:solidFill>
                  <a:srgbClr val="8C008C"/>
                </a:solidFill>
                <a:latin typeface="Tahoma"/>
                <a:cs typeface="Tahoma"/>
              </a:rPr>
              <a:t>dev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x</a:t>
            </a:r>
            <a:r>
              <a:rPr sz="1100" i="1" spc="5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spc="229" dirty="0">
                <a:solidFill>
                  <a:srgbClr val="8C008C"/>
                </a:solidFill>
                <a:latin typeface="Cambria"/>
                <a:cs typeface="Cambria"/>
              </a:rPr>
              <a:t>±</a:t>
            </a:r>
            <a:r>
              <a:rPr sz="1100" spc="-20" dirty="0">
                <a:solidFill>
                  <a:srgbClr val="8C008C"/>
                </a:solidFill>
                <a:latin typeface="Cambria"/>
                <a:cs typeface="Cambria"/>
              </a:rPr>
              <a:t> </a:t>
            </a:r>
            <a:r>
              <a:rPr sz="1100" spc="-30" dirty="0">
                <a:solidFill>
                  <a:srgbClr val="8C008C"/>
                </a:solidFill>
                <a:latin typeface="Tahoma"/>
                <a:cs typeface="Tahoma"/>
              </a:rPr>
              <a:t>3</a:t>
            </a:r>
            <a:r>
              <a:rPr sz="1100" spc="-30" dirty="0">
                <a:solidFill>
                  <a:srgbClr val="8C008C"/>
                </a:solidFill>
                <a:latin typeface="Lucida Sans Unicode"/>
                <a:cs typeface="Lucida Sans Unicode"/>
              </a:rPr>
              <a:t>σ</a:t>
            </a:r>
            <a:r>
              <a:rPr sz="1100" spc="-30" dirty="0">
                <a:solidFill>
                  <a:srgbClr val="8C008C"/>
                </a:solidFill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2268" y="1693735"/>
            <a:ext cx="1943490" cy="149137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dirty="0"/>
              <a:t>EDA:</a:t>
            </a:r>
            <a:r>
              <a:rPr spc="-40" dirty="0"/>
              <a:t> </a:t>
            </a:r>
            <a:r>
              <a:rPr spc="-55" dirty="0"/>
              <a:t>Three-</a:t>
            </a:r>
            <a:r>
              <a:rPr spc="-50" dirty="0"/>
              <a:t>Sigma</a:t>
            </a:r>
            <a:r>
              <a:rPr spc="-35" dirty="0"/>
              <a:t> </a:t>
            </a:r>
            <a:r>
              <a:rPr spc="-40" dirty="0"/>
              <a:t>Rule</a:t>
            </a:r>
            <a:r>
              <a:rPr spc="-3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25" dirty="0"/>
              <a:t>Empirical</a:t>
            </a:r>
            <a:r>
              <a:rPr spc="-30" dirty="0"/>
              <a:t> </a:t>
            </a:r>
            <a:r>
              <a:rPr spc="-20" dirty="0"/>
              <a:t>Rule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95629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3872" y="936891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8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19162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3872" y="117223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8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42697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3872" y="1407566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593" y="0"/>
                </a:lnTo>
              </a:path>
            </a:pathLst>
          </a:custGeom>
          <a:ln w="5537">
            <a:solidFill>
              <a:srgbClr val="8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1305" y="420343"/>
            <a:ext cx="4242435" cy="11087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For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any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distribution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data,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there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are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guarantees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that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certain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number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of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values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must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fall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with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k</a:t>
            </a:r>
            <a:r>
              <a:rPr sz="1100" i="1" spc="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st-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dev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from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mean</a:t>
            </a:r>
            <a:endParaRPr sz="1100">
              <a:latin typeface="Tahoma"/>
              <a:cs typeface="Tahoma"/>
            </a:endParaRPr>
          </a:p>
          <a:p>
            <a:pPr marL="289560" marR="818515" algn="just">
              <a:lnSpc>
                <a:spcPct val="140400"/>
              </a:lnSpc>
              <a:spcBef>
                <a:spcPts val="305"/>
              </a:spcBef>
            </a:pP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At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least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8C008C"/>
                </a:solidFill>
                <a:latin typeface="Cambria"/>
                <a:cs typeface="Cambria"/>
              </a:rPr>
              <a:t>∼</a:t>
            </a:r>
            <a:r>
              <a:rPr sz="1100" spc="35" dirty="0">
                <a:solidFill>
                  <a:srgbClr val="8C008C"/>
                </a:solidFill>
                <a:latin typeface="Cambria"/>
                <a:cs typeface="Cambria"/>
              </a:rPr>
              <a:t> </a:t>
            </a:r>
            <a:r>
              <a:rPr sz="1100" spc="-100" dirty="0">
                <a:solidFill>
                  <a:srgbClr val="8C008C"/>
                </a:solidFill>
                <a:latin typeface="Tahoma"/>
                <a:cs typeface="Tahoma"/>
              </a:rPr>
              <a:t>75%</a:t>
            </a:r>
            <a:r>
              <a:rPr sz="1100" spc="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8C008C"/>
                </a:solidFill>
                <a:latin typeface="Tahoma"/>
                <a:cs typeface="Tahoma"/>
              </a:rPr>
              <a:t>must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lie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within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k</a:t>
            </a:r>
            <a:r>
              <a:rPr sz="1100" i="1" spc="55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=</a:t>
            </a:r>
            <a:r>
              <a:rPr sz="1100" spc="-7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2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8C008C"/>
                </a:solidFill>
                <a:latin typeface="Tahoma"/>
                <a:cs typeface="Tahoma"/>
              </a:rPr>
              <a:t>st-</a:t>
            </a:r>
            <a:r>
              <a:rPr sz="1100" spc="-25" dirty="0">
                <a:solidFill>
                  <a:srgbClr val="8C008C"/>
                </a:solidFill>
                <a:latin typeface="Tahoma"/>
                <a:cs typeface="Tahoma"/>
              </a:rPr>
              <a:t>dev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x</a:t>
            </a:r>
            <a:r>
              <a:rPr sz="1100" i="1" spc="5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spc="229" dirty="0">
                <a:solidFill>
                  <a:srgbClr val="8C008C"/>
                </a:solidFill>
                <a:latin typeface="Cambria"/>
                <a:cs typeface="Cambria"/>
              </a:rPr>
              <a:t>±</a:t>
            </a:r>
            <a:r>
              <a:rPr sz="1100" spc="-20" dirty="0">
                <a:solidFill>
                  <a:srgbClr val="8C008C"/>
                </a:solidFill>
                <a:latin typeface="Cambria"/>
                <a:cs typeface="Cambria"/>
              </a:rPr>
              <a:t> </a:t>
            </a:r>
            <a:r>
              <a:rPr sz="1100" spc="-30" dirty="0">
                <a:solidFill>
                  <a:srgbClr val="8C008C"/>
                </a:solidFill>
                <a:latin typeface="Tahoma"/>
                <a:cs typeface="Tahoma"/>
              </a:rPr>
              <a:t>2</a:t>
            </a:r>
            <a:r>
              <a:rPr sz="1100" spc="-30" dirty="0">
                <a:solidFill>
                  <a:srgbClr val="8C008C"/>
                </a:solidFill>
                <a:latin typeface="Lucida Sans Unicode"/>
                <a:cs typeface="Lucida Sans Unicode"/>
              </a:rPr>
              <a:t>σ</a:t>
            </a:r>
            <a:r>
              <a:rPr sz="1100" spc="-30" dirty="0">
                <a:solidFill>
                  <a:srgbClr val="8C008C"/>
                </a:solidFill>
                <a:latin typeface="Tahoma"/>
                <a:cs typeface="Tahoma"/>
              </a:rPr>
              <a:t>)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At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least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8C008C"/>
                </a:solidFill>
                <a:latin typeface="Cambria"/>
                <a:cs typeface="Cambria"/>
              </a:rPr>
              <a:t>∼</a:t>
            </a:r>
            <a:r>
              <a:rPr sz="1100" spc="35" dirty="0">
                <a:solidFill>
                  <a:srgbClr val="8C008C"/>
                </a:solidFill>
                <a:latin typeface="Cambria"/>
                <a:cs typeface="Cambria"/>
              </a:rPr>
              <a:t> </a:t>
            </a:r>
            <a:r>
              <a:rPr sz="1100" spc="-100" dirty="0">
                <a:solidFill>
                  <a:srgbClr val="8C008C"/>
                </a:solidFill>
                <a:latin typeface="Tahoma"/>
                <a:cs typeface="Tahoma"/>
              </a:rPr>
              <a:t>89%</a:t>
            </a:r>
            <a:r>
              <a:rPr sz="1100" spc="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8C008C"/>
                </a:solidFill>
                <a:latin typeface="Tahoma"/>
                <a:cs typeface="Tahoma"/>
              </a:rPr>
              <a:t>must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lie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within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k</a:t>
            </a:r>
            <a:r>
              <a:rPr sz="1100" i="1" spc="55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=</a:t>
            </a:r>
            <a:r>
              <a:rPr sz="1100" spc="-7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3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8C008C"/>
                </a:solidFill>
                <a:latin typeface="Tahoma"/>
                <a:cs typeface="Tahoma"/>
              </a:rPr>
              <a:t>st-</a:t>
            </a:r>
            <a:r>
              <a:rPr sz="1100" spc="-25" dirty="0">
                <a:solidFill>
                  <a:srgbClr val="8C008C"/>
                </a:solidFill>
                <a:latin typeface="Tahoma"/>
                <a:cs typeface="Tahoma"/>
              </a:rPr>
              <a:t>dev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x</a:t>
            </a:r>
            <a:r>
              <a:rPr sz="1100" i="1" spc="5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spc="229" dirty="0">
                <a:solidFill>
                  <a:srgbClr val="8C008C"/>
                </a:solidFill>
                <a:latin typeface="Cambria"/>
                <a:cs typeface="Cambria"/>
              </a:rPr>
              <a:t>±</a:t>
            </a:r>
            <a:r>
              <a:rPr sz="1100" spc="-20" dirty="0">
                <a:solidFill>
                  <a:srgbClr val="8C008C"/>
                </a:solidFill>
                <a:latin typeface="Cambria"/>
                <a:cs typeface="Cambria"/>
              </a:rPr>
              <a:t> </a:t>
            </a:r>
            <a:r>
              <a:rPr sz="1100" spc="-30" dirty="0">
                <a:solidFill>
                  <a:srgbClr val="8C008C"/>
                </a:solidFill>
                <a:latin typeface="Tahoma"/>
                <a:cs typeface="Tahoma"/>
              </a:rPr>
              <a:t>3</a:t>
            </a:r>
            <a:r>
              <a:rPr sz="1100" spc="-30" dirty="0">
                <a:solidFill>
                  <a:srgbClr val="8C008C"/>
                </a:solidFill>
                <a:latin typeface="Lucida Sans Unicode"/>
                <a:cs typeface="Lucida Sans Unicode"/>
              </a:rPr>
              <a:t>σ</a:t>
            </a:r>
            <a:r>
              <a:rPr sz="1100" spc="-30" dirty="0">
                <a:solidFill>
                  <a:srgbClr val="8C008C"/>
                </a:solidFill>
                <a:latin typeface="Tahoma"/>
                <a:cs typeface="Tahoma"/>
              </a:rPr>
              <a:t>)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At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least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8C008C"/>
                </a:solidFill>
                <a:latin typeface="Cambria"/>
                <a:cs typeface="Cambria"/>
              </a:rPr>
              <a:t>∼</a:t>
            </a:r>
            <a:r>
              <a:rPr sz="1100" spc="35" dirty="0">
                <a:solidFill>
                  <a:srgbClr val="8C008C"/>
                </a:solidFill>
                <a:latin typeface="Cambria"/>
                <a:cs typeface="Cambria"/>
              </a:rPr>
              <a:t> </a:t>
            </a:r>
            <a:r>
              <a:rPr sz="1100" spc="-100" dirty="0">
                <a:solidFill>
                  <a:srgbClr val="8C008C"/>
                </a:solidFill>
                <a:latin typeface="Tahoma"/>
                <a:cs typeface="Tahoma"/>
              </a:rPr>
              <a:t>93%</a:t>
            </a:r>
            <a:r>
              <a:rPr sz="1100" spc="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8C008C"/>
                </a:solidFill>
                <a:latin typeface="Tahoma"/>
                <a:cs typeface="Tahoma"/>
              </a:rPr>
              <a:t>must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lie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within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k</a:t>
            </a:r>
            <a:r>
              <a:rPr sz="1100" i="1" spc="55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=</a:t>
            </a:r>
            <a:r>
              <a:rPr sz="1100" spc="-7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4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8C008C"/>
                </a:solidFill>
                <a:latin typeface="Tahoma"/>
                <a:cs typeface="Tahoma"/>
              </a:rPr>
              <a:t>st-</a:t>
            </a:r>
            <a:r>
              <a:rPr sz="1100" spc="-25" dirty="0">
                <a:solidFill>
                  <a:srgbClr val="8C008C"/>
                </a:solidFill>
                <a:latin typeface="Tahoma"/>
                <a:cs typeface="Tahoma"/>
              </a:rPr>
              <a:t>dev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x</a:t>
            </a:r>
            <a:r>
              <a:rPr sz="1100" i="1" spc="5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spc="229" dirty="0">
                <a:solidFill>
                  <a:srgbClr val="8C008C"/>
                </a:solidFill>
                <a:latin typeface="Cambria"/>
                <a:cs typeface="Cambria"/>
              </a:rPr>
              <a:t>±</a:t>
            </a:r>
            <a:r>
              <a:rPr sz="1100" spc="-20" dirty="0">
                <a:solidFill>
                  <a:srgbClr val="8C008C"/>
                </a:solidFill>
                <a:latin typeface="Cambria"/>
                <a:cs typeface="Cambria"/>
              </a:rPr>
              <a:t> </a:t>
            </a:r>
            <a:r>
              <a:rPr sz="1100" spc="-30" dirty="0">
                <a:solidFill>
                  <a:srgbClr val="8C008C"/>
                </a:solidFill>
                <a:latin typeface="Tahoma"/>
                <a:cs typeface="Tahoma"/>
              </a:rPr>
              <a:t>4</a:t>
            </a:r>
            <a:r>
              <a:rPr sz="1100" spc="-30" dirty="0">
                <a:solidFill>
                  <a:srgbClr val="8C008C"/>
                </a:solidFill>
                <a:latin typeface="Lucida Sans Unicode"/>
                <a:cs typeface="Lucida Sans Unicode"/>
              </a:rPr>
              <a:t>σ</a:t>
            </a:r>
            <a:r>
              <a:rPr sz="1100" spc="-30" dirty="0">
                <a:solidFill>
                  <a:srgbClr val="8C008C"/>
                </a:solidFill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6580" y="1605828"/>
            <a:ext cx="2154820" cy="1630588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30" dirty="0"/>
              <a:t>Bivariate</a:t>
            </a:r>
            <a:r>
              <a:rPr spc="-50" dirty="0"/>
              <a:t> </a:t>
            </a:r>
            <a:r>
              <a:rPr spc="-10" dirty="0"/>
              <a:t>Measures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94865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681" y="122256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681" y="145031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82524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2681" y="209915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2681" y="232690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2681" y="255464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205" y="466076"/>
            <a:ext cx="3693795" cy="2183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Used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bivariate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pairs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attributes,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detail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later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10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</a:pPr>
            <a:r>
              <a:rPr sz="1100" b="1" spc="-20" dirty="0">
                <a:latin typeface="Arial"/>
                <a:cs typeface="Arial"/>
              </a:rPr>
              <a:t>Nominal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or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Ordinal</a:t>
            </a:r>
            <a:r>
              <a:rPr sz="1100" b="1" spc="-10" dirty="0">
                <a:latin typeface="Arial"/>
                <a:cs typeface="Arial"/>
              </a:rPr>
              <a:t> Attributes</a:t>
            </a:r>
            <a:endParaRPr sz="1100">
              <a:latin typeface="Arial"/>
              <a:cs typeface="Arial"/>
            </a:endParaRPr>
          </a:p>
          <a:p>
            <a:pPr marL="604520">
              <a:lnSpc>
                <a:spcPct val="100000"/>
              </a:lnSpc>
              <a:spcBef>
                <a:spcPts val="894"/>
              </a:spcBef>
            </a:pPr>
            <a:r>
              <a:rPr sz="1000" spc="-30" dirty="0">
                <a:latin typeface="Tahoma"/>
                <a:cs typeface="Tahoma"/>
              </a:rPr>
              <a:t>Contingency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Table</a:t>
            </a:r>
            <a:endParaRPr sz="1000">
              <a:latin typeface="Tahoma"/>
              <a:cs typeface="Tahoma"/>
            </a:endParaRPr>
          </a:p>
          <a:p>
            <a:pPr marL="604520">
              <a:lnSpc>
                <a:spcPct val="100000"/>
              </a:lnSpc>
              <a:spcBef>
                <a:spcPts val="595"/>
              </a:spcBef>
            </a:pPr>
            <a:r>
              <a:rPr sz="1000" dirty="0">
                <a:latin typeface="Lucida Sans Unicode"/>
                <a:cs typeface="Lucida Sans Unicode"/>
              </a:rPr>
              <a:t>χ</a:t>
            </a:r>
            <a:r>
              <a:rPr sz="1050" baseline="27777" dirty="0">
                <a:latin typeface="Tahoma"/>
                <a:cs typeface="Tahoma"/>
              </a:rPr>
              <a:t>2</a:t>
            </a:r>
            <a:r>
              <a:rPr sz="1050" spc="322" baseline="27777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statistics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00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</a:pPr>
            <a:r>
              <a:rPr sz="1100" b="1" spc="-20" dirty="0">
                <a:latin typeface="Arial"/>
                <a:cs typeface="Arial"/>
              </a:rPr>
              <a:t>Numeric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Attributes</a:t>
            </a:r>
            <a:endParaRPr sz="1100">
              <a:latin typeface="Arial"/>
              <a:cs typeface="Arial"/>
            </a:endParaRPr>
          </a:p>
          <a:p>
            <a:pPr marL="604520" marR="2110740">
              <a:lnSpc>
                <a:spcPct val="149400"/>
              </a:lnSpc>
              <a:spcBef>
                <a:spcPts val="305"/>
              </a:spcBef>
            </a:pPr>
            <a:r>
              <a:rPr sz="1000" spc="-10" dirty="0">
                <a:latin typeface="Tahoma"/>
                <a:cs typeface="Tahoma"/>
              </a:rPr>
              <a:t>Covariance Correlation </a:t>
            </a:r>
            <a:r>
              <a:rPr sz="1000" spc="-20" dirty="0">
                <a:latin typeface="Tahoma"/>
                <a:cs typeface="Tahoma"/>
              </a:rPr>
              <a:t>Correlation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Matrix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50" dirty="0"/>
              <a:t>Contingency</a:t>
            </a:r>
            <a:r>
              <a:rPr spc="5" dirty="0"/>
              <a:t> </a:t>
            </a:r>
            <a:r>
              <a:rPr spc="-20" dirty="0"/>
              <a:t>Table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70177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3412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805" y="358290"/>
            <a:ext cx="4459605" cy="1612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99060" indent="-277495">
              <a:lnSpc>
                <a:spcPct val="125299"/>
              </a:lnSpc>
              <a:spcBef>
                <a:spcPts val="100"/>
              </a:spcBef>
            </a:pPr>
            <a:r>
              <a:rPr sz="1100" b="1" spc="-45" dirty="0">
                <a:solidFill>
                  <a:srgbClr val="0000FF"/>
                </a:solidFill>
                <a:latin typeface="Arial"/>
                <a:cs typeface="Arial"/>
              </a:rPr>
              <a:t>Contingency</a:t>
            </a:r>
            <a:r>
              <a:rPr sz="1100" b="1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table</a:t>
            </a:r>
            <a:r>
              <a:rPr sz="11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summarizes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with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two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nominal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or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ordinal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features </a:t>
            </a:r>
            <a:r>
              <a:rPr sz="1100" spc="-30" dirty="0">
                <a:latin typeface="Tahoma"/>
                <a:cs typeface="Tahoma"/>
              </a:rPr>
              <a:t>Used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determine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whether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variable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pair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correlated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dirty="0">
                <a:latin typeface="Lucida Sans Unicode"/>
                <a:cs typeface="Lucida Sans Unicode"/>
              </a:rPr>
              <a:t>χ</a:t>
            </a:r>
            <a:r>
              <a:rPr sz="1200" baseline="27777" dirty="0">
                <a:latin typeface="Tahoma"/>
                <a:cs typeface="Tahoma"/>
              </a:rPr>
              <a:t>2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10" dirty="0">
                <a:latin typeface="Tahoma"/>
                <a:cs typeface="Tahoma"/>
              </a:rPr>
              <a:t>Test)</a:t>
            </a:r>
            <a:endParaRPr sz="110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1200"/>
              </a:spcBef>
            </a:pPr>
            <a:r>
              <a:rPr sz="1100" spc="-25" dirty="0">
                <a:latin typeface="Tahoma"/>
                <a:cs typeface="Tahoma"/>
              </a:rPr>
              <a:t>(nominal)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taking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45" dirty="0">
                <a:latin typeface="Arial"/>
                <a:cs typeface="Arial"/>
              </a:rPr>
              <a:t>a</a:t>
            </a:r>
            <a:r>
              <a:rPr sz="1200" spc="-67" baseline="-10416" dirty="0">
                <a:latin typeface="Tahoma"/>
                <a:cs typeface="Tahoma"/>
              </a:rPr>
              <a:t>2</a:t>
            </a:r>
            <a:r>
              <a:rPr sz="1100" spc="-45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.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.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.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60" dirty="0">
                <a:latin typeface="Arial"/>
                <a:cs typeface="Arial"/>
              </a:rPr>
              <a:t>a</a:t>
            </a:r>
            <a:r>
              <a:rPr sz="1200" i="1" spc="-89" baseline="-10416" dirty="0">
                <a:latin typeface="Arial"/>
                <a:cs typeface="Arial"/>
              </a:rPr>
              <a:t>p</a:t>
            </a:r>
            <a:r>
              <a:rPr sz="1200" i="1" spc="-209" baseline="-10416" dirty="0">
                <a:latin typeface="Arial"/>
                <a:cs typeface="Arial"/>
              </a:rPr>
              <a:t> 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30" dirty="0">
                <a:latin typeface="Arial"/>
                <a:cs typeface="Arial"/>
              </a:rPr>
              <a:t>b</a:t>
            </a:r>
            <a:r>
              <a:rPr sz="1200" spc="-44" baseline="-10416" dirty="0">
                <a:latin typeface="Tahoma"/>
                <a:cs typeface="Tahoma"/>
              </a:rPr>
              <a:t>2</a:t>
            </a:r>
            <a:r>
              <a:rPr sz="1100" spc="-3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.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.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.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40" dirty="0">
                <a:latin typeface="Arial"/>
                <a:cs typeface="Arial"/>
              </a:rPr>
              <a:t>b</a:t>
            </a:r>
            <a:r>
              <a:rPr sz="1200" i="1" spc="-60" baseline="-10416" dirty="0">
                <a:latin typeface="Arial"/>
                <a:cs typeface="Arial"/>
              </a:rPr>
              <a:t>q</a:t>
            </a:r>
            <a:r>
              <a:rPr sz="1200" i="1" spc="-209" baseline="-10416" dirty="0">
                <a:latin typeface="Arial"/>
                <a:cs typeface="Arial"/>
              </a:rPr>
              <a:t> </a:t>
            </a:r>
            <a:r>
              <a:rPr sz="1100" spc="65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  <a:p>
            <a:pPr marL="353060">
              <a:lnSpc>
                <a:spcPct val="100000"/>
              </a:lnSpc>
              <a:spcBef>
                <a:spcPts val="1195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200" i="1" baseline="-10416" dirty="0">
                <a:latin typeface="Arial"/>
                <a:cs typeface="Arial"/>
              </a:rPr>
              <a:t>ij</a:t>
            </a:r>
            <a:r>
              <a:rPr sz="1200" i="1" spc="19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frequency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joint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occurrence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i="1" spc="-30" dirty="0">
                <a:latin typeface="Arial"/>
                <a:cs typeface="Arial"/>
              </a:rPr>
              <a:t>a</a:t>
            </a:r>
            <a:r>
              <a:rPr sz="1200" i="1" spc="-44" baseline="-10416" dirty="0">
                <a:latin typeface="Arial"/>
                <a:cs typeface="Arial"/>
              </a:rPr>
              <a:t>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b</a:t>
            </a:r>
            <a:r>
              <a:rPr sz="1200" i="1" spc="-15" baseline="-10416" dirty="0">
                <a:latin typeface="Arial"/>
                <a:cs typeface="Arial"/>
              </a:rPr>
              <a:t>j</a:t>
            </a:r>
            <a:r>
              <a:rPr sz="1200" i="1" spc="-150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1012190">
              <a:lnSpc>
                <a:spcPct val="100000"/>
              </a:lnSpc>
              <a:spcBef>
                <a:spcPts val="395"/>
              </a:spcBef>
            </a:pPr>
            <a:r>
              <a:rPr sz="1100" spc="-335" dirty="0">
                <a:latin typeface="Lucida Sans Unicode"/>
                <a:cs typeface="Lucida Sans Unicode"/>
              </a:rPr>
              <a:t>▷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b="1" spc="-65" dirty="0">
                <a:solidFill>
                  <a:srgbClr val="8C008C"/>
                </a:solidFill>
                <a:latin typeface="Arial"/>
                <a:cs typeface="Arial"/>
              </a:rPr>
              <a:t>observed</a:t>
            </a:r>
            <a:r>
              <a:rPr sz="1100" b="1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8C008C"/>
                </a:solidFill>
                <a:latin typeface="Arial"/>
                <a:cs typeface="Arial"/>
              </a:rPr>
              <a:t>frequency</a:t>
            </a:r>
            <a:r>
              <a:rPr sz="1100" b="1" spc="30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of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the</a:t>
            </a:r>
            <a:r>
              <a:rPr sz="1100" spc="-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joint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8C008C"/>
                </a:solidFill>
                <a:latin typeface="Tahoma"/>
                <a:cs typeface="Tahoma"/>
              </a:rPr>
              <a:t>event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A</a:t>
            </a:r>
            <a:r>
              <a:rPr sz="1100" i="1" spc="-30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=</a:t>
            </a:r>
            <a:r>
              <a:rPr sz="1100" spc="-6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i="1" spc="-40" dirty="0">
                <a:solidFill>
                  <a:srgbClr val="8C008C"/>
                </a:solidFill>
                <a:latin typeface="Arial"/>
                <a:cs typeface="Arial"/>
              </a:rPr>
              <a:t>a</a:t>
            </a:r>
            <a:r>
              <a:rPr sz="1200" i="1" spc="-60" baseline="-10416" dirty="0">
                <a:solidFill>
                  <a:srgbClr val="8C008C"/>
                </a:solidFill>
                <a:latin typeface="Arial"/>
                <a:cs typeface="Arial"/>
              </a:rPr>
              <a:t>i</a:t>
            </a:r>
            <a:r>
              <a:rPr sz="1200" i="1" spc="-142" baseline="-10416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8C008C"/>
                </a:solidFill>
                <a:latin typeface="Lucida Sans Unicode"/>
                <a:cs typeface="Lucida Sans Unicode"/>
              </a:rPr>
              <a:t>,</a:t>
            </a:r>
            <a:r>
              <a:rPr sz="1100" spc="-170" dirty="0">
                <a:solidFill>
                  <a:srgbClr val="8C008C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B</a:t>
            </a:r>
            <a:r>
              <a:rPr sz="1100" i="1" spc="55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=</a:t>
            </a:r>
            <a:r>
              <a:rPr sz="1100" spc="-6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i="1" spc="-10" dirty="0">
                <a:solidFill>
                  <a:srgbClr val="8C008C"/>
                </a:solidFill>
                <a:latin typeface="Arial"/>
                <a:cs typeface="Arial"/>
              </a:rPr>
              <a:t>b</a:t>
            </a:r>
            <a:r>
              <a:rPr sz="1200" i="1" spc="-15" baseline="-10416" dirty="0">
                <a:solidFill>
                  <a:srgbClr val="8C008C"/>
                </a:solidFill>
                <a:latin typeface="Arial"/>
                <a:cs typeface="Arial"/>
              </a:rPr>
              <a:t>j</a:t>
            </a:r>
            <a:r>
              <a:rPr sz="1200" i="1" spc="-150" baseline="-10416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8C008C"/>
                </a:solidFill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243840">
              <a:lnSpc>
                <a:spcPct val="100000"/>
              </a:lnSpc>
              <a:spcBef>
                <a:spcPts val="1120"/>
              </a:spcBef>
            </a:pPr>
            <a:r>
              <a:rPr sz="1100" spc="-35" dirty="0">
                <a:latin typeface="Tahoma"/>
                <a:cs typeface="Tahoma"/>
              </a:rPr>
              <a:t>Contingency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Table: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9313" y="2436951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33045" algn="l"/>
              </a:tabLst>
            </a:pPr>
            <a:r>
              <a:rPr sz="1100" i="1" spc="-50" dirty="0">
                <a:latin typeface="Arial"/>
                <a:cs typeface="Arial"/>
              </a:rPr>
              <a:t>C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60958" y="2058898"/>
          <a:ext cx="1232535" cy="979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475"/>
                <a:gridCol w="247015"/>
                <a:gridCol w="247015"/>
                <a:gridCol w="247015"/>
                <a:gridCol w="247015"/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37" baseline="-10416" dirty="0">
                          <a:latin typeface="Tahoma"/>
                          <a:cs typeface="Tahoma"/>
                        </a:rPr>
                        <a:t>1</a:t>
                      </a:r>
                      <a:endParaRPr sz="1200" baseline="-10416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37" baseline="-10416" dirty="0">
                          <a:latin typeface="Tahoma"/>
                          <a:cs typeface="Tahoma"/>
                        </a:rPr>
                        <a:t>2</a:t>
                      </a:r>
                      <a:endParaRPr sz="1200" baseline="-10416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170"/>
                        </a:lnSpc>
                      </a:pPr>
                      <a:r>
                        <a:rPr sz="1100" spc="-55" dirty="0">
                          <a:latin typeface="Lucida Sans Unicode"/>
                          <a:cs typeface="Lucida Sans Unicode"/>
                        </a:rPr>
                        <a:t>.</a:t>
                      </a:r>
                      <a:r>
                        <a:rPr sz="1100" spc="-16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spc="-55" dirty="0">
                          <a:latin typeface="Lucida Sans Unicode"/>
                          <a:cs typeface="Lucida Sans Unicode"/>
                        </a:rPr>
                        <a:t>.</a:t>
                      </a:r>
                      <a:r>
                        <a:rPr sz="1100" spc="-16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spc="-50" dirty="0">
                          <a:latin typeface="Lucida Sans Unicode"/>
                          <a:cs typeface="Lucida Sans Unicode"/>
                        </a:rPr>
                        <a:t>.</a:t>
                      </a:r>
                      <a:endParaRPr sz="11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p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marL="75565">
                        <a:lnSpc>
                          <a:spcPts val="131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37" baseline="-10416" dirty="0">
                          <a:latin typeface="Tahoma"/>
                          <a:cs typeface="Tahoma"/>
                        </a:rPr>
                        <a:t>1</a:t>
                      </a:r>
                      <a:endParaRPr sz="1200" baseline="-10416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37" baseline="-10416" dirty="0">
                          <a:latin typeface="Tahoma"/>
                          <a:cs typeface="Tahoma"/>
                        </a:rPr>
                        <a:t>2</a:t>
                      </a:r>
                      <a:endParaRPr sz="1200" baseline="-10416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.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255"/>
                        </a:lnSpc>
                        <a:spcBef>
                          <a:spcPts val="575"/>
                        </a:spcBef>
                      </a:pPr>
                      <a:r>
                        <a:rPr sz="1650" i="1" spc="-37" baseline="7575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ij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730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q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8171" y="2163813"/>
            <a:ext cx="1571624" cy="87725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417" y="300316"/>
            <a:ext cx="2155825" cy="5080"/>
            <a:chOff x="138417" y="300316"/>
            <a:chExt cx="2155825" cy="5080"/>
          </a:xfrm>
        </p:grpSpPr>
        <p:sp>
          <p:nvSpPr>
            <p:cNvPr id="3" name="object 3"/>
            <p:cNvSpPr/>
            <p:nvPr/>
          </p:nvSpPr>
          <p:spPr>
            <a:xfrm>
              <a:off x="140957" y="302856"/>
              <a:ext cx="439420" cy="0"/>
            </a:xfrm>
            <a:custGeom>
              <a:avLst/>
              <a:gdLst/>
              <a:ahLst/>
              <a:cxnLst/>
              <a:rect l="l" t="t" r="r" b="b"/>
              <a:pathLst>
                <a:path w="439420">
                  <a:moveTo>
                    <a:pt x="0" y="0"/>
                  </a:moveTo>
                  <a:lnTo>
                    <a:pt x="439318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4179" y="302856"/>
              <a:ext cx="55880" cy="0"/>
            </a:xfrm>
            <a:custGeom>
              <a:avLst/>
              <a:gdLst/>
              <a:ahLst/>
              <a:cxnLst/>
              <a:rect l="l" t="t" r="r" b="b"/>
              <a:pathLst>
                <a:path w="55879">
                  <a:moveTo>
                    <a:pt x="0" y="0"/>
                  </a:moveTo>
                  <a:lnTo>
                    <a:pt x="55651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3735" y="302856"/>
              <a:ext cx="172720" cy="0"/>
            </a:xfrm>
            <a:custGeom>
              <a:avLst/>
              <a:gdLst/>
              <a:ahLst/>
              <a:cxnLst/>
              <a:rect l="l" t="t" r="r" b="b"/>
              <a:pathLst>
                <a:path w="172720">
                  <a:moveTo>
                    <a:pt x="0" y="0"/>
                  </a:moveTo>
                  <a:lnTo>
                    <a:pt x="172250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9876" y="302856"/>
              <a:ext cx="55880" cy="0"/>
            </a:xfrm>
            <a:custGeom>
              <a:avLst/>
              <a:gdLst/>
              <a:ahLst/>
              <a:cxnLst/>
              <a:rect l="l" t="t" r="r" b="b"/>
              <a:pathLst>
                <a:path w="55880">
                  <a:moveTo>
                    <a:pt x="0" y="0"/>
                  </a:moveTo>
                  <a:lnTo>
                    <a:pt x="55651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9431" y="302856"/>
              <a:ext cx="227329" cy="0"/>
            </a:xfrm>
            <a:custGeom>
              <a:avLst/>
              <a:gdLst/>
              <a:ahLst/>
              <a:cxnLst/>
              <a:rect l="l" t="t" r="r" b="b"/>
              <a:pathLst>
                <a:path w="227330">
                  <a:moveTo>
                    <a:pt x="0" y="0"/>
                  </a:moveTo>
                  <a:lnTo>
                    <a:pt x="226898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60234" y="302856"/>
              <a:ext cx="55880" cy="0"/>
            </a:xfrm>
            <a:custGeom>
              <a:avLst/>
              <a:gdLst/>
              <a:ahLst/>
              <a:cxnLst/>
              <a:rect l="l" t="t" r="r" b="b"/>
              <a:pathLst>
                <a:path w="55880">
                  <a:moveTo>
                    <a:pt x="0" y="0"/>
                  </a:moveTo>
                  <a:lnTo>
                    <a:pt x="55651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09789" y="302856"/>
              <a:ext cx="599440" cy="0"/>
            </a:xfrm>
            <a:custGeom>
              <a:avLst/>
              <a:gdLst/>
              <a:ahLst/>
              <a:cxnLst/>
              <a:rect l="l" t="t" r="r" b="b"/>
              <a:pathLst>
                <a:path w="599439">
                  <a:moveTo>
                    <a:pt x="0" y="0"/>
                  </a:moveTo>
                  <a:lnTo>
                    <a:pt x="599401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03108" y="302856"/>
              <a:ext cx="55880" cy="0"/>
            </a:xfrm>
            <a:custGeom>
              <a:avLst/>
              <a:gdLst/>
              <a:ahLst/>
              <a:cxnLst/>
              <a:rect l="l" t="t" r="r" b="b"/>
              <a:pathLst>
                <a:path w="55880">
                  <a:moveTo>
                    <a:pt x="0" y="0"/>
                  </a:moveTo>
                  <a:lnTo>
                    <a:pt x="55651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52663" y="302856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>
                  <a:moveTo>
                    <a:pt x="0" y="0"/>
                  </a:moveTo>
                  <a:lnTo>
                    <a:pt x="104330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50898" y="302856"/>
              <a:ext cx="55880" cy="0"/>
            </a:xfrm>
            <a:custGeom>
              <a:avLst/>
              <a:gdLst/>
              <a:ahLst/>
              <a:cxnLst/>
              <a:rect l="l" t="t" r="r" b="b"/>
              <a:pathLst>
                <a:path w="55880">
                  <a:moveTo>
                    <a:pt x="0" y="0"/>
                  </a:moveTo>
                  <a:lnTo>
                    <a:pt x="55651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00453" y="302856"/>
              <a:ext cx="229870" cy="0"/>
            </a:xfrm>
            <a:custGeom>
              <a:avLst/>
              <a:gdLst/>
              <a:ahLst/>
              <a:cxnLst/>
              <a:rect l="l" t="t" r="r" b="b"/>
              <a:pathLst>
                <a:path w="229869">
                  <a:moveTo>
                    <a:pt x="0" y="0"/>
                  </a:moveTo>
                  <a:lnTo>
                    <a:pt x="229793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24151" y="302856"/>
              <a:ext cx="55880" cy="0"/>
            </a:xfrm>
            <a:custGeom>
              <a:avLst/>
              <a:gdLst/>
              <a:ahLst/>
              <a:cxnLst/>
              <a:rect l="l" t="t" r="r" b="b"/>
              <a:pathLst>
                <a:path w="55880">
                  <a:moveTo>
                    <a:pt x="0" y="0"/>
                  </a:moveTo>
                  <a:lnTo>
                    <a:pt x="55651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73706" y="302856"/>
              <a:ext cx="117475" cy="0"/>
            </a:xfrm>
            <a:custGeom>
              <a:avLst/>
              <a:gdLst/>
              <a:ahLst/>
              <a:cxnLst/>
              <a:rect l="l" t="t" r="r" b="b"/>
              <a:pathLst>
                <a:path w="117475">
                  <a:moveTo>
                    <a:pt x="0" y="0"/>
                  </a:moveTo>
                  <a:lnTo>
                    <a:pt x="117449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i="1" u="none" dirty="0">
                <a:latin typeface="Arial"/>
                <a:cs typeface="Arial"/>
              </a:rPr>
              <a:t>χ</a:t>
            </a:r>
            <a:r>
              <a:rPr sz="1200" u="none" baseline="31250" dirty="0"/>
              <a:t>2</a:t>
            </a:r>
            <a:r>
              <a:rPr sz="1200" u="none" dirty="0"/>
              <a:t>-</a:t>
            </a:r>
            <a:r>
              <a:rPr sz="1200" u="none" spc="-25" dirty="0"/>
              <a:t>test</a:t>
            </a:r>
            <a:r>
              <a:rPr sz="1200" u="none" spc="-30" dirty="0"/>
              <a:t> </a:t>
            </a:r>
            <a:r>
              <a:rPr sz="1200" u="none" spc="-40" dirty="0"/>
              <a:t>for</a:t>
            </a:r>
            <a:r>
              <a:rPr sz="1200" u="none" spc="-25" dirty="0"/>
              <a:t> </a:t>
            </a:r>
            <a:r>
              <a:rPr sz="1200" u="none" spc="-65" dirty="0"/>
              <a:t>two</a:t>
            </a:r>
            <a:r>
              <a:rPr sz="1200" u="none" spc="-20" dirty="0"/>
              <a:t> </a:t>
            </a:r>
            <a:r>
              <a:rPr sz="1200" u="none" spc="-35" dirty="0"/>
              <a:t>attributes</a:t>
            </a:r>
            <a:r>
              <a:rPr sz="1200" u="none" spc="-25" dirty="0"/>
              <a:t> </a:t>
            </a:r>
            <a:r>
              <a:rPr sz="1200" i="1" u="none" dirty="0">
                <a:latin typeface="Arial"/>
                <a:cs typeface="Arial"/>
              </a:rPr>
              <a:t>A</a:t>
            </a:r>
            <a:r>
              <a:rPr sz="1200" i="1" u="none" spc="15" dirty="0">
                <a:latin typeface="Arial"/>
                <a:cs typeface="Arial"/>
              </a:rPr>
              <a:t> </a:t>
            </a:r>
            <a:r>
              <a:rPr sz="1200" u="none" spc="-55" dirty="0"/>
              <a:t>and</a:t>
            </a:r>
            <a:r>
              <a:rPr sz="1200" u="none" spc="-25" dirty="0"/>
              <a:t> </a:t>
            </a:r>
            <a:r>
              <a:rPr sz="1200" i="1" u="none" spc="-50" dirty="0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285047" y="300329"/>
            <a:ext cx="2182495" cy="5080"/>
            <a:chOff x="2285047" y="300329"/>
            <a:chExt cx="2182495" cy="5080"/>
          </a:xfrm>
        </p:grpSpPr>
        <p:sp>
          <p:nvSpPr>
            <p:cNvPr id="18" name="object 18"/>
            <p:cNvSpPr/>
            <p:nvPr/>
          </p:nvSpPr>
          <p:spPr>
            <a:xfrm>
              <a:off x="2285047" y="302856"/>
              <a:ext cx="55880" cy="0"/>
            </a:xfrm>
            <a:custGeom>
              <a:avLst/>
              <a:gdLst/>
              <a:ahLst/>
              <a:cxnLst/>
              <a:rect l="l" t="t" r="r" b="b"/>
              <a:pathLst>
                <a:path w="55880">
                  <a:moveTo>
                    <a:pt x="0" y="0"/>
                  </a:moveTo>
                  <a:lnTo>
                    <a:pt x="55651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34602" y="302856"/>
              <a:ext cx="2132965" cy="0"/>
            </a:xfrm>
            <a:custGeom>
              <a:avLst/>
              <a:gdLst/>
              <a:ahLst/>
              <a:cxnLst/>
              <a:rect l="l" t="t" r="r" b="b"/>
              <a:pathLst>
                <a:path w="2132965">
                  <a:moveTo>
                    <a:pt x="0" y="0"/>
                  </a:moveTo>
                  <a:lnTo>
                    <a:pt x="2132444" y="0"/>
                  </a:lnTo>
                </a:path>
              </a:pathLst>
            </a:custGeom>
            <a:ln w="505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290245" y="107500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0245" y="155632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3205" y="466076"/>
            <a:ext cx="4421505" cy="13646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00FF"/>
                </a:solidFill>
                <a:latin typeface="Lucida Sans Unicode"/>
                <a:cs typeface="Lucida Sans Unicode"/>
              </a:rPr>
              <a:t>χ</a:t>
            </a:r>
            <a:r>
              <a:rPr sz="1200" baseline="27777" dirty="0">
                <a:solidFill>
                  <a:srgbClr val="0000FF"/>
                </a:solidFill>
                <a:latin typeface="Tahoma"/>
                <a:cs typeface="Tahoma"/>
              </a:rPr>
              <a:t>2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statistic:</a:t>
            </a:r>
            <a:r>
              <a:rPr sz="1100" b="1" spc="1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“correlation”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nominal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attributes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Tahoma"/>
                <a:cs typeface="Tahoma"/>
              </a:rPr>
              <a:t>taking</a:t>
            </a:r>
            <a:r>
              <a:rPr sz="1100" spc="-40" dirty="0">
                <a:latin typeface="Tahoma"/>
                <a:cs typeface="Tahoma"/>
              </a:rPr>
              <a:t> values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45" dirty="0">
                <a:latin typeface="Arial"/>
                <a:cs typeface="Arial"/>
              </a:rPr>
              <a:t>a</a:t>
            </a:r>
            <a:r>
              <a:rPr sz="1200" spc="-67" baseline="-10416" dirty="0">
                <a:latin typeface="Tahoma"/>
                <a:cs typeface="Tahoma"/>
              </a:rPr>
              <a:t>2</a:t>
            </a:r>
            <a:r>
              <a:rPr sz="1100" spc="-45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.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.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.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60" dirty="0">
                <a:latin typeface="Arial"/>
                <a:cs typeface="Arial"/>
              </a:rPr>
              <a:t>a</a:t>
            </a:r>
            <a:r>
              <a:rPr sz="1200" i="1" spc="-89" baseline="-10416" dirty="0">
                <a:latin typeface="Arial"/>
                <a:cs typeface="Arial"/>
              </a:rPr>
              <a:t>p</a:t>
            </a:r>
            <a:r>
              <a:rPr sz="1200" i="1" spc="-209" baseline="-10416" dirty="0">
                <a:latin typeface="Arial"/>
                <a:cs typeface="Arial"/>
              </a:rPr>
              <a:t> 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30" dirty="0">
                <a:latin typeface="Arial"/>
                <a:cs typeface="Arial"/>
              </a:rPr>
              <a:t>b</a:t>
            </a:r>
            <a:r>
              <a:rPr sz="1200" spc="-44" baseline="-10416" dirty="0">
                <a:latin typeface="Tahoma"/>
                <a:cs typeface="Tahoma"/>
              </a:rPr>
              <a:t>2</a:t>
            </a:r>
            <a:r>
              <a:rPr sz="1100" spc="-3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.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.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.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40" dirty="0">
                <a:latin typeface="Arial"/>
                <a:cs typeface="Arial"/>
              </a:rPr>
              <a:t>b</a:t>
            </a:r>
            <a:r>
              <a:rPr sz="1200" i="1" spc="-60" baseline="-10416" dirty="0">
                <a:latin typeface="Arial"/>
                <a:cs typeface="Arial"/>
              </a:rPr>
              <a:t>q</a:t>
            </a:r>
            <a:r>
              <a:rPr sz="1200" i="1" spc="-209" baseline="-10416" dirty="0">
                <a:latin typeface="Arial"/>
                <a:cs typeface="Arial"/>
              </a:rPr>
              <a:t> </a:t>
            </a:r>
            <a:r>
              <a:rPr sz="1100" spc="65" dirty="0">
                <a:latin typeface="Cambria"/>
                <a:cs typeface="Cambria"/>
              </a:rPr>
              <a:t>}</a:t>
            </a:r>
            <a:endParaRPr sz="11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 dirty="0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5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200" i="1" baseline="-10416" dirty="0">
                <a:latin typeface="Arial"/>
                <a:cs typeface="Arial"/>
              </a:rPr>
              <a:t>ij</a:t>
            </a:r>
            <a:r>
              <a:rPr sz="1200" i="1" spc="19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frequency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joint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occurrence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i="1" spc="-30" dirty="0">
                <a:latin typeface="Arial"/>
                <a:cs typeface="Arial"/>
              </a:rPr>
              <a:t>a</a:t>
            </a:r>
            <a:r>
              <a:rPr sz="1200" i="1" spc="-44" baseline="-10416" dirty="0">
                <a:latin typeface="Arial"/>
                <a:cs typeface="Arial"/>
              </a:rPr>
              <a:t>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b</a:t>
            </a:r>
            <a:r>
              <a:rPr sz="1200" i="1" spc="-15" baseline="-10416" dirty="0">
                <a:latin typeface="Arial"/>
                <a:cs typeface="Arial"/>
              </a:rPr>
              <a:t>j</a:t>
            </a:r>
            <a:r>
              <a:rPr sz="1200" i="1" spc="-150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986790">
              <a:lnSpc>
                <a:spcPct val="100000"/>
              </a:lnSpc>
              <a:spcBef>
                <a:spcPts val="395"/>
              </a:spcBef>
            </a:pPr>
            <a:r>
              <a:rPr sz="1100" spc="-335" dirty="0">
                <a:latin typeface="Lucida Sans Unicode"/>
                <a:cs typeface="Lucida Sans Unicode"/>
              </a:rPr>
              <a:t>▷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b="1" spc="-65" dirty="0">
                <a:solidFill>
                  <a:srgbClr val="8C008C"/>
                </a:solidFill>
                <a:latin typeface="Arial"/>
                <a:cs typeface="Arial"/>
              </a:rPr>
              <a:t>observed</a:t>
            </a:r>
            <a:r>
              <a:rPr sz="1100" b="1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8C008C"/>
                </a:solidFill>
                <a:latin typeface="Arial"/>
                <a:cs typeface="Arial"/>
              </a:rPr>
              <a:t>frequency</a:t>
            </a:r>
            <a:r>
              <a:rPr sz="1100" b="1" spc="30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of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the</a:t>
            </a:r>
            <a:r>
              <a:rPr sz="1100" spc="-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joint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8C008C"/>
                </a:solidFill>
                <a:latin typeface="Tahoma"/>
                <a:cs typeface="Tahoma"/>
              </a:rPr>
              <a:t>event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A</a:t>
            </a:r>
            <a:r>
              <a:rPr sz="1100" i="1" spc="-30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=</a:t>
            </a:r>
            <a:r>
              <a:rPr sz="1100" spc="-6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i="1" spc="-40" dirty="0">
                <a:solidFill>
                  <a:srgbClr val="8C008C"/>
                </a:solidFill>
                <a:latin typeface="Arial"/>
                <a:cs typeface="Arial"/>
              </a:rPr>
              <a:t>a</a:t>
            </a:r>
            <a:r>
              <a:rPr sz="1200" i="1" spc="-60" baseline="-10416" dirty="0">
                <a:solidFill>
                  <a:srgbClr val="8C008C"/>
                </a:solidFill>
                <a:latin typeface="Arial"/>
                <a:cs typeface="Arial"/>
              </a:rPr>
              <a:t>i</a:t>
            </a:r>
            <a:r>
              <a:rPr sz="1200" i="1" spc="-142" baseline="-10416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8C008C"/>
                </a:solidFill>
                <a:latin typeface="Lucida Sans Unicode"/>
                <a:cs typeface="Lucida Sans Unicode"/>
              </a:rPr>
              <a:t>,</a:t>
            </a:r>
            <a:r>
              <a:rPr sz="1100" spc="-170" dirty="0">
                <a:solidFill>
                  <a:srgbClr val="8C008C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8C008C"/>
                </a:solidFill>
                <a:latin typeface="Arial"/>
                <a:cs typeface="Arial"/>
              </a:rPr>
              <a:t>B</a:t>
            </a:r>
            <a:r>
              <a:rPr sz="1100" i="1" spc="55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=</a:t>
            </a:r>
            <a:r>
              <a:rPr sz="1100" spc="-6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i="1" spc="-10" dirty="0">
                <a:solidFill>
                  <a:srgbClr val="8C008C"/>
                </a:solidFill>
                <a:latin typeface="Arial"/>
                <a:cs typeface="Arial"/>
              </a:rPr>
              <a:t>b</a:t>
            </a:r>
            <a:r>
              <a:rPr sz="1200" i="1" spc="-15" baseline="-10416" dirty="0">
                <a:solidFill>
                  <a:srgbClr val="8C008C"/>
                </a:solidFill>
                <a:latin typeface="Arial"/>
                <a:cs typeface="Arial"/>
              </a:rPr>
              <a:t>j</a:t>
            </a:r>
            <a:r>
              <a:rPr sz="1200" i="1" spc="-150" baseline="-10416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8C008C"/>
                </a:solidFill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327660" marR="276860">
              <a:lnSpc>
                <a:spcPct val="102600"/>
              </a:lnSpc>
              <a:spcBef>
                <a:spcPts val="72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35" dirty="0">
                <a:solidFill>
                  <a:srgbClr val="8C008C"/>
                </a:solidFill>
                <a:latin typeface="Arial"/>
                <a:cs typeface="Arial"/>
              </a:rPr>
              <a:t>expected</a:t>
            </a:r>
            <a:r>
              <a:rPr sz="1100" b="1" spc="60" dirty="0">
                <a:solidFill>
                  <a:srgbClr val="8C008C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8C008C"/>
                </a:solidFill>
                <a:latin typeface="Arial"/>
                <a:cs typeface="Arial"/>
              </a:rPr>
              <a:t>frequency</a:t>
            </a:r>
            <a:r>
              <a:rPr sz="1100" spc="-50" dirty="0">
                <a:latin typeface="Tahoma"/>
                <a:cs typeface="Tahoma"/>
              </a:rPr>
              <a:t>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200" i="1" baseline="-10416" dirty="0">
                <a:latin typeface="Arial"/>
                <a:cs typeface="Arial"/>
              </a:rPr>
              <a:t>ij</a:t>
            </a:r>
            <a:r>
              <a:rPr sz="1200" i="1" spc="33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 </a:t>
            </a:r>
            <a:r>
              <a:rPr sz="1100" dirty="0">
                <a:latin typeface="Tahoma"/>
                <a:cs typeface="Tahoma"/>
              </a:rPr>
              <a:t>joint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event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spc="-40" dirty="0">
                <a:latin typeface="Arial"/>
                <a:cs typeface="Arial"/>
              </a:rPr>
              <a:t>a</a:t>
            </a:r>
            <a:r>
              <a:rPr sz="1200" i="1" spc="-60" baseline="-10416" dirty="0">
                <a:latin typeface="Arial"/>
                <a:cs typeface="Arial"/>
              </a:rPr>
              <a:t>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b</a:t>
            </a:r>
            <a:r>
              <a:rPr sz="1200" i="1" spc="-15" baseline="-10416" dirty="0">
                <a:latin typeface="Arial"/>
                <a:cs typeface="Arial"/>
              </a:rPr>
              <a:t>j</a:t>
            </a:r>
            <a:r>
              <a:rPr sz="1200" i="1" spc="-150" baseline="-10416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), </a:t>
            </a:r>
            <a:r>
              <a:rPr sz="1100" spc="-50" dirty="0">
                <a:solidFill>
                  <a:srgbClr val="8C008C"/>
                </a:solidFill>
                <a:latin typeface="Tahoma"/>
                <a:cs typeface="Tahoma"/>
              </a:rPr>
              <a:t>under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8C008C"/>
                </a:solidFill>
                <a:latin typeface="Tahoma"/>
                <a:cs typeface="Tahoma"/>
              </a:rPr>
              <a:t>independence</a:t>
            </a:r>
            <a:r>
              <a:rPr sz="1100" spc="-1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assumption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0245" y="203588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890928" y="2046788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39264" y="2005176"/>
            <a:ext cx="8909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2169" algn="l"/>
              </a:tabLst>
            </a:pPr>
            <a:r>
              <a:rPr sz="800" i="1" spc="-50" dirty="0">
                <a:latin typeface="Arial"/>
                <a:cs typeface="Arial"/>
              </a:rPr>
              <a:t>a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8393" y="1946210"/>
            <a:ext cx="25533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72895" algn="l"/>
              </a:tabLst>
            </a:pPr>
            <a:r>
              <a:rPr sz="1100" spc="-20" dirty="0">
                <a:latin typeface="Tahoma"/>
                <a:cs typeface="Tahoma"/>
              </a:rPr>
              <a:t>Estimating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probability,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P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Pr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50" dirty="0">
                <a:latin typeface="Cambria"/>
                <a:cs typeface="Cambria"/>
              </a:rPr>
              <a:t>{</a:t>
            </a:r>
            <a:r>
              <a:rPr sz="1100" i="1" spc="50" dirty="0">
                <a:latin typeface="Arial"/>
                <a:cs typeface="Arial"/>
              </a:rPr>
              <a:t>A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64611" y="1814536"/>
            <a:ext cx="2317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175" dirty="0">
                <a:latin typeface="Lucida Sans Unicode"/>
                <a:cs typeface="Lucida Sans Unicode"/>
              </a:rPr>
              <a:t>Σ</a:t>
            </a:r>
            <a:r>
              <a:rPr sz="900" i="1" spc="262" baseline="-18518" dirty="0">
                <a:latin typeface="Arial"/>
                <a:cs typeface="Arial"/>
              </a:rPr>
              <a:t>q</a:t>
            </a:r>
            <a:endParaRPr sz="900" baseline="-18518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33915" y="1907615"/>
            <a:ext cx="1498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-37" baseline="10416" dirty="0">
                <a:latin typeface="Arial"/>
                <a:cs typeface="Arial"/>
              </a:rPr>
              <a:t>f</a:t>
            </a:r>
            <a:r>
              <a:rPr sz="600" i="1" spc="-25" dirty="0">
                <a:latin typeface="Arial"/>
                <a:cs typeface="Arial"/>
              </a:rPr>
              <a:t>ij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90011" y="1951131"/>
            <a:ext cx="381635" cy="2273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675"/>
              </a:lnSpc>
              <a:spcBef>
                <a:spcPts val="95"/>
              </a:spcBef>
            </a:pPr>
            <a:r>
              <a:rPr sz="600" i="1" u="sng" spc="2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sz="6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</a:t>
            </a:r>
            <a:r>
              <a:rPr sz="6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=1</a:t>
            </a:r>
            <a:r>
              <a:rPr sz="600" u="sng" spc="50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endParaRPr sz="600">
              <a:latin typeface="Tahoma"/>
              <a:cs typeface="Tahoma"/>
            </a:endParaRPr>
          </a:p>
          <a:p>
            <a:pPr algn="ctr">
              <a:lnSpc>
                <a:spcPts val="915"/>
              </a:lnSpc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61385" y="1946210"/>
            <a:ext cx="6426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8595" algn="l"/>
              </a:tabLst>
            </a:pPr>
            <a:r>
              <a:rPr sz="1100" spc="-50" dirty="0">
                <a:latin typeface="Tahoma"/>
                <a:cs typeface="Tahoma"/>
              </a:rPr>
              <a:t>,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pq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90245" y="229941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82993" y="2209735"/>
            <a:ext cx="2411730" cy="509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e</a:t>
            </a:r>
            <a:r>
              <a:rPr sz="1200" i="1" baseline="-10416" dirty="0">
                <a:latin typeface="Arial"/>
                <a:cs typeface="Arial"/>
              </a:rPr>
              <a:t>ij</a:t>
            </a:r>
            <a:r>
              <a:rPr sz="1200" i="1" spc="254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200" i="1" baseline="-10416" dirty="0">
                <a:latin typeface="Arial"/>
                <a:cs typeface="Arial"/>
              </a:rPr>
              <a:t>a</a:t>
            </a:r>
            <a:r>
              <a:rPr sz="900" i="1" baseline="-27777" dirty="0">
                <a:latin typeface="Arial"/>
                <a:cs typeface="Arial"/>
              </a:rPr>
              <a:t>i</a:t>
            </a:r>
            <a:r>
              <a:rPr sz="900" i="1" spc="292" baseline="-27777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·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900" i="1" baseline="-27777" dirty="0">
                <a:latin typeface="Arial"/>
                <a:cs typeface="Arial"/>
              </a:rPr>
              <a:t>j</a:t>
            </a:r>
            <a:r>
              <a:rPr sz="900" i="1" spc="284" baseline="-27777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·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17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χ</a:t>
            </a:r>
            <a:r>
              <a:rPr sz="1200" baseline="27777" dirty="0">
                <a:latin typeface="Tahoma"/>
                <a:cs typeface="Tahoma"/>
              </a:rPr>
              <a:t>2</a:t>
            </a:r>
            <a:r>
              <a:rPr sz="1200" spc="262" baseline="27777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(Pearson’s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χ</a:t>
            </a:r>
            <a:r>
              <a:rPr sz="1200" baseline="27777" dirty="0">
                <a:latin typeface="Tahoma"/>
                <a:cs typeface="Tahoma"/>
              </a:rPr>
              <a:t>2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20" dirty="0">
                <a:latin typeface="Tahoma"/>
                <a:cs typeface="Tahoma"/>
              </a:rPr>
              <a:t>statistics)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90245" y="26165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985300" y="2431540"/>
            <a:ext cx="1003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719" baseline="2525" dirty="0">
                <a:latin typeface="Georgia"/>
                <a:cs typeface="Georgia"/>
              </a:rPr>
              <a:t>Σ</a:t>
            </a:r>
            <a:r>
              <a:rPr sz="1650" spc="165" baseline="2525" dirty="0">
                <a:latin typeface="Georgia"/>
                <a:cs typeface="Georgia"/>
              </a:rPr>
              <a:t> </a:t>
            </a:r>
            <a:r>
              <a:rPr sz="1650" spc="719" baseline="2525" dirty="0">
                <a:latin typeface="Georgia"/>
                <a:cs typeface="Georgia"/>
              </a:rPr>
              <a:t>Σ</a:t>
            </a:r>
            <a:r>
              <a:rPr sz="1650" spc="195" baseline="2525" dirty="0">
                <a:latin typeface="Georgia"/>
                <a:cs typeface="Georgia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</a:t>
            </a:r>
            <a:r>
              <a:rPr sz="1100" i="1" spc="445" dirty="0">
                <a:latin typeface="Arial"/>
                <a:cs typeface="Arial"/>
              </a:rPr>
              <a:t> </a:t>
            </a:r>
            <a:r>
              <a:rPr sz="1100" u="sng" spc="229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−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sz="1100" i="1" spc="215" dirty="0">
                <a:latin typeface="Arial"/>
                <a:cs typeface="Arial"/>
              </a:rPr>
              <a:t>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)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71876" y="2691306"/>
            <a:ext cx="3975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=1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i="1" spc="30" dirty="0">
                <a:latin typeface="Arial"/>
                <a:cs typeface="Arial"/>
              </a:rPr>
              <a:t>j</a:t>
            </a:r>
            <a:r>
              <a:rPr sz="800" spc="30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77895" y="2490506"/>
            <a:ext cx="3962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3055" algn="l"/>
              </a:tabLst>
            </a:pPr>
            <a:r>
              <a:rPr sz="8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ij</a:t>
            </a:r>
            <a:r>
              <a:rPr sz="800" i="1" u="sng" spc="3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ij</a:t>
            </a:r>
            <a:r>
              <a:rPr sz="800" i="1" u="sng" spc="5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028607" y="2425228"/>
            <a:ext cx="9531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9550" algn="l"/>
                <a:tab pos="886460" algn="l"/>
              </a:tabLst>
            </a:pPr>
            <a:r>
              <a:rPr sz="800" i="1" spc="-50" dirty="0">
                <a:latin typeface="Arial"/>
                <a:cs typeface="Arial"/>
              </a:rPr>
              <a:t>p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q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1200" spc="-75" baseline="3472" dirty="0">
                <a:latin typeface="Tahoma"/>
                <a:cs typeface="Tahoma"/>
              </a:rPr>
              <a:t>2</a:t>
            </a:r>
            <a:endParaRPr sz="1200" baseline="3472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81006" y="2643567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37" baseline="7575" dirty="0">
                <a:latin typeface="Arial"/>
                <a:cs typeface="Arial"/>
              </a:rPr>
              <a:t>e</a:t>
            </a:r>
            <a:r>
              <a:rPr sz="800" i="1" spc="-25" dirty="0">
                <a:latin typeface="Arial"/>
                <a:cs typeface="Arial"/>
              </a:rPr>
              <a:t>ij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90245" y="294450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82993" y="2854831"/>
            <a:ext cx="27241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Tahoma"/>
                <a:cs typeface="Tahoma"/>
              </a:rPr>
              <a:t>Large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χ</a:t>
            </a:r>
            <a:r>
              <a:rPr sz="1200" baseline="27777" dirty="0">
                <a:latin typeface="Tahoma"/>
                <a:cs typeface="Tahoma"/>
              </a:rPr>
              <a:t>2</a:t>
            </a:r>
            <a:r>
              <a:rPr sz="1200" spc="217" baseline="27777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indicates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related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42" name="object 4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898"/>
            <a:ext cx="3810001" cy="11098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49" y="1577975"/>
            <a:ext cx="4239417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00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3350" y="60249"/>
            <a:ext cx="2957957" cy="340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7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" y="0"/>
            <a:ext cx="4343400" cy="215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9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" y="0"/>
            <a:ext cx="4577231" cy="221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2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55" dirty="0"/>
              <a:t>Covariance</a:t>
            </a:r>
            <a:r>
              <a:rPr spc="-10" dirty="0"/>
              <a:t> </a:t>
            </a:r>
            <a:r>
              <a:rPr spc="-60" dirty="0"/>
              <a:t>and</a:t>
            </a:r>
            <a:r>
              <a:rPr spc="-10" dirty="0"/>
              <a:t> Correlation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134412" y="114207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59722" y="1142073"/>
            <a:ext cx="71755" cy="0"/>
          </a:xfrm>
          <a:custGeom>
            <a:avLst/>
            <a:gdLst/>
            <a:ahLst/>
            <a:cxnLst/>
            <a:rect l="l" t="t" r="r" b="b"/>
            <a:pathLst>
              <a:path w="71755">
                <a:moveTo>
                  <a:pt x="0" y="0"/>
                </a:moveTo>
                <a:lnTo>
                  <a:pt x="7138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205" y="420343"/>
            <a:ext cx="3895090" cy="8451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415925">
              <a:lnSpc>
                <a:spcPct val="102600"/>
              </a:lnSpc>
              <a:spcBef>
                <a:spcPts val="55"/>
              </a:spcBef>
            </a:pP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Covariance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correlation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are</a:t>
            </a:r>
            <a:r>
              <a:rPr sz="1100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helpful</a:t>
            </a:r>
            <a:r>
              <a:rPr sz="1100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in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understanding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the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dependency/relationship</a:t>
            </a:r>
            <a:r>
              <a:rPr sz="1100" spc="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70" dirty="0">
                <a:solidFill>
                  <a:srgbClr val="0000FF"/>
                </a:solidFill>
                <a:latin typeface="Tahoma"/>
                <a:cs typeface="Tahoma"/>
              </a:rPr>
              <a:t>between</a:t>
            </a:r>
            <a:r>
              <a:rPr sz="1100" spc="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two</a:t>
            </a:r>
            <a:r>
              <a:rPr sz="1100" spc="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numeric</a:t>
            </a:r>
            <a:r>
              <a:rPr sz="1100" spc="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variables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115"/>
              </a:spcBef>
            </a:pPr>
            <a:r>
              <a:rPr sz="1100" b="1" spc="-50" dirty="0">
                <a:solidFill>
                  <a:srgbClr val="0000FF"/>
                </a:solidFill>
                <a:latin typeface="Arial"/>
                <a:cs typeface="Arial"/>
              </a:rPr>
              <a:t>Covariance</a:t>
            </a:r>
            <a:r>
              <a:rPr sz="1100" b="1" spc="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x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30" dirty="0">
                <a:latin typeface="Arial"/>
                <a:cs typeface="Arial"/>
              </a:rPr>
              <a:t>x</a:t>
            </a:r>
            <a:r>
              <a:rPr sz="1200" spc="-44" baseline="-10416" dirty="0">
                <a:latin typeface="Tahoma"/>
                <a:cs typeface="Tahoma"/>
              </a:rPr>
              <a:t>2</a:t>
            </a:r>
            <a:r>
              <a:rPr sz="1100" spc="-3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Cambria"/>
                <a:cs typeface="Cambria"/>
              </a:rPr>
              <a:t>·</a:t>
            </a:r>
            <a:r>
              <a:rPr sz="1100" spc="-60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·</a:t>
            </a:r>
            <a:r>
              <a:rPr sz="1100" spc="-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·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spc="-25" dirty="0">
                <a:latin typeface="Tahoma"/>
                <a:cs typeface="Tahoma"/>
              </a:rPr>
              <a:t>and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b="1" dirty="0">
                <a:latin typeface="Arial"/>
                <a:cs typeface="Arial"/>
              </a:rPr>
              <a:t>y</a:t>
            </a:r>
            <a:r>
              <a:rPr sz="1100" b="1" spc="-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spc="-30" dirty="0">
                <a:latin typeface="Arial"/>
                <a:cs typeface="Arial"/>
              </a:rPr>
              <a:t>y</a:t>
            </a:r>
            <a:r>
              <a:rPr sz="1200" spc="-44" baseline="-10416" dirty="0">
                <a:latin typeface="Tahoma"/>
                <a:cs typeface="Tahoma"/>
              </a:rPr>
              <a:t>2</a:t>
            </a:r>
            <a:r>
              <a:rPr sz="1100" spc="-3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Cambria"/>
                <a:cs typeface="Cambria"/>
              </a:rPr>
              <a:t>·</a:t>
            </a:r>
            <a:r>
              <a:rPr sz="1100" spc="-60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·</a:t>
            </a:r>
            <a:r>
              <a:rPr sz="1100" spc="-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·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means</a:t>
            </a:r>
            <a:r>
              <a:rPr sz="1100" spc="90" dirty="0">
                <a:latin typeface="Tahoma"/>
                <a:cs typeface="Tahoma"/>
              </a:rPr>
              <a:t>  </a:t>
            </a:r>
            <a:r>
              <a:rPr sz="1100" b="1" dirty="0">
                <a:latin typeface="Arial"/>
                <a:cs typeface="Arial"/>
              </a:rPr>
              <a:t>x</a:t>
            </a:r>
            <a:r>
              <a:rPr sz="1100" b="1" spc="125" dirty="0">
                <a:latin typeface="Arial"/>
                <a:cs typeface="Arial"/>
              </a:rPr>
              <a:t> 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95" dirty="0">
                <a:latin typeface="Tahoma"/>
                <a:cs typeface="Tahoma"/>
              </a:rPr>
              <a:t>  </a:t>
            </a:r>
            <a:r>
              <a:rPr sz="1100" b="1" dirty="0">
                <a:latin typeface="Arial"/>
                <a:cs typeface="Arial"/>
              </a:rPr>
              <a:t>y</a:t>
            </a:r>
            <a:r>
              <a:rPr sz="1100" b="1" spc="2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resp.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defined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9751" y="1464016"/>
            <a:ext cx="810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cap="small" spc="20" dirty="0">
                <a:latin typeface="Calibri"/>
                <a:cs typeface="Calibri"/>
              </a:rPr>
              <a:t>cov</a:t>
            </a:r>
            <a:r>
              <a:rPr sz="1100" spc="20" dirty="0">
                <a:latin typeface="Tahoma"/>
                <a:cs typeface="Tahoma"/>
              </a:rPr>
              <a:t>(</a:t>
            </a:r>
            <a:r>
              <a:rPr sz="1100" b="1" spc="20" dirty="0">
                <a:latin typeface="Arial"/>
                <a:cs typeface="Arial"/>
              </a:rPr>
              <a:t>x</a:t>
            </a:r>
            <a:r>
              <a:rPr sz="1100" spc="2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b="1" spc="20" dirty="0">
                <a:latin typeface="Arial"/>
                <a:cs typeface="Arial"/>
              </a:rPr>
              <a:t>y</a:t>
            </a:r>
            <a:r>
              <a:rPr sz="1100" spc="20" dirty="0">
                <a:latin typeface="Tahoma"/>
                <a:cs typeface="Tahoma"/>
              </a:rPr>
              <a:t>)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spc="-8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5433" y="1265109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30" dirty="0">
                <a:latin typeface="Georgia"/>
                <a:cs typeface="Georgia"/>
              </a:rPr>
              <a:t>Σ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1687" y="134250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5433" y="1447316"/>
            <a:ext cx="12579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44600" algn="l"/>
              </a:tabLst>
            </a:pPr>
            <a:r>
              <a:rPr sz="800" i="1" u="sng" spc="3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sz="800" i="1" u="sng" spc="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800" u="sng" spc="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=1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92869" y="143737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45091" y="1437373"/>
            <a:ext cx="71755" cy="0"/>
          </a:xfrm>
          <a:custGeom>
            <a:avLst/>
            <a:gdLst/>
            <a:ahLst/>
            <a:cxnLst/>
            <a:rect l="l" t="t" r="r" b="b"/>
            <a:pathLst>
              <a:path w="71754">
                <a:moveTo>
                  <a:pt x="0" y="0"/>
                </a:moveTo>
                <a:lnTo>
                  <a:pt x="7138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25687" y="1369020"/>
            <a:ext cx="982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165" baseline="-10416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b="1" dirty="0">
                <a:latin typeface="Arial"/>
                <a:cs typeface="Arial"/>
              </a:rPr>
              <a:t>x</a:t>
            </a:r>
            <a:r>
              <a:rPr sz="1100" dirty="0">
                <a:latin typeface="Tahoma"/>
                <a:cs typeface="Tahoma"/>
              </a:rPr>
              <a:t>)(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165" baseline="-10416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b="1" spc="-25" dirty="0">
                <a:latin typeface="Arial"/>
                <a:cs typeface="Arial"/>
              </a:rPr>
              <a:t>y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04528" y="1559050"/>
            <a:ext cx="97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0245" y="216166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97749" y="2312416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49983" y="2312416"/>
            <a:ext cx="71755" cy="0"/>
          </a:xfrm>
          <a:custGeom>
            <a:avLst/>
            <a:gdLst/>
            <a:ahLst/>
            <a:cxnLst/>
            <a:rect l="l" t="t" r="r" b="b"/>
            <a:pathLst>
              <a:path w="71755">
                <a:moveTo>
                  <a:pt x="0" y="0"/>
                </a:moveTo>
                <a:lnTo>
                  <a:pt x="7138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0293" y="1807094"/>
            <a:ext cx="4118610" cy="1334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10870">
              <a:lnSpc>
                <a:spcPct val="100000"/>
              </a:lnSpc>
              <a:spcBef>
                <a:spcPts val="90"/>
              </a:spcBef>
            </a:pPr>
            <a:r>
              <a:rPr sz="1100" spc="-335" dirty="0">
                <a:latin typeface="Lucida Sans Unicode"/>
                <a:cs typeface="Lucida Sans Unicode"/>
              </a:rPr>
              <a:t>▷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8C008C"/>
                </a:solidFill>
                <a:latin typeface="Tahoma"/>
                <a:cs typeface="Tahoma"/>
              </a:rPr>
              <a:t>Covariance</a:t>
            </a:r>
            <a:r>
              <a:rPr sz="1100" spc="-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8C008C"/>
                </a:solidFill>
                <a:latin typeface="Tahoma"/>
                <a:cs typeface="Tahoma"/>
              </a:rPr>
              <a:t>reveals</a:t>
            </a:r>
            <a:r>
              <a:rPr sz="1100" spc="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the</a:t>
            </a:r>
            <a:r>
              <a:rPr sz="1100" spc="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8C008C"/>
                </a:solidFill>
                <a:latin typeface="Tahoma"/>
                <a:cs typeface="Tahoma"/>
              </a:rPr>
              <a:t>“proportionality”</a:t>
            </a:r>
            <a:r>
              <a:rPr sz="1100" spc="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70" dirty="0">
                <a:solidFill>
                  <a:srgbClr val="8C008C"/>
                </a:solidFill>
                <a:latin typeface="Tahoma"/>
                <a:cs typeface="Tahoma"/>
              </a:rPr>
              <a:t>between</a:t>
            </a:r>
            <a:r>
              <a:rPr sz="1100" spc="1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variables</a:t>
            </a:r>
            <a:endParaRPr sz="1100">
              <a:latin typeface="Tahoma"/>
              <a:cs typeface="Tahoma"/>
            </a:endParaRPr>
          </a:p>
          <a:p>
            <a:pPr marL="50800" marR="53340">
              <a:lnSpc>
                <a:spcPct val="102600"/>
              </a:lnSpc>
              <a:spcBef>
                <a:spcPts val="730"/>
              </a:spcBef>
            </a:pPr>
            <a:r>
              <a:rPr sz="1100" dirty="0">
                <a:latin typeface="Tahoma"/>
                <a:cs typeface="Tahoma"/>
              </a:rPr>
              <a:t>Note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92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0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greater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smaller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respective </a:t>
            </a:r>
            <a:r>
              <a:rPr sz="1100" spc="-65" dirty="0">
                <a:latin typeface="Tahoma"/>
                <a:cs typeface="Tahoma"/>
              </a:rPr>
              <a:t>means,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172" baseline="-10416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b="1" dirty="0">
                <a:latin typeface="Arial"/>
                <a:cs typeface="Arial"/>
              </a:rPr>
              <a:t>x</a:t>
            </a:r>
            <a:r>
              <a:rPr sz="1100" dirty="0">
                <a:latin typeface="Tahoma"/>
                <a:cs typeface="Tahoma"/>
              </a:rPr>
              <a:t>)(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165" baseline="-10416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b="1" dirty="0">
                <a:latin typeface="Arial"/>
                <a:cs typeface="Arial"/>
              </a:rPr>
              <a:t>y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positive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vice-</a:t>
            </a:r>
            <a:r>
              <a:rPr sz="1100" spc="-10" dirty="0">
                <a:latin typeface="Tahoma"/>
                <a:cs typeface="Tahoma"/>
              </a:rPr>
              <a:t>versa</a:t>
            </a:r>
            <a:endParaRPr sz="1100">
              <a:latin typeface="Tahoma"/>
              <a:cs typeface="Tahoma"/>
            </a:endParaRPr>
          </a:p>
          <a:p>
            <a:pPr marL="50800" marR="1581785">
              <a:lnSpc>
                <a:spcPct val="140400"/>
              </a:lnSpc>
            </a:pPr>
            <a:r>
              <a:rPr sz="1100" cap="small" dirty="0">
                <a:latin typeface="Calibri"/>
                <a:cs typeface="Calibri"/>
              </a:rPr>
              <a:t>cov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dirty="0">
                <a:latin typeface="Arial"/>
                <a:cs typeface="Arial"/>
              </a:rPr>
              <a:t>x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b="1" spc="-10" dirty="0">
                <a:latin typeface="Arial"/>
                <a:cs typeface="Arial"/>
              </a:rPr>
              <a:t>y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&lt;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2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dirty="0">
                <a:latin typeface="Cambria"/>
                <a:cs typeface="Cambria"/>
              </a:rPr>
              <a:t>⇒</a:t>
            </a:r>
            <a:r>
              <a:rPr sz="1100" spc="445" dirty="0">
                <a:latin typeface="Cambria"/>
                <a:cs typeface="Cambria"/>
              </a:rPr>
              <a:t> </a:t>
            </a:r>
            <a:r>
              <a:rPr sz="1100" spc="-55" dirty="0">
                <a:latin typeface="Tahoma"/>
                <a:cs typeface="Tahoma"/>
              </a:rPr>
              <a:t>inverse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proportionality </a:t>
            </a:r>
            <a:r>
              <a:rPr sz="1100" cap="small" dirty="0">
                <a:latin typeface="Calibri"/>
                <a:cs typeface="Calibri"/>
              </a:rPr>
              <a:t>cov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dirty="0">
                <a:latin typeface="Arial"/>
                <a:cs typeface="Arial"/>
              </a:rPr>
              <a:t>x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b="1" spc="-10" dirty="0">
                <a:latin typeface="Arial"/>
                <a:cs typeface="Arial"/>
              </a:rPr>
              <a:t>y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&gt;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2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dirty="0">
                <a:latin typeface="Cambria"/>
                <a:cs typeface="Cambria"/>
              </a:rPr>
              <a:t>⇒</a:t>
            </a:r>
            <a:r>
              <a:rPr sz="1100" spc="434" dirty="0">
                <a:latin typeface="Cambria"/>
                <a:cs typeface="Cambria"/>
              </a:rPr>
              <a:t> </a:t>
            </a:r>
            <a:r>
              <a:rPr sz="1100" spc="-20" dirty="0">
                <a:latin typeface="Tahoma"/>
                <a:cs typeface="Tahoma"/>
              </a:rPr>
              <a:t>direct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proportionality </a:t>
            </a:r>
            <a:r>
              <a:rPr sz="1100" cap="small" dirty="0">
                <a:latin typeface="Calibri"/>
                <a:cs typeface="Calibri"/>
              </a:rPr>
              <a:t>cov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dirty="0">
                <a:latin typeface="Arial"/>
                <a:cs typeface="Arial"/>
              </a:rPr>
              <a:t>x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b="1" spc="-10" dirty="0">
                <a:latin typeface="Arial"/>
                <a:cs typeface="Arial"/>
              </a:rPr>
              <a:t>y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2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dirty="0">
                <a:latin typeface="Cambria"/>
                <a:cs typeface="Cambria"/>
              </a:rPr>
              <a:t>⇒</a:t>
            </a:r>
            <a:r>
              <a:rPr sz="1100" spc="425" dirty="0">
                <a:latin typeface="Cambria"/>
                <a:cs typeface="Cambri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relation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0245" y="256908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0245" y="280441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90245" y="303975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2" name="object 2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39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55" dirty="0"/>
              <a:t>Covariance</a:t>
            </a:r>
            <a:r>
              <a:rPr spc="-10" dirty="0"/>
              <a:t> </a:t>
            </a:r>
            <a:r>
              <a:rPr spc="-60" dirty="0"/>
              <a:t>and</a:t>
            </a:r>
            <a:r>
              <a:rPr spc="-10" dirty="0"/>
              <a:t> Correlation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5722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3051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40382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67711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2681" y="191443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2681" y="215483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2681" y="239523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68850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1305" y="466076"/>
            <a:ext cx="3748404" cy="23247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solidFill>
                  <a:srgbClr val="8C008C"/>
                </a:solidFill>
                <a:latin typeface="Tahoma"/>
                <a:cs typeface="Tahoma"/>
              </a:rPr>
              <a:t>Some</a:t>
            </a:r>
            <a:r>
              <a:rPr sz="1100" spc="-3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8C008C"/>
                </a:solidFill>
                <a:latin typeface="Tahoma"/>
                <a:cs typeface="Tahoma"/>
              </a:rPr>
              <a:t>properties</a:t>
            </a:r>
            <a:r>
              <a:rPr sz="1100" spc="-3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8C008C"/>
                </a:solidFill>
                <a:latin typeface="Tahoma"/>
                <a:cs typeface="Tahoma"/>
              </a:rPr>
              <a:t>covariance</a:t>
            </a:r>
            <a:r>
              <a:rPr sz="1100" spc="-3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8C008C"/>
                </a:solidFill>
                <a:latin typeface="Tahoma"/>
                <a:cs typeface="Tahoma"/>
              </a:rPr>
              <a:t>that</a:t>
            </a:r>
            <a:r>
              <a:rPr sz="1100" spc="-3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8C008C"/>
                </a:solidFill>
                <a:latin typeface="Tahoma"/>
                <a:cs typeface="Tahoma"/>
              </a:rPr>
              <a:t>readily</a:t>
            </a:r>
            <a:r>
              <a:rPr sz="1100" spc="-3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8C008C"/>
                </a:solidFill>
                <a:latin typeface="Tahoma"/>
                <a:cs typeface="Tahoma"/>
              </a:rPr>
              <a:t>follow</a:t>
            </a:r>
            <a:r>
              <a:rPr sz="1100" spc="-35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8C008C"/>
                </a:solidFill>
                <a:latin typeface="Tahoma"/>
                <a:cs typeface="Tahoma"/>
              </a:rPr>
              <a:t>from</a:t>
            </a:r>
            <a:r>
              <a:rPr sz="1100" spc="-30" dirty="0">
                <a:solidFill>
                  <a:srgbClr val="8C008C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8C008C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100" cap="small" spc="20" dirty="0">
                <a:latin typeface="Calibri"/>
                <a:cs typeface="Calibri"/>
              </a:rPr>
              <a:t>cov</a:t>
            </a:r>
            <a:r>
              <a:rPr sz="1100" spc="20" dirty="0">
                <a:latin typeface="Tahoma"/>
                <a:cs typeface="Tahoma"/>
              </a:rPr>
              <a:t>(</a:t>
            </a:r>
            <a:r>
              <a:rPr sz="1100" b="1" spc="20" dirty="0">
                <a:latin typeface="Arial"/>
                <a:cs typeface="Arial"/>
              </a:rPr>
              <a:t>x</a:t>
            </a:r>
            <a:r>
              <a:rPr sz="1100" spc="20" dirty="0">
                <a:latin typeface="Lucida Sans Unicode"/>
                <a:cs typeface="Lucida Sans Unicode"/>
              </a:rPr>
              <a:t>,</a:t>
            </a:r>
            <a:r>
              <a:rPr sz="1100" spc="-150" dirty="0">
                <a:latin typeface="Lucida Sans Unicode"/>
                <a:cs typeface="Lucida Sans Unicode"/>
              </a:rPr>
              <a:t> </a:t>
            </a:r>
            <a:r>
              <a:rPr sz="1100" b="1" spc="20" dirty="0">
                <a:latin typeface="Arial"/>
                <a:cs typeface="Arial"/>
              </a:rPr>
              <a:t>y</a:t>
            </a:r>
            <a:r>
              <a:rPr sz="1100" spc="20" dirty="0">
                <a:latin typeface="Tahoma"/>
                <a:cs typeface="Tahoma"/>
              </a:rPr>
              <a:t>)</a:t>
            </a:r>
            <a:r>
              <a:rPr sz="1100" spc="36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=</a:t>
            </a:r>
            <a:r>
              <a:rPr sz="1100" spc="350" dirty="0">
                <a:latin typeface="Tahoma"/>
                <a:cs typeface="Tahoma"/>
              </a:rPr>
              <a:t> </a:t>
            </a:r>
            <a:r>
              <a:rPr sz="1100" cap="small" spc="20" dirty="0">
                <a:latin typeface="Calibri"/>
                <a:cs typeface="Calibri"/>
              </a:rPr>
              <a:t>cov</a:t>
            </a:r>
            <a:r>
              <a:rPr sz="1100" spc="20" dirty="0">
                <a:latin typeface="Tahoma"/>
                <a:cs typeface="Tahoma"/>
              </a:rPr>
              <a:t>(</a:t>
            </a:r>
            <a:r>
              <a:rPr sz="1100" b="1" spc="20" dirty="0">
                <a:latin typeface="Arial"/>
                <a:cs typeface="Arial"/>
              </a:rPr>
              <a:t>y</a:t>
            </a:r>
            <a:r>
              <a:rPr sz="1100" spc="20" dirty="0">
                <a:latin typeface="Lucida Sans Unicode"/>
                <a:cs typeface="Lucida Sans Unicode"/>
              </a:rPr>
              <a:t>,</a:t>
            </a:r>
            <a:r>
              <a:rPr sz="1100" spc="-145" dirty="0">
                <a:latin typeface="Lucida Sans Unicode"/>
                <a:cs typeface="Lucida Sans Unicode"/>
              </a:rPr>
              <a:t> </a:t>
            </a:r>
            <a:r>
              <a:rPr sz="1100" b="1" spc="-25" dirty="0">
                <a:latin typeface="Arial"/>
                <a:cs typeface="Arial"/>
              </a:rPr>
              <a:t>x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830"/>
              </a:spcBef>
            </a:pPr>
            <a:r>
              <a:rPr sz="1100" cap="small" spc="20" dirty="0">
                <a:latin typeface="Calibri"/>
                <a:cs typeface="Calibri"/>
              </a:rPr>
              <a:t>cov</a:t>
            </a:r>
            <a:r>
              <a:rPr sz="1100" spc="20" dirty="0">
                <a:latin typeface="Tahoma"/>
                <a:cs typeface="Tahoma"/>
              </a:rPr>
              <a:t>(</a:t>
            </a:r>
            <a:r>
              <a:rPr sz="1100" b="1" cap="small" spc="20" dirty="0">
                <a:latin typeface="Arial"/>
                <a:cs typeface="Arial"/>
              </a:rPr>
              <a:t>x</a:t>
            </a:r>
            <a:r>
              <a:rPr sz="1100" spc="20" dirty="0">
                <a:latin typeface="Lucida Sans Unicode"/>
                <a:cs typeface="Lucida Sans Unicode"/>
              </a:rPr>
              <a:t>,</a:t>
            </a:r>
            <a:r>
              <a:rPr sz="1100" spc="-150" dirty="0">
                <a:latin typeface="Lucida Sans Unicode"/>
                <a:cs typeface="Lucida Sans Unicode"/>
              </a:rPr>
              <a:t> </a:t>
            </a:r>
            <a:r>
              <a:rPr sz="1100" b="1" cap="small" spc="20" dirty="0">
                <a:latin typeface="Arial"/>
                <a:cs typeface="Arial"/>
              </a:rPr>
              <a:t>x</a:t>
            </a:r>
            <a:r>
              <a:rPr sz="1100" spc="20" dirty="0">
                <a:latin typeface="Tahoma"/>
                <a:cs typeface="Tahoma"/>
              </a:rPr>
              <a:t>)</a:t>
            </a:r>
            <a:r>
              <a:rPr sz="1100" spc="34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=</a:t>
            </a:r>
            <a:r>
              <a:rPr sz="1100" spc="340" dirty="0">
                <a:latin typeface="Tahoma"/>
                <a:cs typeface="Tahoma"/>
              </a:rPr>
              <a:t> </a:t>
            </a:r>
            <a:r>
              <a:rPr sz="1100" cap="small" spc="20" dirty="0">
                <a:latin typeface="Calibri"/>
                <a:cs typeface="Calibri"/>
              </a:rPr>
              <a:t>var</a:t>
            </a:r>
            <a:r>
              <a:rPr sz="1100" spc="20" dirty="0">
                <a:latin typeface="Tahoma"/>
                <a:cs typeface="Tahoma"/>
              </a:rPr>
              <a:t>(</a:t>
            </a:r>
            <a:r>
              <a:rPr sz="1100" b="1" cap="small" spc="20" dirty="0">
                <a:latin typeface="Arial"/>
                <a:cs typeface="Arial"/>
              </a:rPr>
              <a:t>x</a:t>
            </a:r>
            <a:r>
              <a:rPr sz="1100" spc="20" dirty="0">
                <a:latin typeface="Lucida Sans Unicode"/>
                <a:cs typeface="Lucida Sans Unicode"/>
              </a:rPr>
              <a:t>,</a:t>
            </a:r>
            <a:r>
              <a:rPr sz="1100" spc="-150" dirty="0">
                <a:latin typeface="Lucida Sans Unicode"/>
                <a:cs typeface="Lucida Sans Unicode"/>
              </a:rPr>
              <a:t> </a:t>
            </a:r>
            <a:r>
              <a:rPr sz="1100" b="1" cap="small" spc="-25" dirty="0">
                <a:latin typeface="Arial"/>
                <a:cs typeface="Arial"/>
              </a:rPr>
              <a:t>x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289560" marR="713740">
              <a:lnSpc>
                <a:spcPct val="163000"/>
              </a:lnSpc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b="1" cap="small" dirty="0">
                <a:latin typeface="Arial"/>
                <a:cs typeface="Arial"/>
              </a:rPr>
              <a:t>x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y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independent,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cap="small" dirty="0">
                <a:latin typeface="Calibri"/>
                <a:cs typeface="Calibri"/>
              </a:rPr>
              <a:t>cov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cap="small" dirty="0">
                <a:latin typeface="Arial"/>
                <a:cs typeface="Arial"/>
              </a:rPr>
              <a:t>x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b="1" spc="-10" dirty="0">
                <a:latin typeface="Arial"/>
                <a:cs typeface="Arial"/>
              </a:rPr>
              <a:t>y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65" dirty="0">
                <a:latin typeface="Tahoma"/>
                <a:cs typeface="Tahoma"/>
              </a:rPr>
              <a:t>0</a:t>
            </a:r>
            <a:r>
              <a:rPr sz="1100" spc="-10" dirty="0">
                <a:latin typeface="Tahoma"/>
                <a:cs typeface="Tahoma"/>
              </a:rPr>
              <a:t> For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constant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605"/>
              </a:spcBef>
            </a:pPr>
            <a:r>
              <a:rPr sz="1000" cap="small" spc="50" dirty="0">
                <a:latin typeface="Calibri"/>
                <a:cs typeface="Calibri"/>
              </a:rPr>
              <a:t>cov</a:t>
            </a:r>
            <a:r>
              <a:rPr sz="1000" spc="50" dirty="0">
                <a:latin typeface="Tahoma"/>
                <a:cs typeface="Tahoma"/>
              </a:rPr>
              <a:t>(</a:t>
            </a:r>
            <a:r>
              <a:rPr sz="1000" b="1" cap="small" spc="50" dirty="0">
                <a:latin typeface="Arial"/>
                <a:cs typeface="Arial"/>
              </a:rPr>
              <a:t>x</a:t>
            </a:r>
            <a:r>
              <a:rPr sz="1000" spc="50" dirty="0">
                <a:latin typeface="Lucida Sans Unicode"/>
                <a:cs typeface="Lucida Sans Unicode"/>
              </a:rPr>
              <a:t>,</a:t>
            </a:r>
            <a:r>
              <a:rPr sz="1000" spc="-15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a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2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2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695"/>
              </a:spcBef>
            </a:pPr>
            <a:r>
              <a:rPr sz="1000" cap="small" dirty="0">
                <a:latin typeface="Calibri"/>
                <a:cs typeface="Calibri"/>
              </a:rPr>
              <a:t>cov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a</a:t>
            </a:r>
            <a:r>
              <a:rPr sz="1000" b="1" cap="small" dirty="0">
                <a:latin typeface="Arial"/>
                <a:cs typeface="Arial"/>
              </a:rPr>
              <a:t>x</a:t>
            </a:r>
            <a:r>
              <a:rPr sz="1000" dirty="0">
                <a:latin typeface="Lucida Sans Unicode"/>
                <a:cs typeface="Lucida Sans Unicode"/>
              </a:rPr>
              <a:t>,</a:t>
            </a:r>
            <a:r>
              <a:rPr sz="1000" spc="-13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00" b="1" dirty="0">
                <a:latin typeface="Arial"/>
                <a:cs typeface="Arial"/>
              </a:rPr>
              <a:t>y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28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290" dirty="0">
                <a:latin typeface="Tahoma"/>
                <a:cs typeface="Tahoma"/>
              </a:rPr>
              <a:t> </a:t>
            </a:r>
            <a:r>
              <a:rPr sz="1000" i="1" spc="-20" dirty="0">
                <a:latin typeface="Arial"/>
                <a:cs typeface="Arial"/>
              </a:rPr>
              <a:t>ab</a:t>
            </a:r>
            <a:r>
              <a:rPr sz="1000" i="1" spc="50" dirty="0">
                <a:latin typeface="Arial"/>
                <a:cs typeface="Arial"/>
              </a:rPr>
              <a:t> </a:t>
            </a:r>
            <a:r>
              <a:rPr sz="1000" cap="small" spc="50" dirty="0">
                <a:latin typeface="Calibri"/>
                <a:cs typeface="Calibri"/>
              </a:rPr>
              <a:t>cov</a:t>
            </a:r>
            <a:r>
              <a:rPr sz="1000" spc="50" dirty="0">
                <a:latin typeface="Tahoma"/>
                <a:cs typeface="Tahoma"/>
              </a:rPr>
              <a:t>(</a:t>
            </a:r>
            <a:r>
              <a:rPr sz="1000" b="1" cap="small" spc="50" dirty="0">
                <a:latin typeface="Arial"/>
                <a:cs typeface="Arial"/>
              </a:rPr>
              <a:t>x</a:t>
            </a:r>
            <a:r>
              <a:rPr sz="1000" spc="50" dirty="0">
                <a:latin typeface="Lucida Sans Unicode"/>
                <a:cs typeface="Lucida Sans Unicode"/>
              </a:rPr>
              <a:t>,</a:t>
            </a:r>
            <a:r>
              <a:rPr sz="1000" spc="-135" dirty="0">
                <a:latin typeface="Lucida Sans Unicode"/>
                <a:cs typeface="Lucida Sans Unicode"/>
              </a:rPr>
              <a:t> </a:t>
            </a:r>
            <a:r>
              <a:rPr sz="1000" b="1" spc="-25" dirty="0">
                <a:latin typeface="Arial"/>
                <a:cs typeface="Arial"/>
              </a:rPr>
              <a:t>y</a:t>
            </a:r>
            <a:r>
              <a:rPr sz="1000" spc="-25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695"/>
              </a:spcBef>
            </a:pPr>
            <a:r>
              <a:rPr sz="1000" cap="small" spc="65" dirty="0">
                <a:latin typeface="Calibri"/>
                <a:cs typeface="Calibri"/>
              </a:rPr>
              <a:t>cov</a:t>
            </a:r>
            <a:r>
              <a:rPr sz="1000" spc="65" dirty="0">
                <a:latin typeface="Tahoma"/>
                <a:cs typeface="Tahoma"/>
              </a:rPr>
              <a:t>(</a:t>
            </a:r>
            <a:r>
              <a:rPr sz="1000" b="1" cap="small" spc="65" dirty="0">
                <a:latin typeface="Arial"/>
                <a:cs typeface="Arial"/>
              </a:rPr>
              <a:t>x</a:t>
            </a:r>
            <a:r>
              <a:rPr sz="1000" b="1" spc="-5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80" dirty="0">
                <a:latin typeface="Tahoma"/>
                <a:cs typeface="Tahoma"/>
              </a:rPr>
              <a:t> </a:t>
            </a:r>
            <a:r>
              <a:rPr sz="1000" i="1" spc="-60" dirty="0">
                <a:latin typeface="Arial"/>
                <a:cs typeface="Arial"/>
              </a:rPr>
              <a:t>a</a:t>
            </a:r>
            <a:r>
              <a:rPr sz="1000" spc="-60" dirty="0">
                <a:latin typeface="Lucida Sans Unicode"/>
                <a:cs typeface="Lucida Sans Unicode"/>
              </a:rPr>
              <a:t>,</a:t>
            </a:r>
            <a:r>
              <a:rPr sz="1000" spc="-135" dirty="0">
                <a:latin typeface="Lucida Sans Unicode"/>
                <a:cs typeface="Lucida Sans Unicode"/>
              </a:rPr>
              <a:t> </a:t>
            </a:r>
            <a:r>
              <a:rPr sz="1000" b="1" spc="-55" dirty="0">
                <a:latin typeface="Arial"/>
                <a:cs typeface="Arial"/>
              </a:rPr>
              <a:t>y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8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27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275" dirty="0">
                <a:latin typeface="Tahoma"/>
                <a:cs typeface="Tahoma"/>
              </a:rPr>
              <a:t> </a:t>
            </a:r>
            <a:r>
              <a:rPr sz="1000" cap="small" spc="50" dirty="0">
                <a:latin typeface="Calibri"/>
                <a:cs typeface="Calibri"/>
              </a:rPr>
              <a:t>cov</a:t>
            </a:r>
            <a:r>
              <a:rPr sz="1000" spc="50" dirty="0">
                <a:latin typeface="Tahoma"/>
                <a:cs typeface="Tahoma"/>
              </a:rPr>
              <a:t>(</a:t>
            </a:r>
            <a:r>
              <a:rPr sz="1000" b="1" cap="small" spc="50" dirty="0">
                <a:latin typeface="Arial"/>
                <a:cs typeface="Arial"/>
              </a:rPr>
              <a:t>x</a:t>
            </a:r>
            <a:r>
              <a:rPr sz="1000" spc="50" dirty="0">
                <a:latin typeface="Lucida Sans Unicode"/>
                <a:cs typeface="Lucida Sans Unicode"/>
              </a:rPr>
              <a:t>,</a:t>
            </a:r>
            <a:r>
              <a:rPr sz="1000" spc="-140" dirty="0">
                <a:latin typeface="Lucida Sans Unicode"/>
                <a:cs typeface="Lucida Sans Unicode"/>
              </a:rPr>
              <a:t> </a:t>
            </a:r>
            <a:r>
              <a:rPr sz="1000" b="1" spc="-25" dirty="0">
                <a:latin typeface="Arial"/>
                <a:cs typeface="Arial"/>
              </a:rPr>
              <a:t>y</a:t>
            </a:r>
            <a:r>
              <a:rPr sz="1000" spc="-25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050"/>
              </a:spcBef>
            </a:pPr>
            <a:r>
              <a:rPr sz="1100" cap="small" dirty="0">
                <a:latin typeface="Calibri"/>
                <a:cs typeface="Calibri"/>
              </a:rPr>
              <a:t>cov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cap="small" dirty="0">
                <a:latin typeface="Arial"/>
                <a:cs typeface="Arial"/>
              </a:rPr>
              <a:t>x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14" dirty="0">
                <a:latin typeface="Lucida Sans Unicode"/>
                <a:cs typeface="Lucida Sans Unicode"/>
              </a:rPr>
              <a:t> </a:t>
            </a:r>
            <a:r>
              <a:rPr sz="1100" b="1" spc="-75" dirty="0">
                <a:latin typeface="Arial"/>
                <a:cs typeface="Arial"/>
              </a:rPr>
              <a:t>y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z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4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470" dirty="0">
                <a:latin typeface="Tahoma"/>
                <a:cs typeface="Tahoma"/>
              </a:rPr>
              <a:t> </a:t>
            </a:r>
            <a:r>
              <a:rPr sz="1100" cap="small" dirty="0">
                <a:latin typeface="Calibri"/>
                <a:cs typeface="Calibri"/>
              </a:rPr>
              <a:t>cov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cap="small" dirty="0">
                <a:latin typeface="Arial"/>
                <a:cs typeface="Arial"/>
              </a:rPr>
              <a:t>x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14" dirty="0">
                <a:latin typeface="Lucida Sans Unicode"/>
                <a:cs typeface="Lucida Sans Unicode"/>
              </a:rPr>
              <a:t> </a:t>
            </a:r>
            <a:r>
              <a:rPr sz="1100" b="1" spc="-35" dirty="0">
                <a:latin typeface="Arial"/>
                <a:cs typeface="Arial"/>
              </a:rPr>
              <a:t>y</a:t>
            </a:r>
            <a:r>
              <a:rPr sz="1100" spc="-35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cap="small" dirty="0">
                <a:latin typeface="Calibri"/>
                <a:cs typeface="Calibri"/>
              </a:rPr>
              <a:t>cov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cap="small" dirty="0">
                <a:latin typeface="Arial"/>
                <a:cs typeface="Arial"/>
              </a:rPr>
              <a:t>x</a:t>
            </a:r>
            <a:r>
              <a:rPr sz="1100" dirty="0">
                <a:latin typeface="Lucida Sans Unicode"/>
                <a:cs typeface="Lucida Sans Unicode"/>
              </a:rPr>
              <a:t>,</a:t>
            </a:r>
            <a:r>
              <a:rPr sz="1100" spc="-114" dirty="0">
                <a:latin typeface="Lucida Sans Unicode"/>
                <a:cs typeface="Lucida Sans Unicode"/>
              </a:rPr>
              <a:t> </a:t>
            </a:r>
            <a:r>
              <a:rPr sz="1100" b="1" spc="-25" dirty="0">
                <a:latin typeface="Arial"/>
                <a:cs typeface="Arial"/>
              </a:rPr>
              <a:t>z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55" dirty="0"/>
              <a:t>Covariance</a:t>
            </a:r>
            <a:r>
              <a:rPr spc="-10" dirty="0"/>
              <a:t> </a:t>
            </a:r>
            <a:r>
              <a:rPr spc="-60" dirty="0"/>
              <a:t>and</a:t>
            </a:r>
            <a:r>
              <a:rPr spc="-10" dirty="0"/>
              <a:t> Correlation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76577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97580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305" y="422310"/>
            <a:ext cx="421703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Correlation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40" dirty="0">
                <a:latin typeface="Tahoma"/>
                <a:cs typeface="Tahoma"/>
              </a:rPr>
              <a:t>Covariance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depends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magnitude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scale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variable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cap="small" dirty="0">
                <a:latin typeface="Arial"/>
                <a:cs typeface="Arial"/>
              </a:rPr>
              <a:t>x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spc="-30" dirty="0">
                <a:latin typeface="Tahoma"/>
                <a:cs typeface="Tahoma"/>
              </a:rPr>
              <a:t>Correlation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quantifies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how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strongly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variables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related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5094" y="1268500"/>
            <a:ext cx="12261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r</a:t>
            </a:r>
            <a:r>
              <a:rPr sz="1200" b="1" cap="small" baseline="-10416" dirty="0">
                <a:latin typeface="Arial"/>
                <a:cs typeface="Arial"/>
              </a:rPr>
              <a:t>x</a:t>
            </a:r>
            <a:r>
              <a:rPr sz="1200" b="1" baseline="-10416" dirty="0">
                <a:latin typeface="Arial"/>
                <a:cs typeface="Arial"/>
              </a:rPr>
              <a:t>y</a:t>
            </a:r>
            <a:r>
              <a:rPr sz="1200" b="1" spc="61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45" dirty="0">
                <a:latin typeface="Tahoma"/>
                <a:cs typeface="Tahoma"/>
              </a:rPr>
              <a:t> </a:t>
            </a:r>
            <a:r>
              <a:rPr sz="1100" i="1" spc="-40" dirty="0">
                <a:latin typeface="Arial"/>
                <a:cs typeface="Arial"/>
              </a:rPr>
              <a:t>corr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(</a:t>
            </a:r>
            <a:r>
              <a:rPr sz="1100" b="1" cap="small" spc="-45" dirty="0">
                <a:latin typeface="Arial"/>
                <a:cs typeface="Arial"/>
              </a:rPr>
              <a:t>x</a:t>
            </a:r>
            <a:r>
              <a:rPr sz="1100" spc="-45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b="1" dirty="0">
                <a:latin typeface="Arial"/>
                <a:cs typeface="Arial"/>
              </a:rPr>
              <a:t>y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2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62173" y="1174774"/>
            <a:ext cx="587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cap="small" spc="20" dirty="0">
                <a:latin typeface="Calibri"/>
                <a:cs typeface="Calibri"/>
              </a:rPr>
              <a:t>cov</a:t>
            </a:r>
            <a:r>
              <a:rPr sz="1100" spc="20" dirty="0">
                <a:latin typeface="Tahoma"/>
                <a:cs typeface="Tahoma"/>
              </a:rPr>
              <a:t>(</a:t>
            </a:r>
            <a:r>
              <a:rPr sz="1100" b="1" cap="small" spc="20" dirty="0">
                <a:latin typeface="Arial"/>
                <a:cs typeface="Arial"/>
              </a:rPr>
              <a:t>x</a:t>
            </a:r>
            <a:r>
              <a:rPr sz="1100" spc="20" dirty="0">
                <a:latin typeface="Lucida Sans Unicode"/>
                <a:cs typeface="Lucida Sans Unicode"/>
              </a:rPr>
              <a:t>,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1" spc="-60" dirty="0">
                <a:latin typeface="Arial"/>
                <a:cs typeface="Arial"/>
              </a:rPr>
              <a:t>y</a:t>
            </a:r>
            <a:r>
              <a:rPr sz="1100" spc="-6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74873" y="1385112"/>
            <a:ext cx="561975" cy="0"/>
          </a:xfrm>
          <a:custGeom>
            <a:avLst/>
            <a:gdLst/>
            <a:ahLst/>
            <a:cxnLst/>
            <a:rect l="l" t="t" r="r" b="b"/>
            <a:pathLst>
              <a:path w="561975">
                <a:moveTo>
                  <a:pt x="0" y="0"/>
                </a:moveTo>
                <a:lnTo>
                  <a:pt x="56183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86976" y="1363534"/>
            <a:ext cx="2794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σ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Lucida Sans Unicode"/>
                <a:cs typeface="Lucida Sans Unicode"/>
              </a:rPr>
              <a:t>.σ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66148" y="1421636"/>
            <a:ext cx="2508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cap="small" dirty="0">
                <a:latin typeface="Arial"/>
                <a:cs typeface="Arial"/>
              </a:rPr>
              <a:t>x</a:t>
            </a:r>
            <a:r>
              <a:rPr sz="800" b="1" spc="245" dirty="0">
                <a:latin typeface="Arial"/>
                <a:cs typeface="Arial"/>
              </a:rPr>
              <a:t>  </a:t>
            </a:r>
            <a:r>
              <a:rPr sz="800" b="1" spc="-70" dirty="0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0245" y="169247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0245" y="198342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2681" y="229391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2681" y="253431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2681" y="277470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8393" y="1602802"/>
            <a:ext cx="3314065" cy="1266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5" dirty="0">
                <a:latin typeface="Cambria"/>
                <a:cs typeface="Cambria"/>
              </a:rPr>
              <a:t>−</a:t>
            </a:r>
            <a:r>
              <a:rPr sz="1100" spc="85" dirty="0">
                <a:latin typeface="Tahoma"/>
                <a:cs typeface="Tahoma"/>
              </a:rPr>
              <a:t>1</a:t>
            </a:r>
            <a:r>
              <a:rPr sz="1100" spc="254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≤</a:t>
            </a:r>
            <a:r>
              <a:rPr sz="1100" spc="350" dirty="0">
                <a:latin typeface="Cambria"/>
                <a:cs typeface="Cambria"/>
              </a:rPr>
              <a:t> </a:t>
            </a:r>
            <a:r>
              <a:rPr sz="1100" i="1" spc="-40" dirty="0">
                <a:latin typeface="Arial"/>
                <a:cs typeface="Arial"/>
              </a:rPr>
              <a:t>corr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(</a:t>
            </a:r>
            <a:r>
              <a:rPr sz="1100" b="1" cap="small" spc="-45" dirty="0">
                <a:latin typeface="Arial"/>
                <a:cs typeface="Arial"/>
              </a:rPr>
              <a:t>x</a:t>
            </a:r>
            <a:r>
              <a:rPr sz="1100" spc="-45" dirty="0">
                <a:latin typeface="Lucida Sans Unicode"/>
                <a:cs typeface="Lucida Sans Unicode"/>
              </a:rPr>
              <a:t>,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b="1" dirty="0">
                <a:latin typeface="Arial"/>
                <a:cs typeface="Arial"/>
              </a:rPr>
              <a:t>y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254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≤</a:t>
            </a:r>
            <a:r>
              <a:rPr sz="1100" spc="350" dirty="0">
                <a:latin typeface="Cambria"/>
                <a:cs typeface="Cambria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affected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changes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scale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variables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cap="small" dirty="0">
                <a:latin typeface="Arial"/>
                <a:cs typeface="Arial"/>
              </a:rPr>
              <a:t>x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i="1" spc="-405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  <a:p>
            <a:pPr marL="289560" marR="48260">
              <a:lnSpc>
                <a:spcPct val="157700"/>
              </a:lnSpc>
              <a:spcBef>
                <a:spcPts val="490"/>
              </a:spcBef>
            </a:pPr>
            <a:r>
              <a:rPr sz="1000" i="1" spc="-45" dirty="0">
                <a:latin typeface="Arial"/>
                <a:cs typeface="Arial"/>
              </a:rPr>
              <a:t>corr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spc="-35" dirty="0">
                <a:latin typeface="Tahoma"/>
                <a:cs typeface="Tahoma"/>
              </a:rPr>
              <a:t>(</a:t>
            </a:r>
            <a:r>
              <a:rPr sz="1000" b="1" cap="small" spc="-35" dirty="0">
                <a:latin typeface="Arial"/>
                <a:cs typeface="Arial"/>
              </a:rPr>
              <a:t>x</a:t>
            </a:r>
            <a:r>
              <a:rPr sz="1000" spc="-35" dirty="0">
                <a:latin typeface="Lucida Sans Unicode"/>
                <a:cs typeface="Lucida Sans Unicode"/>
              </a:rPr>
              <a:t>,</a:t>
            </a:r>
            <a:r>
              <a:rPr sz="1000" spc="-150" dirty="0">
                <a:latin typeface="Lucida Sans Unicode"/>
                <a:cs typeface="Lucida Sans Unicode"/>
              </a:rPr>
              <a:t> </a:t>
            </a:r>
            <a:r>
              <a:rPr sz="1000" b="1" spc="-10" dirty="0">
                <a:latin typeface="Arial"/>
                <a:cs typeface="Arial"/>
              </a:rPr>
              <a:t>y</a:t>
            </a:r>
            <a:r>
              <a:rPr sz="1000" spc="-10" dirty="0">
                <a:latin typeface="Tahoma"/>
                <a:cs typeface="Tahoma"/>
              </a:rPr>
              <a:t>)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80" dirty="0">
                <a:latin typeface="Cambria"/>
                <a:cs typeface="Cambria"/>
              </a:rPr>
              <a:t>−</a:t>
            </a:r>
            <a:r>
              <a:rPr sz="1000" spc="80" dirty="0">
                <a:latin typeface="Tahoma"/>
                <a:cs typeface="Tahoma"/>
              </a:rPr>
              <a:t>1</a:t>
            </a:r>
            <a:r>
              <a:rPr sz="1000" spc="2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dirty="0">
                <a:latin typeface="Cambria"/>
                <a:cs typeface="Cambria"/>
              </a:rPr>
              <a:t>⇒</a:t>
            </a:r>
            <a:r>
              <a:rPr sz="1000" spc="395" dirty="0">
                <a:latin typeface="Cambria"/>
                <a:cs typeface="Cambria"/>
              </a:rPr>
              <a:t> </a:t>
            </a:r>
            <a:r>
              <a:rPr sz="1000" spc="-25" dirty="0">
                <a:latin typeface="Tahoma"/>
                <a:cs typeface="Tahoma"/>
              </a:rPr>
              <a:t>perfect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negative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linear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70" dirty="0">
                <a:latin typeface="Tahoma"/>
                <a:cs typeface="Tahoma"/>
              </a:rPr>
              <a:t>association </a:t>
            </a:r>
            <a:r>
              <a:rPr sz="1000" i="1" spc="-45" dirty="0">
                <a:latin typeface="Arial"/>
                <a:cs typeface="Arial"/>
              </a:rPr>
              <a:t>corr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spc="-35" dirty="0">
                <a:latin typeface="Tahoma"/>
                <a:cs typeface="Tahoma"/>
              </a:rPr>
              <a:t>(</a:t>
            </a:r>
            <a:r>
              <a:rPr sz="1000" b="1" cap="small" spc="-35" dirty="0">
                <a:latin typeface="Arial"/>
                <a:cs typeface="Arial"/>
              </a:rPr>
              <a:t>x</a:t>
            </a:r>
            <a:r>
              <a:rPr sz="1000" spc="-35" dirty="0">
                <a:latin typeface="Lucida Sans Unicode"/>
                <a:cs typeface="Lucida Sans Unicode"/>
              </a:rPr>
              <a:t>,</a:t>
            </a:r>
            <a:r>
              <a:rPr sz="1000" spc="-150" dirty="0">
                <a:latin typeface="Lucida Sans Unicode"/>
                <a:cs typeface="Lucida Sans Unicode"/>
              </a:rPr>
              <a:t> </a:t>
            </a:r>
            <a:r>
              <a:rPr sz="1000" b="1" spc="-10" dirty="0">
                <a:latin typeface="Arial"/>
                <a:cs typeface="Arial"/>
              </a:rPr>
              <a:t>y</a:t>
            </a:r>
            <a:r>
              <a:rPr sz="1000" spc="-10" dirty="0">
                <a:latin typeface="Tahoma"/>
                <a:cs typeface="Tahoma"/>
              </a:rPr>
              <a:t>)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1</a:t>
            </a:r>
            <a:r>
              <a:rPr sz="1000" spc="2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dirty="0">
                <a:latin typeface="Cambria"/>
                <a:cs typeface="Cambria"/>
              </a:rPr>
              <a:t>⇒</a:t>
            </a:r>
            <a:r>
              <a:rPr sz="1000" spc="380" dirty="0">
                <a:latin typeface="Cambria"/>
                <a:cs typeface="Cambria"/>
              </a:rPr>
              <a:t> </a:t>
            </a:r>
            <a:r>
              <a:rPr sz="1000" spc="-25" dirty="0">
                <a:latin typeface="Tahoma"/>
                <a:cs typeface="Tahoma"/>
              </a:rPr>
              <a:t>perfect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positive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linear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association </a:t>
            </a:r>
            <a:r>
              <a:rPr sz="1000" i="1" spc="-45" dirty="0">
                <a:latin typeface="Arial"/>
                <a:cs typeface="Arial"/>
              </a:rPr>
              <a:t>corr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spc="-35" dirty="0">
                <a:latin typeface="Tahoma"/>
                <a:cs typeface="Tahoma"/>
              </a:rPr>
              <a:t>(</a:t>
            </a:r>
            <a:r>
              <a:rPr sz="1000" b="1" cap="small" spc="-35" dirty="0">
                <a:latin typeface="Arial"/>
                <a:cs typeface="Arial"/>
              </a:rPr>
              <a:t>x</a:t>
            </a:r>
            <a:r>
              <a:rPr sz="1000" spc="-35" dirty="0">
                <a:latin typeface="Lucida Sans Unicode"/>
                <a:cs typeface="Lucida Sans Unicode"/>
              </a:rPr>
              <a:t>,</a:t>
            </a:r>
            <a:r>
              <a:rPr sz="1000" spc="-150" dirty="0">
                <a:latin typeface="Lucida Sans Unicode"/>
                <a:cs typeface="Lucida Sans Unicode"/>
              </a:rPr>
              <a:t> </a:t>
            </a:r>
            <a:r>
              <a:rPr sz="1000" b="1" spc="-10" dirty="0">
                <a:latin typeface="Arial"/>
                <a:cs typeface="Arial"/>
              </a:rPr>
              <a:t>y</a:t>
            </a:r>
            <a:r>
              <a:rPr sz="1000" spc="-10" dirty="0">
                <a:latin typeface="Tahoma"/>
                <a:cs typeface="Tahoma"/>
              </a:rPr>
              <a:t>)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0</a:t>
            </a:r>
            <a:r>
              <a:rPr sz="1000" spc="2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dirty="0">
                <a:latin typeface="Cambria"/>
                <a:cs typeface="Cambria"/>
              </a:rPr>
              <a:t>⇒</a:t>
            </a:r>
            <a:r>
              <a:rPr sz="1000" spc="375" dirty="0">
                <a:latin typeface="Cambria"/>
                <a:cs typeface="Cambria"/>
              </a:rPr>
              <a:t> </a:t>
            </a:r>
            <a:r>
              <a:rPr sz="1000" dirty="0">
                <a:latin typeface="Tahoma"/>
                <a:cs typeface="Tahoma"/>
              </a:rPr>
              <a:t>no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linear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association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8" name="object 1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10" dirty="0"/>
              <a:t>Correlation</a:t>
            </a:r>
            <a:r>
              <a:rPr dirty="0"/>
              <a:t>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7553" y="453555"/>
            <a:ext cx="3840479" cy="2476500"/>
            <a:chOff x="387553" y="453555"/>
            <a:chExt cx="3840479" cy="2476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553" y="453555"/>
              <a:ext cx="3840479" cy="24764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5391" y="2177389"/>
              <a:ext cx="92710" cy="78740"/>
            </a:xfrm>
            <a:custGeom>
              <a:avLst/>
              <a:gdLst/>
              <a:ahLst/>
              <a:cxnLst/>
              <a:rect l="l" t="t" r="r" b="b"/>
              <a:pathLst>
                <a:path w="92709" h="78739">
                  <a:moveTo>
                    <a:pt x="92430" y="0"/>
                  </a:moveTo>
                  <a:lnTo>
                    <a:pt x="0" y="0"/>
                  </a:lnTo>
                  <a:lnTo>
                    <a:pt x="0" y="78143"/>
                  </a:lnTo>
                  <a:lnTo>
                    <a:pt x="92430" y="78143"/>
                  </a:lnTo>
                  <a:lnTo>
                    <a:pt x="924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26613" y="2142010"/>
            <a:ext cx="704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Calibri"/>
                <a:cs typeface="Calibri"/>
              </a:rPr>
              <a:t>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71956" y="2177389"/>
            <a:ext cx="92710" cy="78740"/>
          </a:xfrm>
          <a:custGeom>
            <a:avLst/>
            <a:gdLst/>
            <a:ahLst/>
            <a:cxnLst/>
            <a:rect l="l" t="t" r="r" b="b"/>
            <a:pathLst>
              <a:path w="92709" h="78739">
                <a:moveTo>
                  <a:pt x="92430" y="0"/>
                </a:moveTo>
                <a:lnTo>
                  <a:pt x="0" y="0"/>
                </a:lnTo>
                <a:lnTo>
                  <a:pt x="0" y="78143"/>
                </a:lnTo>
                <a:lnTo>
                  <a:pt x="92430" y="78143"/>
                </a:lnTo>
                <a:lnTo>
                  <a:pt x="924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83175" y="2142010"/>
            <a:ext cx="704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Calibri"/>
                <a:cs typeface="Calibri"/>
              </a:rPr>
              <a:t>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20913" y="2177389"/>
            <a:ext cx="92710" cy="78740"/>
          </a:xfrm>
          <a:custGeom>
            <a:avLst/>
            <a:gdLst/>
            <a:ahLst/>
            <a:cxnLst/>
            <a:rect l="l" t="t" r="r" b="b"/>
            <a:pathLst>
              <a:path w="92710" h="78739">
                <a:moveTo>
                  <a:pt x="92430" y="0"/>
                </a:moveTo>
                <a:lnTo>
                  <a:pt x="0" y="0"/>
                </a:lnTo>
                <a:lnTo>
                  <a:pt x="0" y="78143"/>
                </a:lnTo>
                <a:lnTo>
                  <a:pt x="92430" y="78143"/>
                </a:lnTo>
                <a:lnTo>
                  <a:pt x="924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32135" y="2142010"/>
            <a:ext cx="704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Calibri"/>
                <a:cs typeface="Calibri"/>
              </a:rPr>
              <a:t>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77186" y="2177389"/>
            <a:ext cx="92710" cy="78740"/>
          </a:xfrm>
          <a:custGeom>
            <a:avLst/>
            <a:gdLst/>
            <a:ahLst/>
            <a:cxnLst/>
            <a:rect l="l" t="t" r="r" b="b"/>
            <a:pathLst>
              <a:path w="92710" h="78739">
                <a:moveTo>
                  <a:pt x="92443" y="0"/>
                </a:moveTo>
                <a:lnTo>
                  <a:pt x="0" y="0"/>
                </a:lnTo>
                <a:lnTo>
                  <a:pt x="0" y="78143"/>
                </a:lnTo>
                <a:lnTo>
                  <a:pt x="92443" y="78143"/>
                </a:lnTo>
                <a:lnTo>
                  <a:pt x="924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288410" y="2142010"/>
            <a:ext cx="704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Calibri"/>
                <a:cs typeface="Calibri"/>
              </a:rPr>
              <a:t>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41079" y="2177389"/>
            <a:ext cx="92710" cy="78740"/>
          </a:xfrm>
          <a:custGeom>
            <a:avLst/>
            <a:gdLst/>
            <a:ahLst/>
            <a:cxnLst/>
            <a:rect l="l" t="t" r="r" b="b"/>
            <a:pathLst>
              <a:path w="92710" h="78739">
                <a:moveTo>
                  <a:pt x="92430" y="0"/>
                </a:moveTo>
                <a:lnTo>
                  <a:pt x="0" y="0"/>
                </a:lnTo>
                <a:lnTo>
                  <a:pt x="0" y="78143"/>
                </a:lnTo>
                <a:lnTo>
                  <a:pt x="92430" y="78143"/>
                </a:lnTo>
                <a:lnTo>
                  <a:pt x="924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52290" y="2142010"/>
            <a:ext cx="704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Calibri"/>
                <a:cs typeface="Calibri"/>
              </a:rPr>
              <a:t>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94392" y="2177389"/>
            <a:ext cx="92710" cy="78740"/>
          </a:xfrm>
          <a:custGeom>
            <a:avLst/>
            <a:gdLst/>
            <a:ahLst/>
            <a:cxnLst/>
            <a:rect l="l" t="t" r="r" b="b"/>
            <a:pathLst>
              <a:path w="92710" h="78739">
                <a:moveTo>
                  <a:pt x="92430" y="0"/>
                </a:moveTo>
                <a:lnTo>
                  <a:pt x="0" y="0"/>
                </a:lnTo>
                <a:lnTo>
                  <a:pt x="0" y="78143"/>
                </a:lnTo>
                <a:lnTo>
                  <a:pt x="92430" y="78143"/>
                </a:lnTo>
                <a:lnTo>
                  <a:pt x="924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05609" y="2142010"/>
            <a:ext cx="704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Calibri"/>
                <a:cs typeface="Calibri"/>
              </a:rPr>
              <a:t>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40492" y="2177389"/>
            <a:ext cx="92710" cy="78740"/>
          </a:xfrm>
          <a:custGeom>
            <a:avLst/>
            <a:gdLst/>
            <a:ahLst/>
            <a:cxnLst/>
            <a:rect l="l" t="t" r="r" b="b"/>
            <a:pathLst>
              <a:path w="92710" h="78739">
                <a:moveTo>
                  <a:pt x="92430" y="0"/>
                </a:moveTo>
                <a:lnTo>
                  <a:pt x="0" y="0"/>
                </a:lnTo>
                <a:lnTo>
                  <a:pt x="0" y="78143"/>
                </a:lnTo>
                <a:lnTo>
                  <a:pt x="92430" y="78143"/>
                </a:lnTo>
                <a:lnTo>
                  <a:pt x="924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951711" y="2142010"/>
            <a:ext cx="704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Calibri"/>
                <a:cs typeface="Calibri"/>
              </a:rPr>
              <a:t>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0461" y="1316659"/>
            <a:ext cx="45085" cy="59055"/>
          </a:xfrm>
          <a:custGeom>
            <a:avLst/>
            <a:gdLst/>
            <a:ahLst/>
            <a:cxnLst/>
            <a:rect l="l" t="t" r="r" b="b"/>
            <a:pathLst>
              <a:path w="45084" h="59055">
                <a:moveTo>
                  <a:pt x="44602" y="0"/>
                </a:moveTo>
                <a:lnTo>
                  <a:pt x="0" y="0"/>
                </a:lnTo>
                <a:lnTo>
                  <a:pt x="0" y="58712"/>
                </a:lnTo>
                <a:lnTo>
                  <a:pt x="44602" y="58712"/>
                </a:lnTo>
                <a:lnTo>
                  <a:pt x="44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7769" y="1271563"/>
            <a:ext cx="704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82395" y="1316659"/>
            <a:ext cx="45085" cy="59055"/>
          </a:xfrm>
          <a:custGeom>
            <a:avLst/>
            <a:gdLst/>
            <a:ahLst/>
            <a:cxnLst/>
            <a:rect l="l" t="t" r="r" b="b"/>
            <a:pathLst>
              <a:path w="45084" h="59055">
                <a:moveTo>
                  <a:pt x="44589" y="0"/>
                </a:moveTo>
                <a:lnTo>
                  <a:pt x="0" y="0"/>
                </a:lnTo>
                <a:lnTo>
                  <a:pt x="0" y="58712"/>
                </a:lnTo>
                <a:lnTo>
                  <a:pt x="44589" y="58712"/>
                </a:lnTo>
                <a:lnTo>
                  <a:pt x="445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169695" y="1271563"/>
            <a:ext cx="704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45221" y="1316659"/>
            <a:ext cx="45085" cy="59055"/>
          </a:xfrm>
          <a:custGeom>
            <a:avLst/>
            <a:gdLst/>
            <a:ahLst/>
            <a:cxnLst/>
            <a:rect l="l" t="t" r="r" b="b"/>
            <a:pathLst>
              <a:path w="45085" h="59055">
                <a:moveTo>
                  <a:pt x="44602" y="0"/>
                </a:moveTo>
                <a:lnTo>
                  <a:pt x="0" y="0"/>
                </a:lnTo>
                <a:lnTo>
                  <a:pt x="0" y="58712"/>
                </a:lnTo>
                <a:lnTo>
                  <a:pt x="44602" y="58712"/>
                </a:lnTo>
                <a:lnTo>
                  <a:pt x="44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732531" y="1271563"/>
            <a:ext cx="704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294128" y="1316659"/>
            <a:ext cx="45085" cy="59055"/>
          </a:xfrm>
          <a:custGeom>
            <a:avLst/>
            <a:gdLst/>
            <a:ahLst/>
            <a:cxnLst/>
            <a:rect l="l" t="t" r="r" b="b"/>
            <a:pathLst>
              <a:path w="45085" h="59055">
                <a:moveTo>
                  <a:pt x="44602" y="0"/>
                </a:moveTo>
                <a:lnTo>
                  <a:pt x="0" y="0"/>
                </a:lnTo>
                <a:lnTo>
                  <a:pt x="0" y="58712"/>
                </a:lnTo>
                <a:lnTo>
                  <a:pt x="44602" y="58712"/>
                </a:lnTo>
                <a:lnTo>
                  <a:pt x="44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281430" y="1271563"/>
            <a:ext cx="7048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4952" y="1307536"/>
            <a:ext cx="118498" cy="6934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823776" y="1263973"/>
            <a:ext cx="14097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65" dirty="0">
                <a:latin typeface="Cambria"/>
                <a:cs typeface="Cambria"/>
              </a:rPr>
              <a:t>−</a:t>
            </a:r>
            <a:r>
              <a:rPr sz="700" spc="65" dirty="0"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4448" y="1307536"/>
            <a:ext cx="118498" cy="69349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3363272" y="1263973"/>
            <a:ext cx="14097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65" dirty="0">
                <a:latin typeface="Cambria"/>
                <a:cs typeface="Cambria"/>
              </a:rPr>
              <a:t>−</a:t>
            </a:r>
            <a:r>
              <a:rPr sz="700" spc="65" dirty="0"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5006" y="1307536"/>
            <a:ext cx="118498" cy="6934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923830" y="1263973"/>
            <a:ext cx="14097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i="1" spc="65" dirty="0">
                <a:latin typeface="Cambria"/>
                <a:cs typeface="Cambria"/>
              </a:rPr>
              <a:t>−</a:t>
            </a:r>
            <a:r>
              <a:rPr sz="700" spc="65" dirty="0"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33785" y="415904"/>
            <a:ext cx="3419475" cy="80010"/>
            <a:chOff x="633785" y="415904"/>
            <a:chExt cx="3419475" cy="80010"/>
          </a:xfrm>
        </p:grpSpPr>
        <p:sp>
          <p:nvSpPr>
            <p:cNvPr id="34" name="object 34"/>
            <p:cNvSpPr/>
            <p:nvPr/>
          </p:nvSpPr>
          <p:spPr>
            <a:xfrm>
              <a:off x="633780" y="435355"/>
              <a:ext cx="45085" cy="59055"/>
            </a:xfrm>
            <a:custGeom>
              <a:avLst/>
              <a:gdLst/>
              <a:ahLst/>
              <a:cxnLst/>
              <a:rect l="l" t="t" r="r" b="b"/>
              <a:pathLst>
                <a:path w="45084" h="59054">
                  <a:moveTo>
                    <a:pt x="44602" y="0"/>
                  </a:moveTo>
                  <a:lnTo>
                    <a:pt x="0" y="0"/>
                  </a:lnTo>
                  <a:lnTo>
                    <a:pt x="0" y="58712"/>
                  </a:lnTo>
                  <a:lnTo>
                    <a:pt x="44602" y="58712"/>
                  </a:lnTo>
                  <a:lnTo>
                    <a:pt x="446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4510" y="426229"/>
              <a:ext cx="118498" cy="6934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171206" y="415912"/>
              <a:ext cx="2363470" cy="78740"/>
            </a:xfrm>
            <a:custGeom>
              <a:avLst/>
              <a:gdLst/>
              <a:ahLst/>
              <a:cxnLst/>
              <a:rect l="l" t="t" r="r" b="b"/>
              <a:pathLst>
                <a:path w="2363470" h="78740">
                  <a:moveTo>
                    <a:pt x="113982" y="19443"/>
                  </a:moveTo>
                  <a:lnTo>
                    <a:pt x="0" y="19443"/>
                  </a:lnTo>
                  <a:lnTo>
                    <a:pt x="0" y="78155"/>
                  </a:lnTo>
                  <a:lnTo>
                    <a:pt x="113982" y="78155"/>
                  </a:lnTo>
                  <a:lnTo>
                    <a:pt x="113982" y="19443"/>
                  </a:lnTo>
                  <a:close/>
                </a:path>
                <a:path w="2363470" h="78740">
                  <a:moveTo>
                    <a:pt x="674509" y="19443"/>
                  </a:moveTo>
                  <a:lnTo>
                    <a:pt x="560527" y="19443"/>
                  </a:lnTo>
                  <a:lnTo>
                    <a:pt x="560527" y="78155"/>
                  </a:lnTo>
                  <a:lnTo>
                    <a:pt x="674509" y="78155"/>
                  </a:lnTo>
                  <a:lnTo>
                    <a:pt x="674509" y="19443"/>
                  </a:lnTo>
                  <a:close/>
                </a:path>
                <a:path w="2363470" h="78740">
                  <a:moveTo>
                    <a:pt x="1198994" y="0"/>
                  </a:moveTo>
                  <a:lnTo>
                    <a:pt x="1106551" y="0"/>
                  </a:lnTo>
                  <a:lnTo>
                    <a:pt x="1106551" y="78155"/>
                  </a:lnTo>
                  <a:lnTo>
                    <a:pt x="1198994" y="78155"/>
                  </a:lnTo>
                  <a:lnTo>
                    <a:pt x="1198994" y="0"/>
                  </a:lnTo>
                  <a:close/>
                </a:path>
                <a:path w="2363470" h="78740">
                  <a:moveTo>
                    <a:pt x="1785543" y="11849"/>
                  </a:moveTo>
                  <a:lnTo>
                    <a:pt x="1645310" y="11849"/>
                  </a:lnTo>
                  <a:lnTo>
                    <a:pt x="1645310" y="78155"/>
                  </a:lnTo>
                  <a:lnTo>
                    <a:pt x="1785543" y="78155"/>
                  </a:lnTo>
                  <a:lnTo>
                    <a:pt x="1785543" y="11849"/>
                  </a:lnTo>
                  <a:close/>
                </a:path>
                <a:path w="2363470" h="78740">
                  <a:moveTo>
                    <a:pt x="2363076" y="11849"/>
                  </a:moveTo>
                  <a:lnTo>
                    <a:pt x="2222843" y="11849"/>
                  </a:lnTo>
                  <a:lnTo>
                    <a:pt x="2222843" y="78155"/>
                  </a:lnTo>
                  <a:lnTo>
                    <a:pt x="2363076" y="78155"/>
                  </a:lnTo>
                  <a:lnTo>
                    <a:pt x="2363076" y="11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08386" y="390256"/>
            <a:ext cx="3469004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  <a:tabLst>
                <a:tab pos="562610" algn="l"/>
                <a:tab pos="1122680" algn="l"/>
                <a:tab pos="1692910" algn="l"/>
                <a:tab pos="2207895" algn="l"/>
                <a:tab pos="2785110" algn="l"/>
                <a:tab pos="3327400" algn="l"/>
              </a:tabLst>
            </a:pPr>
            <a:r>
              <a:rPr sz="700" spc="-50" dirty="0">
                <a:latin typeface="Calibri"/>
                <a:cs typeface="Calibri"/>
              </a:rPr>
              <a:t>1</a:t>
            </a:r>
            <a:r>
              <a:rPr sz="700" dirty="0">
                <a:latin typeface="Calibri"/>
                <a:cs typeface="Calibri"/>
              </a:rPr>
              <a:t>	</a:t>
            </a:r>
            <a:r>
              <a:rPr sz="700" spc="-25" dirty="0">
                <a:latin typeface="Calibri"/>
                <a:cs typeface="Calibri"/>
              </a:rPr>
              <a:t>0</a:t>
            </a:r>
            <a:r>
              <a:rPr sz="700" i="1" spc="-25" dirty="0">
                <a:latin typeface="Arial"/>
                <a:cs typeface="Arial"/>
              </a:rPr>
              <a:t>.</a:t>
            </a:r>
            <a:r>
              <a:rPr sz="700" spc="-25" dirty="0">
                <a:latin typeface="Calibri"/>
                <a:cs typeface="Calibri"/>
              </a:rPr>
              <a:t>8</a:t>
            </a:r>
            <a:r>
              <a:rPr sz="700" dirty="0">
                <a:latin typeface="Calibri"/>
                <a:cs typeface="Calibri"/>
              </a:rPr>
              <a:t>	</a:t>
            </a:r>
            <a:r>
              <a:rPr sz="700" spc="-25" dirty="0">
                <a:latin typeface="Calibri"/>
                <a:cs typeface="Calibri"/>
              </a:rPr>
              <a:t>0</a:t>
            </a:r>
            <a:r>
              <a:rPr sz="700" i="1" spc="-25" dirty="0">
                <a:latin typeface="Arial"/>
                <a:cs typeface="Arial"/>
              </a:rPr>
              <a:t>.</a:t>
            </a:r>
            <a:r>
              <a:rPr sz="700" spc="-25" dirty="0">
                <a:latin typeface="Calibri"/>
                <a:cs typeface="Calibri"/>
              </a:rPr>
              <a:t>4</a:t>
            </a:r>
            <a:r>
              <a:rPr sz="700" dirty="0">
                <a:latin typeface="Calibri"/>
                <a:cs typeface="Calibri"/>
              </a:rPr>
              <a:t>	</a:t>
            </a:r>
            <a:r>
              <a:rPr sz="1050" spc="-75" baseline="7936" dirty="0">
                <a:latin typeface="Calibri"/>
                <a:cs typeface="Calibri"/>
              </a:rPr>
              <a:t>0</a:t>
            </a:r>
            <a:r>
              <a:rPr sz="1050" baseline="7936" dirty="0">
                <a:latin typeface="Calibri"/>
                <a:cs typeface="Calibri"/>
              </a:rPr>
              <a:t>	</a:t>
            </a:r>
            <a:r>
              <a:rPr sz="1050" i="1" spc="44" baseline="3968" dirty="0">
                <a:latin typeface="Cambria"/>
                <a:cs typeface="Cambria"/>
              </a:rPr>
              <a:t>−</a:t>
            </a:r>
            <a:r>
              <a:rPr sz="1050" i="1" spc="44" baseline="3968" dirty="0">
                <a:latin typeface="Arial"/>
                <a:cs typeface="Arial"/>
              </a:rPr>
              <a:t>.</a:t>
            </a:r>
            <a:r>
              <a:rPr sz="1050" spc="44" baseline="3968" dirty="0">
                <a:latin typeface="Calibri"/>
                <a:cs typeface="Calibri"/>
              </a:rPr>
              <a:t>4</a:t>
            </a:r>
            <a:r>
              <a:rPr sz="1050" baseline="3968" dirty="0">
                <a:latin typeface="Calibri"/>
                <a:cs typeface="Calibri"/>
              </a:rPr>
              <a:t>	</a:t>
            </a:r>
            <a:r>
              <a:rPr sz="1050" i="1" spc="44" baseline="3968" dirty="0">
                <a:latin typeface="Cambria"/>
                <a:cs typeface="Cambria"/>
              </a:rPr>
              <a:t>−</a:t>
            </a:r>
            <a:r>
              <a:rPr sz="1050" i="1" spc="44" baseline="3968" dirty="0">
                <a:latin typeface="Arial"/>
                <a:cs typeface="Arial"/>
              </a:rPr>
              <a:t>.</a:t>
            </a:r>
            <a:r>
              <a:rPr sz="1050" spc="44" baseline="3968" dirty="0">
                <a:latin typeface="Calibri"/>
                <a:cs typeface="Calibri"/>
              </a:rPr>
              <a:t>8</a:t>
            </a:r>
            <a:r>
              <a:rPr sz="1050" baseline="3968" dirty="0">
                <a:latin typeface="Calibri"/>
                <a:cs typeface="Calibri"/>
              </a:rPr>
              <a:t>	</a:t>
            </a:r>
            <a:r>
              <a:rPr sz="1050" i="1" spc="97" baseline="3968" dirty="0">
                <a:latin typeface="Cambria"/>
                <a:cs typeface="Cambria"/>
              </a:rPr>
              <a:t>−</a:t>
            </a:r>
            <a:r>
              <a:rPr sz="1050" spc="97" baseline="3968" dirty="0">
                <a:latin typeface="Calibri"/>
                <a:cs typeface="Calibri"/>
              </a:rPr>
              <a:t>1</a:t>
            </a:r>
            <a:endParaRPr sz="1050" baseline="3968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7959" y="3081964"/>
            <a:ext cx="3831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sz="1000" spc="-5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75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i="1" spc="-45" dirty="0">
                <a:latin typeface="Arial"/>
                <a:cs typeface="Arial"/>
              </a:rPr>
              <a:t>y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spc="-40" dirty="0">
                <a:latin typeface="Tahoma"/>
                <a:cs typeface="Tahoma"/>
              </a:rPr>
              <a:t>-</a:t>
            </a:r>
            <a:r>
              <a:rPr sz="1000" spc="-25" dirty="0">
                <a:latin typeface="Tahoma"/>
                <a:cs typeface="Tahoma"/>
              </a:rPr>
              <a:t>axis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represent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variables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-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their</a:t>
            </a:r>
            <a:r>
              <a:rPr sz="1000" spc="-30" dirty="0">
                <a:latin typeface="Tahoma"/>
                <a:cs typeface="Tahoma"/>
              </a:rPr>
              <a:t> correlations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top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40" name="object 4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45" dirty="0"/>
              <a:t>Correlation</a:t>
            </a:r>
            <a:r>
              <a:rPr dirty="0"/>
              <a:t> </a:t>
            </a:r>
            <a:r>
              <a:rPr spc="-10" dirty="0"/>
              <a:t>matrix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206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06862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31662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73668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305" y="466076"/>
            <a:ext cx="4259580" cy="1372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multi-</a:t>
            </a:r>
            <a:r>
              <a:rPr sz="1100" spc="-25" dirty="0">
                <a:latin typeface="Tahoma"/>
                <a:cs typeface="Tahoma"/>
              </a:rPr>
              <a:t>variate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numeric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correlation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</a:t>
            </a:r>
            <a:endParaRPr sz="1100">
              <a:latin typeface="Tahoma"/>
              <a:cs typeface="Tahoma"/>
            </a:endParaRPr>
          </a:p>
          <a:p>
            <a:pPr marL="289560" marR="482600">
              <a:lnSpc>
                <a:spcPct val="147900"/>
              </a:lnSpc>
              <a:spcBef>
                <a:spcPts val="13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table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pairwise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correlation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coefficients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 </a:t>
            </a:r>
            <a:r>
              <a:rPr sz="1100" dirty="0">
                <a:latin typeface="Tahoma"/>
                <a:cs typeface="Tahoma"/>
              </a:rPr>
              <a:t>Each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cell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shows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correlation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variables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595"/>
              </a:spcBef>
            </a:pPr>
            <a:r>
              <a:rPr sz="1100" spc="-30" dirty="0">
                <a:latin typeface="Tahoma"/>
                <a:cs typeface="Tahoma"/>
              </a:rPr>
              <a:t>Used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summarize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input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advanced</a:t>
            </a:r>
            <a:r>
              <a:rPr sz="1100" spc="-40" dirty="0">
                <a:latin typeface="Tahoma"/>
                <a:cs typeface="Tahoma"/>
              </a:rPr>
              <a:t> analysis,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diagnostic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advanced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analyses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35"/>
              </a:spcBef>
            </a:pPr>
            <a:r>
              <a:rPr sz="1100" dirty="0">
                <a:latin typeface="Tahoma"/>
                <a:cs typeface="Tahoma"/>
              </a:rPr>
              <a:t>Also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remove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redundant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982" y="1962735"/>
            <a:ext cx="3672018" cy="118656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21930"/>
            <a:ext cx="4472940" cy="777875"/>
            <a:chOff x="93204" y="1021930"/>
            <a:chExt cx="4472940" cy="777875"/>
          </a:xfrm>
        </p:grpSpPr>
        <p:sp>
          <p:nvSpPr>
            <p:cNvPr id="3" name="object 3"/>
            <p:cNvSpPr/>
            <p:nvPr/>
          </p:nvSpPr>
          <p:spPr>
            <a:xfrm>
              <a:off x="93204" y="1021930"/>
              <a:ext cx="4422140" cy="82550"/>
            </a:xfrm>
            <a:custGeom>
              <a:avLst/>
              <a:gdLst/>
              <a:ahLst/>
              <a:cxnLst/>
              <a:rect l="l" t="t" r="r" b="b"/>
              <a:pathLst>
                <a:path w="4422140" h="82550">
                  <a:moveTo>
                    <a:pt x="437085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21658" y="82384"/>
                  </a:lnTo>
                  <a:lnTo>
                    <a:pt x="4421658" y="50800"/>
                  </a:lnTo>
                  <a:lnTo>
                    <a:pt x="4417649" y="31075"/>
                  </a:lnTo>
                  <a:lnTo>
                    <a:pt x="4406735" y="14922"/>
                  </a:lnTo>
                  <a:lnTo>
                    <a:pt x="4390582" y="4008"/>
                  </a:lnTo>
                  <a:lnTo>
                    <a:pt x="43708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085189"/>
              <a:ext cx="4422140" cy="715010"/>
            </a:xfrm>
            <a:custGeom>
              <a:avLst/>
              <a:gdLst/>
              <a:ahLst/>
              <a:cxnLst/>
              <a:rect l="l" t="t" r="r" b="b"/>
              <a:pathLst>
                <a:path w="4422140" h="715010">
                  <a:moveTo>
                    <a:pt x="4421658" y="0"/>
                  </a:moveTo>
                  <a:lnTo>
                    <a:pt x="0" y="0"/>
                  </a:lnTo>
                  <a:lnTo>
                    <a:pt x="0" y="714554"/>
                  </a:lnTo>
                  <a:lnTo>
                    <a:pt x="4421658" y="714554"/>
                  </a:lnTo>
                  <a:lnTo>
                    <a:pt x="44216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66352"/>
              <a:ext cx="4422140" cy="682625"/>
            </a:xfrm>
            <a:custGeom>
              <a:avLst/>
              <a:gdLst/>
              <a:ahLst/>
              <a:cxnLst/>
              <a:rect l="l" t="t" r="r" b="b"/>
              <a:pathLst>
                <a:path w="4422140" h="682625">
                  <a:moveTo>
                    <a:pt x="4421658" y="0"/>
                  </a:moveTo>
                  <a:lnTo>
                    <a:pt x="0" y="0"/>
                  </a:lnTo>
                  <a:lnTo>
                    <a:pt x="0" y="631789"/>
                  </a:lnTo>
                  <a:lnTo>
                    <a:pt x="4008" y="651514"/>
                  </a:lnTo>
                  <a:lnTo>
                    <a:pt x="14922" y="667667"/>
                  </a:lnTo>
                  <a:lnTo>
                    <a:pt x="31075" y="678581"/>
                  </a:lnTo>
                  <a:lnTo>
                    <a:pt x="50800" y="682590"/>
                  </a:lnTo>
                  <a:lnTo>
                    <a:pt x="4370857" y="682590"/>
                  </a:lnTo>
                  <a:lnTo>
                    <a:pt x="4390582" y="678581"/>
                  </a:lnTo>
                  <a:lnTo>
                    <a:pt x="4406735" y="667667"/>
                  </a:lnTo>
                  <a:lnTo>
                    <a:pt x="4417649" y="651514"/>
                  </a:lnTo>
                  <a:lnTo>
                    <a:pt x="4421658" y="631789"/>
                  </a:lnTo>
                  <a:lnTo>
                    <a:pt x="4421658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005" y="1085189"/>
            <a:ext cx="4422140" cy="71501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R="139700" algn="ctr">
              <a:lnSpc>
                <a:spcPct val="100000"/>
              </a:lnSpc>
              <a:spcBef>
                <a:spcPts val="930"/>
              </a:spcBef>
            </a:pPr>
            <a:r>
              <a:rPr sz="2050" u="none" spc="-85" dirty="0"/>
              <a:t>Graphical</a:t>
            </a:r>
            <a:r>
              <a:rPr sz="2050" u="none" spc="-80" dirty="0"/>
              <a:t> </a:t>
            </a:r>
            <a:r>
              <a:rPr sz="2050" u="none" spc="-25" dirty="0"/>
              <a:t>EDA</a:t>
            </a:r>
            <a:endParaRPr sz="2050"/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40" dirty="0"/>
              <a:t>Diagrammatic</a:t>
            </a:r>
            <a:r>
              <a:rPr spc="-25" dirty="0"/>
              <a:t> </a:t>
            </a:r>
            <a:r>
              <a:rPr spc="-65" dirty="0"/>
              <a:t>Representations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504023"/>
            <a:ext cx="4043045" cy="15278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Easy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understand:</a:t>
            </a:r>
            <a:r>
              <a:rPr sz="1100" spc="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Numbers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tell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story.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Diagrammatic </a:t>
            </a:r>
            <a:r>
              <a:rPr sz="1100" spc="-45" dirty="0">
                <a:latin typeface="Tahoma"/>
                <a:cs typeface="Tahoma"/>
              </a:rPr>
              <a:t>representation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data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makes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easier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understand</a:t>
            </a:r>
            <a:endParaRPr sz="1100">
              <a:latin typeface="Tahoma"/>
              <a:cs typeface="Tahoma"/>
            </a:endParaRPr>
          </a:p>
          <a:p>
            <a:pPr marL="12700" marR="355600">
              <a:lnSpc>
                <a:spcPct val="102600"/>
              </a:lnSpc>
              <a:spcBef>
                <a:spcPts val="800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Simplified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Presentation:</a:t>
            </a:r>
            <a:r>
              <a:rPr sz="1100" spc="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volumes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complex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 </a:t>
            </a:r>
            <a:r>
              <a:rPr sz="1100" spc="-60" dirty="0">
                <a:latin typeface="Tahoma"/>
                <a:cs typeface="Tahoma"/>
              </a:rPr>
              <a:t>represented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simplified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intelligible</a:t>
            </a:r>
            <a:r>
              <a:rPr sz="1100" spc="-10" dirty="0">
                <a:latin typeface="Tahoma"/>
                <a:cs typeface="Tahoma"/>
              </a:rPr>
              <a:t> diagram</a:t>
            </a:r>
            <a:endParaRPr sz="1100">
              <a:latin typeface="Tahoma"/>
              <a:cs typeface="Tahoma"/>
            </a:endParaRPr>
          </a:p>
          <a:p>
            <a:pPr marL="12700" marR="213995">
              <a:lnSpc>
                <a:spcPct val="102699"/>
              </a:lnSpc>
              <a:spcBef>
                <a:spcPts val="795"/>
              </a:spcBef>
            </a:pP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Reveals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hidden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facts:</a:t>
            </a:r>
            <a:r>
              <a:rPr sz="1100" spc="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Diagrams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help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bringing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facts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35" dirty="0">
                <a:latin typeface="Tahoma"/>
                <a:cs typeface="Tahoma"/>
              </a:rPr>
              <a:t>relationships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noticeable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raw/tabular </a:t>
            </a:r>
            <a:r>
              <a:rPr sz="1100" spc="-20" dirty="0">
                <a:latin typeface="Tahoma"/>
                <a:cs typeface="Tahoma"/>
              </a:rPr>
              <a:t>form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Easy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compare:</a:t>
            </a:r>
            <a:r>
              <a:rPr sz="1100" spc="10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Diagrams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make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easier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compare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103907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48443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92981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30" dirty="0"/>
              <a:t>Visualizing</a:t>
            </a:r>
            <a:r>
              <a:rPr spc="-55" dirty="0"/>
              <a:t> </a:t>
            </a:r>
            <a:r>
              <a:rPr dirty="0"/>
              <a:t>Data</a:t>
            </a:r>
            <a:r>
              <a:rPr spc="-50" dirty="0"/>
              <a:t> </a:t>
            </a:r>
            <a:r>
              <a:rPr spc="-40" dirty="0"/>
              <a:t>for</a:t>
            </a:r>
            <a:r>
              <a:rPr spc="-50" dirty="0"/>
              <a:t> </a:t>
            </a:r>
            <a:r>
              <a:rPr spc="-10" dirty="0"/>
              <a:t>Insight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110992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31996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52999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05" y="466076"/>
            <a:ext cx="4234180" cy="13760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40" dirty="0">
                <a:latin typeface="Arial"/>
                <a:cs typeface="Arial"/>
              </a:rPr>
              <a:t>Purpose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Graphical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EDA: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reveal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underlying</a:t>
            </a:r>
            <a:r>
              <a:rPr sz="1100" spc="-35" dirty="0">
                <a:latin typeface="Tahoma"/>
                <a:cs typeface="Tahoma"/>
              </a:rPr>
              <a:t> structures, </a:t>
            </a:r>
            <a:r>
              <a:rPr sz="1100" spc="-10" dirty="0">
                <a:latin typeface="Tahoma"/>
                <a:cs typeface="Tahoma"/>
              </a:rPr>
              <a:t>detect </a:t>
            </a:r>
            <a:r>
              <a:rPr sz="1100" spc="-25" dirty="0">
                <a:latin typeface="Tahoma"/>
                <a:cs typeface="Tahoma"/>
              </a:rPr>
              <a:t>outliers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45" dirty="0">
                <a:latin typeface="Tahoma"/>
                <a:cs typeface="Tahoma"/>
              </a:rPr>
              <a:t>anomalies,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understand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patterns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within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through </a:t>
            </a:r>
            <a:r>
              <a:rPr sz="1100" spc="-25" dirty="0">
                <a:latin typeface="Tahoma"/>
                <a:cs typeface="Tahoma"/>
              </a:rPr>
              <a:t>visual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methods.</a:t>
            </a:r>
            <a:endParaRPr sz="1100">
              <a:latin typeface="Tahoma"/>
              <a:cs typeface="Tahoma"/>
            </a:endParaRPr>
          </a:p>
          <a:p>
            <a:pPr marL="289560" marR="828675">
              <a:lnSpc>
                <a:spcPct val="125299"/>
              </a:lnSpc>
            </a:pPr>
            <a:r>
              <a:rPr sz="1100" spc="-25" dirty="0">
                <a:latin typeface="Tahoma"/>
                <a:cs typeface="Tahoma"/>
              </a:rPr>
              <a:t>Simplifies </a:t>
            </a:r>
            <a:r>
              <a:rPr sz="1100" spc="-40" dirty="0">
                <a:latin typeface="Tahoma"/>
                <a:cs typeface="Tahoma"/>
              </a:rPr>
              <a:t>complex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quantitative </a:t>
            </a:r>
            <a:r>
              <a:rPr sz="1100" spc="-10" dirty="0">
                <a:latin typeface="Tahoma"/>
                <a:cs typeface="Tahoma"/>
              </a:rPr>
              <a:t>information. Facilitates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faster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comprehension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decision-</a:t>
            </a:r>
            <a:r>
              <a:rPr sz="1100" spc="-35" dirty="0">
                <a:latin typeface="Tahoma"/>
                <a:cs typeface="Tahoma"/>
              </a:rPr>
              <a:t>making. </a:t>
            </a:r>
            <a:r>
              <a:rPr sz="1100" spc="-25" dirty="0">
                <a:latin typeface="Tahoma"/>
                <a:cs typeface="Tahoma"/>
              </a:rPr>
              <a:t>Helps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spotting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trends,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patterns,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outliers.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40" dirty="0">
                <a:latin typeface="Arial"/>
                <a:cs typeface="Arial"/>
              </a:rPr>
              <a:t>Common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Tools:</a:t>
            </a:r>
            <a:r>
              <a:rPr sz="1100" b="1" spc="9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Histograms,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plots,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Scatter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plots,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etc.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10" dirty="0"/>
              <a:t>Diagrams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305" y="368818"/>
            <a:ext cx="4345940" cy="55245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briefly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discuss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types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diagrams</a:t>
            </a:r>
            <a:endParaRPr sz="1100">
              <a:latin typeface="Tahoma"/>
              <a:cs typeface="Tahoma"/>
            </a:endParaRPr>
          </a:p>
          <a:p>
            <a:pPr marL="1831339">
              <a:lnSpc>
                <a:spcPct val="100000"/>
              </a:lnSpc>
              <a:spcBef>
                <a:spcPts val="755"/>
              </a:spcBef>
            </a:pPr>
            <a:r>
              <a:rPr sz="1100" spc="-335" dirty="0">
                <a:latin typeface="Lucida Sans Unicode"/>
                <a:cs typeface="Lucida Sans Unicode"/>
              </a:rPr>
              <a:t>▷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More</a:t>
            </a:r>
            <a:r>
              <a:rPr sz="1100" spc="-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importance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visualization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later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0245" y="112074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8393" y="949348"/>
            <a:ext cx="1023619" cy="200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0990">
              <a:lnSpc>
                <a:spcPct val="147900"/>
              </a:lnSpc>
              <a:spcBef>
                <a:spcPts val="100"/>
              </a:spcBef>
            </a:pPr>
            <a:r>
              <a:rPr sz="1100" dirty="0">
                <a:latin typeface="Tahoma"/>
                <a:cs typeface="Tahoma"/>
              </a:rPr>
              <a:t>Bar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Charts Histogram </a:t>
            </a:r>
            <a:r>
              <a:rPr sz="1100" dirty="0">
                <a:latin typeface="Tahoma"/>
                <a:cs typeface="Tahoma"/>
              </a:rPr>
              <a:t>Box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Plot Scatter Plot </a:t>
            </a:r>
            <a:r>
              <a:rPr sz="1100" dirty="0">
                <a:latin typeface="Tahoma"/>
                <a:cs typeface="Tahoma"/>
              </a:rPr>
              <a:t>Heat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map </a:t>
            </a:r>
            <a:r>
              <a:rPr sz="1100" dirty="0">
                <a:latin typeface="Tahoma"/>
                <a:cs typeface="Tahoma"/>
              </a:rPr>
              <a:t>Line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Graph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47900"/>
              </a:lnSpc>
            </a:pPr>
            <a:r>
              <a:rPr sz="1100" spc="-20" dirty="0">
                <a:latin typeface="Tahoma"/>
                <a:cs typeface="Tahoma"/>
              </a:rPr>
              <a:t>Parallel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Axis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Plot </a:t>
            </a:r>
            <a:r>
              <a:rPr sz="1100" spc="-40" dirty="0">
                <a:latin typeface="Tahoma"/>
                <a:cs typeface="Tahoma"/>
              </a:rPr>
              <a:t>Word-</a:t>
            </a:r>
            <a:r>
              <a:rPr sz="1100" spc="-10" dirty="0">
                <a:latin typeface="Tahoma"/>
                <a:cs typeface="Tahoma"/>
              </a:rPr>
              <a:t>Cloud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245" y="136872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35"/>
              </a:spcBef>
            </a:pPr>
            <a:r>
              <a:rPr spc="-335" dirty="0">
                <a:latin typeface="Lucida Sans Unicode"/>
                <a:cs typeface="Lucida Sans Unicode"/>
              </a:rPr>
              <a:t>▷</a:t>
            </a:r>
            <a:r>
              <a:rPr spc="15" dirty="0">
                <a:latin typeface="Lucida Sans Unicode"/>
                <a:cs typeface="Lucida Sans Unicode"/>
              </a:rPr>
              <a:t> </a:t>
            </a:r>
            <a:r>
              <a:rPr spc="-35" dirty="0"/>
              <a:t>and</a:t>
            </a:r>
            <a:r>
              <a:rPr spc="-45" dirty="0"/>
              <a:t> </a:t>
            </a:r>
            <a:r>
              <a:rPr spc="-25" dirty="0"/>
              <a:t>also</a:t>
            </a:r>
            <a:r>
              <a:rPr spc="-10" dirty="0"/>
              <a:t> </a:t>
            </a:r>
            <a:r>
              <a:rPr spc="-45" dirty="0"/>
              <a:t>overlapping</a:t>
            </a:r>
            <a:r>
              <a:rPr spc="-10" dirty="0"/>
              <a:t> </a:t>
            </a:r>
            <a:r>
              <a:rPr spc="-35" dirty="0"/>
              <a:t>histogram</a:t>
            </a:r>
          </a:p>
          <a:p>
            <a:pPr marR="5080" algn="r">
              <a:lnSpc>
                <a:spcPct val="100000"/>
              </a:lnSpc>
              <a:spcBef>
                <a:spcPts val="630"/>
              </a:spcBef>
            </a:pPr>
            <a:r>
              <a:rPr spc="-335" dirty="0">
                <a:latin typeface="Lucida Sans Unicode"/>
                <a:cs typeface="Lucida Sans Unicode"/>
              </a:rPr>
              <a:t>▷</a:t>
            </a:r>
            <a:r>
              <a:rPr spc="15" dirty="0">
                <a:latin typeface="Lucida Sans Unicode"/>
                <a:cs typeface="Lucida Sans Unicode"/>
              </a:rPr>
              <a:t> </a:t>
            </a:r>
            <a:r>
              <a:rPr spc="-35" dirty="0"/>
              <a:t>and</a:t>
            </a:r>
            <a:r>
              <a:rPr spc="-30" dirty="0"/>
              <a:t> </a:t>
            </a:r>
            <a:r>
              <a:rPr spc="-25" dirty="0"/>
              <a:t>also</a:t>
            </a:r>
            <a:r>
              <a:rPr spc="-5" dirty="0"/>
              <a:t> </a:t>
            </a:r>
            <a:r>
              <a:rPr spc="-55" dirty="0"/>
              <a:t>side-</a:t>
            </a:r>
            <a:r>
              <a:rPr spc="-70" dirty="0"/>
              <a:t>by-</a:t>
            </a:r>
            <a:r>
              <a:rPr spc="-30" dirty="0"/>
              <a:t>side</a:t>
            </a:r>
            <a:r>
              <a:rPr spc="-5" dirty="0"/>
              <a:t> </a:t>
            </a:r>
            <a:r>
              <a:rPr spc="-55" dirty="0"/>
              <a:t>box-</a:t>
            </a:r>
            <a:r>
              <a:rPr spc="-10" dirty="0"/>
              <a:t>plots</a:t>
            </a:r>
          </a:p>
          <a:p>
            <a:pPr marR="5080" algn="r">
              <a:lnSpc>
                <a:spcPct val="100000"/>
              </a:lnSpc>
              <a:spcBef>
                <a:spcPts val="635"/>
              </a:spcBef>
            </a:pPr>
            <a:r>
              <a:rPr spc="-335" dirty="0">
                <a:latin typeface="Lucida Sans Unicode"/>
                <a:cs typeface="Lucida Sans Unicode"/>
              </a:rPr>
              <a:t>▷</a:t>
            </a:r>
            <a:r>
              <a:rPr spc="15" dirty="0">
                <a:latin typeface="Lucida Sans Unicode"/>
                <a:cs typeface="Lucida Sans Unicode"/>
              </a:rPr>
              <a:t> </a:t>
            </a:r>
            <a:r>
              <a:rPr spc="-35" dirty="0"/>
              <a:t>and</a:t>
            </a:r>
            <a:r>
              <a:rPr spc="-55" dirty="0"/>
              <a:t> </a:t>
            </a:r>
            <a:r>
              <a:rPr spc="-25" dirty="0"/>
              <a:t>scatter</a:t>
            </a:r>
            <a:r>
              <a:rPr spc="-45" dirty="0"/>
              <a:t> </a:t>
            </a:r>
            <a:r>
              <a:rPr dirty="0"/>
              <a:t>plot</a:t>
            </a:r>
            <a:r>
              <a:rPr spc="-30" dirty="0"/>
              <a:t> </a:t>
            </a:r>
            <a:r>
              <a:rPr spc="-10" dirty="0"/>
              <a:t>matrix</a:t>
            </a:r>
          </a:p>
        </p:txBody>
      </p:sp>
      <p:sp>
        <p:nvSpPr>
          <p:cNvPr id="8" name="object 8"/>
          <p:cNvSpPr/>
          <p:nvPr/>
        </p:nvSpPr>
        <p:spPr>
          <a:xfrm>
            <a:off x="290245" y="161672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186471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11270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0245" y="236068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0245" y="260868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0245" y="285667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dirty="0"/>
              <a:t>Bar</a:t>
            </a:r>
            <a:r>
              <a:rPr spc="-80" dirty="0"/>
              <a:t> </a:t>
            </a:r>
            <a:r>
              <a:rPr spc="-10" dirty="0"/>
              <a:t>charts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4797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389214"/>
            <a:ext cx="4068445" cy="160972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spc="-35" dirty="0">
                <a:latin typeface="Tahoma"/>
                <a:cs typeface="Tahoma"/>
              </a:rPr>
              <a:t>Generally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nominal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spc="-30" dirty="0">
                <a:latin typeface="Tahoma"/>
                <a:cs typeface="Tahoma"/>
              </a:rPr>
              <a:t>ordinal </a:t>
            </a:r>
            <a:r>
              <a:rPr sz="1100" spc="-10" dirty="0">
                <a:latin typeface="Tahoma"/>
                <a:cs typeface="Tahoma"/>
              </a:rPr>
              <a:t>variables</a:t>
            </a:r>
            <a:endParaRPr sz="1100">
              <a:latin typeface="Tahoma"/>
              <a:cs typeface="Tahoma"/>
            </a:endParaRPr>
          </a:p>
          <a:p>
            <a:pPr marL="12700" marR="105410">
              <a:lnSpc>
                <a:spcPct val="102600"/>
              </a:lnSpc>
              <a:spcBef>
                <a:spcPts val="495"/>
              </a:spcBef>
            </a:pPr>
            <a:r>
              <a:rPr sz="1100" spc="-25" dirty="0">
                <a:latin typeface="Tahoma"/>
                <a:cs typeface="Tahoma"/>
              </a:rPr>
              <a:t>Different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bars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(usually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colored/shaded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differently)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0" dirty="0">
                <a:latin typeface="Tahoma"/>
                <a:cs typeface="Tahoma"/>
              </a:rPr>
              <a:t> distinct </a:t>
            </a:r>
            <a:r>
              <a:rPr sz="1100" spc="-45" dirty="0">
                <a:latin typeface="Tahoma"/>
                <a:cs typeface="Tahoma"/>
              </a:rPr>
              <a:t>values </a:t>
            </a:r>
            <a:r>
              <a:rPr sz="1100" spc="-35" dirty="0">
                <a:latin typeface="Tahoma"/>
                <a:cs typeface="Tahoma"/>
              </a:rPr>
              <a:t>(levels,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categories,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symbols)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20" dirty="0">
                <a:latin typeface="Tahoma"/>
                <a:cs typeface="Tahoma"/>
              </a:rPr>
              <a:t>Height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bar </a:t>
            </a:r>
            <a:r>
              <a:rPr sz="1100" spc="-50" dirty="0">
                <a:latin typeface="Tahoma"/>
                <a:cs typeface="Tahoma"/>
              </a:rPr>
              <a:t>represent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frequencies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 </a:t>
            </a:r>
            <a:r>
              <a:rPr sz="1100" spc="-30" dirty="0">
                <a:latin typeface="Tahoma"/>
                <a:cs typeface="Tahoma"/>
              </a:rPr>
              <a:t>symbol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(value)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40400"/>
              </a:lnSpc>
            </a:pPr>
            <a:r>
              <a:rPr sz="1100" spc="-10" dirty="0">
                <a:latin typeface="Tahoma"/>
                <a:cs typeface="Tahoma"/>
              </a:rPr>
              <a:t>Can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reveal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variables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limited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e.g.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constants </a:t>
            </a:r>
            <a:r>
              <a:rPr sz="1100" dirty="0">
                <a:latin typeface="Tahoma"/>
                <a:cs typeface="Tahoma"/>
              </a:rPr>
              <a:t>Note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pie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charts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purpose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too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Humans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perceive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difference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in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lengths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better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than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in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angles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78332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19072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42607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66140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189674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971" y="2229985"/>
            <a:ext cx="1721902" cy="6190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5388" y="2162377"/>
            <a:ext cx="1904428" cy="769468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10" dirty="0"/>
              <a:t>Histograms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0001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10335"/>
            <a:ext cx="3771265" cy="13950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81915">
              <a:lnSpc>
                <a:spcPct val="102699"/>
              </a:lnSpc>
              <a:spcBef>
                <a:spcPts val="55"/>
              </a:spcBef>
            </a:pPr>
            <a:r>
              <a:rPr sz="1100" spc="-45" dirty="0">
                <a:latin typeface="Tahoma"/>
                <a:cs typeface="Tahoma"/>
              </a:rPr>
              <a:t>Represent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distribution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numeric/continuous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variable </a:t>
            </a:r>
            <a:r>
              <a:rPr sz="1100" spc="-40" dirty="0">
                <a:latin typeface="Tahoma"/>
                <a:cs typeface="Tahoma"/>
              </a:rPr>
              <a:t>(estimates </a:t>
            </a:r>
            <a:r>
              <a:rPr sz="1100" spc="-30" dirty="0">
                <a:latin typeface="Tahoma"/>
                <a:cs typeface="Tahoma"/>
              </a:rPr>
              <a:t>probability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distribution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numeric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variable)</a:t>
            </a:r>
            <a:endParaRPr sz="1100">
              <a:latin typeface="Tahoma"/>
              <a:cs typeface="Tahoma"/>
            </a:endParaRPr>
          </a:p>
          <a:p>
            <a:pPr marL="12700" marR="106680">
              <a:lnSpc>
                <a:spcPct val="102600"/>
              </a:lnSpc>
              <a:spcBef>
                <a:spcPts val="450"/>
              </a:spcBef>
            </a:pPr>
            <a:r>
              <a:rPr sz="1100" spc="-30" dirty="0">
                <a:latin typeface="Tahoma"/>
                <a:cs typeface="Tahoma"/>
              </a:rPr>
              <a:t>Group</a:t>
            </a:r>
            <a:r>
              <a:rPr sz="1100" spc="-40" dirty="0">
                <a:latin typeface="Tahoma"/>
                <a:cs typeface="Tahoma"/>
              </a:rPr>
              <a:t> values</a:t>
            </a:r>
            <a:r>
              <a:rPr sz="1100" spc="-35" dirty="0">
                <a:latin typeface="Tahoma"/>
                <a:cs typeface="Tahoma"/>
              </a:rPr>
              <a:t> 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intervals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(bins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usually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consecutive </a:t>
            </a:r>
            <a:r>
              <a:rPr sz="1100" spc="-60" dirty="0">
                <a:latin typeface="Tahoma"/>
                <a:cs typeface="Tahoma"/>
              </a:rPr>
              <a:t>non-</a:t>
            </a:r>
            <a:r>
              <a:rPr sz="1100" spc="-45" dirty="0">
                <a:latin typeface="Tahoma"/>
                <a:cs typeface="Tahoma"/>
              </a:rPr>
              <a:t>overlapping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subintervals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covering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range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data)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445"/>
              </a:spcBef>
            </a:pPr>
            <a:r>
              <a:rPr sz="1100" dirty="0">
                <a:latin typeface="Tahoma"/>
                <a:cs typeface="Tahoma"/>
              </a:rPr>
              <a:t>Plot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falling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(represented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25" dirty="0">
                <a:latin typeface="Tahoma"/>
                <a:cs typeface="Tahoma"/>
              </a:rPr>
              <a:t> the </a:t>
            </a:r>
            <a:r>
              <a:rPr sz="1100" spc="-30" dirty="0">
                <a:latin typeface="Tahoma"/>
                <a:cs typeface="Tahoma"/>
              </a:rPr>
              <a:t>height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bar)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100" spc="-30" dirty="0">
                <a:latin typeface="Tahoma"/>
                <a:cs typeface="Tahoma"/>
              </a:rPr>
              <a:t>Normalized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histogram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shows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proportion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bin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90110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30219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70327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3055" y="1885861"/>
            <a:ext cx="2449372" cy="133670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49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10" dirty="0"/>
              <a:t>Histograms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94865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20929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4699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73057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99122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225186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51251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1305" y="466076"/>
            <a:ext cx="3689350" cy="21488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histogram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appropriate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number/length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bins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reveals</a:t>
            </a:r>
            <a:endParaRPr sz="1100">
              <a:latin typeface="Tahoma"/>
              <a:cs typeface="Tahoma"/>
            </a:endParaRPr>
          </a:p>
          <a:p>
            <a:pPr marL="289560" marR="1320800">
              <a:lnSpc>
                <a:spcPct val="155500"/>
              </a:lnSpc>
              <a:spcBef>
                <a:spcPts val="1040"/>
              </a:spcBef>
            </a:pPr>
            <a:r>
              <a:rPr sz="1100" spc="-30" dirty="0">
                <a:latin typeface="Tahoma"/>
                <a:cs typeface="Tahoma"/>
              </a:rPr>
              <a:t>Where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located </a:t>
            </a:r>
            <a:r>
              <a:rPr sz="1100" spc="-20" dirty="0">
                <a:latin typeface="Tahoma"/>
                <a:cs typeface="Tahoma"/>
              </a:rPr>
              <a:t>Where/what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extremes </a:t>
            </a:r>
            <a:r>
              <a:rPr sz="1100" dirty="0">
                <a:latin typeface="Tahoma"/>
                <a:cs typeface="Tahoma"/>
              </a:rPr>
              <a:t>What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distribution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data </a:t>
            </a: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spread</a:t>
            </a:r>
            <a:r>
              <a:rPr sz="1100" spc="-25" dirty="0">
                <a:latin typeface="Tahoma"/>
                <a:cs typeface="Tahoma"/>
              </a:rPr>
              <a:t> out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55500"/>
              </a:lnSpc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distribution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symmetric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skew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(left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right) </a:t>
            </a:r>
            <a:r>
              <a:rPr sz="1100" spc="-30" dirty="0">
                <a:latin typeface="Tahoma"/>
                <a:cs typeface="Tahoma"/>
              </a:rPr>
              <a:t>Whether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unimodal,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bimodal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more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735"/>
              </a:spcBef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detect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outliers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any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50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10" dirty="0"/>
              <a:t>Histograms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85434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11498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156098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2681" y="175853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8393" y="409636"/>
            <a:ext cx="4006215" cy="2139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32485">
              <a:lnSpc>
                <a:spcPct val="155500"/>
              </a:lnSpc>
              <a:spcBef>
                <a:spcPts val="100"/>
              </a:spcBef>
            </a:pPr>
            <a:r>
              <a:rPr sz="1100" spc="-30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sizes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bins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important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considerations </a:t>
            </a:r>
            <a:r>
              <a:rPr sz="1100" dirty="0">
                <a:latin typeface="Tahoma"/>
                <a:cs typeface="Tahoma"/>
              </a:rPr>
              <a:t>Bins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sizes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  <a:spcBef>
                <a:spcPts val="695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unequal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bin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sizes </a:t>
            </a:r>
            <a:r>
              <a:rPr sz="1100" spc="-30" dirty="0">
                <a:latin typeface="Tahoma"/>
                <a:cs typeface="Tahoma"/>
              </a:rPr>
              <a:t>height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frequency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bin,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Arial"/>
                <a:cs typeface="Arial"/>
              </a:rPr>
              <a:t>frequency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density</a:t>
            </a:r>
            <a:endParaRPr sz="1100">
              <a:latin typeface="Arial"/>
              <a:cs typeface="Arial"/>
            </a:endParaRPr>
          </a:p>
          <a:p>
            <a:pPr marL="289560" marR="1063625">
              <a:lnSpc>
                <a:spcPct val="129600"/>
              </a:lnSpc>
              <a:spcBef>
                <a:spcPts val="540"/>
              </a:spcBef>
            </a:pPr>
            <a:r>
              <a:rPr sz="1000" spc="-10" dirty="0">
                <a:latin typeface="Tahoma"/>
                <a:cs typeface="Tahoma"/>
              </a:rPr>
              <a:t>Area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bar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proportional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frequency </a:t>
            </a:r>
            <a:r>
              <a:rPr sz="1000" spc="-20" dirty="0">
                <a:latin typeface="Tahoma"/>
                <a:cs typeface="Tahoma"/>
              </a:rPr>
              <a:t>Number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items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per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unit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variable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i="1" spc="-45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-40" dirty="0">
                <a:latin typeface="Tahoma"/>
                <a:cs typeface="Tahoma"/>
              </a:rPr>
              <a:t>-</a:t>
            </a:r>
            <a:r>
              <a:rPr sz="1000" spc="-25" dirty="0">
                <a:latin typeface="Tahoma"/>
                <a:cs typeface="Tahoma"/>
              </a:rPr>
              <a:t>axis</a:t>
            </a:r>
            <a:endParaRPr sz="1000">
              <a:latin typeface="Tahoma"/>
              <a:cs typeface="Tahoma"/>
            </a:endParaRPr>
          </a:p>
          <a:p>
            <a:pPr marL="12700" marR="292100">
              <a:lnSpc>
                <a:spcPct val="102600"/>
              </a:lnSpc>
              <a:spcBef>
                <a:spcPts val="720"/>
              </a:spcBef>
            </a:pPr>
            <a:r>
              <a:rPr sz="1100" dirty="0">
                <a:latin typeface="Tahoma"/>
                <a:cs typeface="Tahoma"/>
              </a:rPr>
              <a:t>Too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bins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histogram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gives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much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unnecessary</a:t>
            </a:r>
            <a:r>
              <a:rPr sz="1100" spc="-25" dirty="0">
                <a:latin typeface="Tahoma"/>
                <a:cs typeface="Tahoma"/>
              </a:rPr>
              <a:t> details </a:t>
            </a:r>
            <a:r>
              <a:rPr sz="1100" spc="-60" dirty="0">
                <a:latin typeface="Tahoma"/>
                <a:cs typeface="Tahoma"/>
              </a:rPr>
              <a:t>(shows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much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noise)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dirty="0">
                <a:latin typeface="Tahoma"/>
                <a:cs typeface="Tahoma"/>
              </a:rPr>
              <a:t>Too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bins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give</a:t>
            </a:r>
            <a:r>
              <a:rPr sz="1100" spc="-30" dirty="0">
                <a:latin typeface="Tahoma"/>
                <a:cs typeface="Tahoma"/>
              </a:rPr>
              <a:t> almost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nothing,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obscure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underlying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patterns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0245" y="201383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44655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51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97838"/>
            <a:ext cx="43484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5145" algn="l"/>
              </a:tabLst>
            </a:pP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Histograms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	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49" y="558099"/>
            <a:ext cx="4262782" cy="157222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52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50" dirty="0"/>
              <a:t>Overlapping</a:t>
            </a:r>
            <a:r>
              <a:rPr spc="-35" dirty="0"/>
              <a:t> </a:t>
            </a:r>
            <a:r>
              <a:rPr spc="-10" dirty="0"/>
              <a:t>Histograms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305" y="466076"/>
            <a:ext cx="43459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Useful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observing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distribution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respect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nominal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variable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3075" y="958735"/>
            <a:ext cx="1960879" cy="183895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53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10" dirty="0"/>
              <a:t>Box</a:t>
            </a:r>
            <a:r>
              <a:rPr spc="-70" dirty="0"/>
              <a:t> </a:t>
            </a:r>
            <a:r>
              <a:rPr spc="-10" dirty="0"/>
              <a:t>Plots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305" y="368818"/>
            <a:ext cx="3641725" cy="55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7200"/>
              </a:lnSpc>
              <a:spcBef>
                <a:spcPts val="100"/>
              </a:spcBef>
            </a:pPr>
            <a:r>
              <a:rPr sz="1100" spc="-20" dirty="0">
                <a:latin typeface="Tahoma"/>
                <a:cs typeface="Tahoma"/>
              </a:rPr>
              <a:t>Another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way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displaying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distribution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(somewhat)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Box-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Plots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or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Box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Whisker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diagrams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477" y="1160019"/>
            <a:ext cx="2053333" cy="184381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54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10" dirty="0"/>
              <a:t>Box</a:t>
            </a:r>
            <a:r>
              <a:rPr spc="-70" dirty="0"/>
              <a:t> </a:t>
            </a:r>
            <a:r>
              <a:rPr spc="-10" dirty="0"/>
              <a:t>Plots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1150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05948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30747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55547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9755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222352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47152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89158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1305" y="376578"/>
            <a:ext cx="4217035" cy="261747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Box-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Plots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or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Box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Whisker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diagrams</a:t>
            </a:r>
            <a:endParaRPr sz="1100">
              <a:latin typeface="Tahoma"/>
              <a:cs typeface="Tahoma"/>
            </a:endParaRPr>
          </a:p>
          <a:p>
            <a:pPr marL="289560" marR="116839">
              <a:lnSpc>
                <a:spcPct val="147900"/>
              </a:lnSpc>
              <a:spcBef>
                <a:spcPts val="60"/>
              </a:spcBef>
            </a:pPr>
            <a:r>
              <a:rPr sz="1100" dirty="0">
                <a:latin typeface="Tahoma"/>
                <a:cs typeface="Tahoma"/>
              </a:rPr>
              <a:t>Top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bottom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lines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box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3rd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quartiles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data Length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box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inter-</a:t>
            </a:r>
            <a:r>
              <a:rPr sz="1100" spc="-25" dirty="0">
                <a:latin typeface="Tahoma"/>
                <a:cs typeface="Tahoma"/>
              </a:rPr>
              <a:t>quartile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range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(midspread)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3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line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middle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median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3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top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whisker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denotes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largest </a:t>
            </a:r>
            <a:r>
              <a:rPr sz="1100" spc="-45" dirty="0">
                <a:latin typeface="Tahoma"/>
                <a:cs typeface="Tahoma"/>
              </a:rPr>
              <a:t>value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within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spc="-35" dirty="0">
                <a:latin typeface="Tahoma"/>
                <a:cs typeface="Tahoma"/>
              </a:rPr>
              <a:t>1.5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times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midspread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Arial"/>
                <a:cs typeface="Arial"/>
              </a:rPr>
              <a:t>Q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×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65" dirty="0">
                <a:latin typeface="Tahoma"/>
                <a:cs typeface="Tahoma"/>
              </a:rPr>
              <a:t>1</a:t>
            </a:r>
            <a:r>
              <a:rPr sz="1100" spc="-65" dirty="0">
                <a:latin typeface="Lucida Sans Unicode"/>
                <a:cs typeface="Lucida Sans Unicode"/>
              </a:rPr>
              <a:t>.</a:t>
            </a:r>
            <a:r>
              <a:rPr sz="1100" spc="-65" dirty="0">
                <a:latin typeface="Tahoma"/>
                <a:cs typeface="Tahoma"/>
              </a:rPr>
              <a:t>5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·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i="1" spc="-20" dirty="0">
                <a:latin typeface="Arial"/>
                <a:cs typeface="Arial"/>
              </a:rPr>
              <a:t>IQR</a:t>
            </a:r>
            <a:r>
              <a:rPr sz="1100" spc="-2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35"/>
              </a:spcBef>
            </a:pPr>
            <a:r>
              <a:rPr sz="1100" spc="-20" dirty="0">
                <a:latin typeface="Tahoma"/>
                <a:cs typeface="Tahoma"/>
              </a:rPr>
              <a:t>Similarly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bottom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whisker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30"/>
              </a:spcBef>
            </a:pPr>
            <a:r>
              <a:rPr sz="1100" spc="-10" dirty="0">
                <a:latin typeface="Tahoma"/>
                <a:cs typeface="Tahoma"/>
              </a:rPr>
              <a:t>Anything</a:t>
            </a:r>
            <a:r>
              <a:rPr sz="1100" spc="-45" dirty="0">
                <a:latin typeface="Tahoma"/>
                <a:cs typeface="Tahoma"/>
              </a:rPr>
              <a:t> above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50" dirty="0">
                <a:latin typeface="Tahoma"/>
                <a:cs typeface="Tahoma"/>
              </a:rPr>
              <a:t>below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whiskers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considered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outliers</a:t>
            </a:r>
            <a:endParaRPr sz="1100">
              <a:latin typeface="Tahoma"/>
              <a:cs typeface="Tahoma"/>
            </a:endParaRPr>
          </a:p>
          <a:p>
            <a:pPr marL="289560" marR="328295">
              <a:lnSpc>
                <a:spcPct val="102600"/>
              </a:lnSpc>
              <a:spcBef>
                <a:spcPts val="600"/>
              </a:spcBef>
            </a:pPr>
            <a:r>
              <a:rPr sz="1100" spc="-25" dirty="0">
                <a:latin typeface="Tahoma"/>
                <a:cs typeface="Tahoma"/>
              </a:rPr>
              <a:t>Relative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location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median </a:t>
            </a:r>
            <a:r>
              <a:rPr sz="1100" spc="-10" dirty="0">
                <a:latin typeface="Tahoma"/>
                <a:cs typeface="Tahoma"/>
              </a:rPr>
              <a:t>within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box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tells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us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data </a:t>
            </a:r>
            <a:r>
              <a:rPr sz="1100" spc="-10" dirty="0">
                <a:latin typeface="Tahoma"/>
                <a:cs typeface="Tahoma"/>
              </a:rPr>
              <a:t>distribution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30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out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outliers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any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55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10" dirty="0"/>
              <a:t>Box</a:t>
            </a:r>
            <a:r>
              <a:rPr spc="-70" dirty="0"/>
              <a:t> </a:t>
            </a:r>
            <a:r>
              <a:rPr spc="-10" dirty="0"/>
              <a:t>Plots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2865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357236"/>
            <a:ext cx="4023995" cy="94170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idea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skew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observing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shorter </a:t>
            </a:r>
            <a:r>
              <a:rPr sz="1100" spc="-10" dirty="0">
                <a:latin typeface="Tahoma"/>
                <a:cs typeface="Tahoma"/>
              </a:rPr>
              <a:t>whisker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spc="-30" dirty="0">
                <a:latin typeface="Tahoma"/>
                <a:cs typeface="Tahoma"/>
              </a:rPr>
              <a:t>Various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norms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whiskers</a:t>
            </a:r>
            <a:r>
              <a:rPr sz="1100" spc="-40" dirty="0">
                <a:latin typeface="Tahoma"/>
                <a:cs typeface="Tahoma"/>
              </a:rPr>
              <a:t> (sometime)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top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whisker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90th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percentile</a:t>
            </a:r>
            <a:endParaRPr sz="1100">
              <a:latin typeface="Tahoma"/>
              <a:cs typeface="Tahoma"/>
            </a:endParaRPr>
          </a:p>
          <a:p>
            <a:pPr marL="12700" marR="194310">
              <a:lnSpc>
                <a:spcPct val="102600"/>
              </a:lnSpc>
              <a:spcBef>
                <a:spcPts val="600"/>
              </a:spcBef>
            </a:pPr>
            <a:r>
              <a:rPr sz="1100" spc="-30" dirty="0">
                <a:latin typeface="Tahoma"/>
                <a:cs typeface="Tahoma"/>
              </a:rPr>
              <a:t>Uni-</a:t>
            </a:r>
            <a:r>
              <a:rPr sz="1100" spc="-20" dirty="0">
                <a:latin typeface="Tahoma"/>
                <a:cs typeface="Tahoma"/>
              </a:rPr>
              <a:t>modality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multi-</a:t>
            </a:r>
            <a:r>
              <a:rPr sz="1100" spc="-20" dirty="0">
                <a:latin typeface="Tahoma"/>
                <a:cs typeface="Tahoma"/>
              </a:rPr>
              <a:t>modality </a:t>
            </a:r>
            <a:r>
              <a:rPr sz="1100" spc="-25" dirty="0">
                <a:latin typeface="Tahoma"/>
                <a:cs typeface="Tahoma"/>
              </a:rPr>
              <a:t>type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generally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not </a:t>
            </a:r>
            <a:r>
              <a:rPr sz="1100" spc="-40" dirty="0">
                <a:latin typeface="Tahoma"/>
                <a:cs typeface="Tahoma"/>
              </a:rPr>
              <a:t>clear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from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box </a:t>
            </a:r>
            <a:r>
              <a:rPr sz="1100" spc="-10" dirty="0">
                <a:latin typeface="Tahoma"/>
                <a:cs typeface="Tahoma"/>
              </a:rPr>
              <a:t>plots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7766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0246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874" y="1483156"/>
            <a:ext cx="1706880" cy="145923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7685" y="1405959"/>
            <a:ext cx="1748878" cy="180031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56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Side-</a:t>
            </a:r>
            <a:r>
              <a:rPr spc="-80" dirty="0"/>
              <a:t>by-</a:t>
            </a:r>
            <a:r>
              <a:rPr spc="-60" dirty="0"/>
              <a:t>side</a:t>
            </a:r>
            <a:r>
              <a:rPr spc="-25" dirty="0"/>
              <a:t> </a:t>
            </a:r>
            <a:r>
              <a:rPr spc="-10" dirty="0"/>
              <a:t>Box</a:t>
            </a:r>
            <a:r>
              <a:rPr spc="-20" dirty="0"/>
              <a:t> Plots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4212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15706"/>
            <a:ext cx="3799840" cy="4318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spc="-30" dirty="0">
                <a:latin typeface="Tahoma"/>
                <a:cs typeface="Tahoma"/>
              </a:rPr>
              <a:t>Extremely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useful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comparisons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compare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numeric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draw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box-</a:t>
            </a:r>
            <a:r>
              <a:rPr sz="1100" spc="-20" dirty="0">
                <a:latin typeface="Tahoma"/>
                <a:cs typeface="Tahoma"/>
              </a:rPr>
              <a:t>plots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parallel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74512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232" y="998105"/>
            <a:ext cx="2301887" cy="21786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57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Side-</a:t>
            </a:r>
            <a:r>
              <a:rPr spc="-80" dirty="0"/>
              <a:t>by-</a:t>
            </a:r>
            <a:r>
              <a:rPr spc="-60" dirty="0"/>
              <a:t>side</a:t>
            </a:r>
            <a:r>
              <a:rPr spc="-25" dirty="0"/>
              <a:t> </a:t>
            </a:r>
            <a:r>
              <a:rPr spc="-10" dirty="0"/>
              <a:t>Box</a:t>
            </a:r>
            <a:r>
              <a:rPr spc="-20" dirty="0"/>
              <a:t> Plots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163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357578"/>
            <a:ext cx="3777615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85800">
              <a:lnSpc>
                <a:spcPct val="140400"/>
              </a:lnSpc>
              <a:spcBef>
                <a:spcPts val="100"/>
              </a:spcBef>
            </a:pPr>
            <a:r>
              <a:rPr sz="1100" spc="-20" dirty="0">
                <a:latin typeface="Tahoma"/>
                <a:cs typeface="Tahoma"/>
              </a:rPr>
              <a:t>Side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35" dirty="0">
                <a:latin typeface="Tahoma"/>
                <a:cs typeface="Tahoma"/>
              </a:rPr>
              <a:t> side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groupwise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plots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extremely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useful </a:t>
            </a:r>
            <a:r>
              <a:rPr sz="1100" spc="-35" dirty="0">
                <a:latin typeface="Tahoma"/>
                <a:cs typeface="Tahoma"/>
              </a:rPr>
              <a:t>Groups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based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categorical </a:t>
            </a:r>
            <a:r>
              <a:rPr sz="1100" spc="-10" dirty="0">
                <a:latin typeface="Tahoma"/>
                <a:cs typeface="Tahoma"/>
              </a:rPr>
              <a:t>variable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40400"/>
              </a:lnSpc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45" dirty="0">
                <a:latin typeface="Tahoma"/>
                <a:cs typeface="Tahoma"/>
              </a:rPr>
              <a:t> reveals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whether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factor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(the</a:t>
            </a:r>
            <a:r>
              <a:rPr sz="1100" spc="-35" dirty="0">
                <a:latin typeface="Tahoma"/>
                <a:cs typeface="Tahoma"/>
              </a:rPr>
              <a:t> categorical variable)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important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addresses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whether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location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differ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groups</a:t>
            </a:r>
            <a:endParaRPr sz="1100">
              <a:latin typeface="Tahoma"/>
              <a:cs typeface="Tahoma"/>
            </a:endParaRPr>
          </a:p>
          <a:p>
            <a:pPr marL="12700" marR="22225">
              <a:lnSpc>
                <a:spcPct val="102699"/>
              </a:lnSpc>
              <a:spcBef>
                <a:spcPts val="49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extent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also </a:t>
            </a:r>
            <a:r>
              <a:rPr sz="1100" spc="-50" dirty="0">
                <a:latin typeface="Tahoma"/>
                <a:cs typeface="Tahoma"/>
              </a:rPr>
              <a:t>reveals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whether</a:t>
            </a:r>
            <a:r>
              <a:rPr sz="1100" spc="-20" dirty="0">
                <a:latin typeface="Tahoma"/>
                <a:cs typeface="Tahoma"/>
              </a:rPr>
              <a:t> distribution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variation differ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groups</a:t>
            </a:r>
            <a:endParaRPr sz="1100">
              <a:latin typeface="Tahoma"/>
              <a:cs typeface="Tahoma"/>
            </a:endParaRPr>
          </a:p>
          <a:p>
            <a:pPr marL="12700" marR="8890">
              <a:lnSpc>
                <a:spcPct val="102600"/>
              </a:lnSpc>
              <a:spcBef>
                <a:spcPts val="500"/>
              </a:spcBef>
            </a:pPr>
            <a:r>
              <a:rPr sz="1100" spc="-35" dirty="0">
                <a:latin typeface="Tahoma"/>
                <a:cs typeface="Tahoma"/>
              </a:rPr>
              <a:t>Overlapping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histograms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suitable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latter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question, </a:t>
            </a:r>
            <a:r>
              <a:rPr sz="1100" spc="-55" dirty="0">
                <a:latin typeface="Tahoma"/>
                <a:cs typeface="Tahoma"/>
              </a:rPr>
              <a:t>unless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much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overlap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75168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98701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22236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45769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186510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1871" y="2153836"/>
            <a:ext cx="1183827" cy="112046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58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57" y="97838"/>
            <a:ext cx="43516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8320" algn="l"/>
              </a:tabLst>
            </a:pPr>
            <a:r>
              <a:rPr sz="1200" u="sng" spc="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Scatter</a:t>
            </a:r>
            <a:r>
              <a:rPr sz="12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Plot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	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905" y="368818"/>
            <a:ext cx="4284345" cy="7245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Scatter</a:t>
            </a:r>
            <a:r>
              <a:rPr sz="11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Plot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visualize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 dimensional</a:t>
            </a:r>
            <a:r>
              <a:rPr sz="1100" spc="-35" dirty="0">
                <a:latin typeface="Tahoma"/>
                <a:cs typeface="Tahoma"/>
              </a:rPr>
              <a:t> numeric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  <a:spcBef>
                <a:spcPts val="720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directly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represent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observations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0" dirty="0">
                <a:latin typeface="Tahoma"/>
                <a:cs typeface="Tahoma"/>
              </a:rPr>
              <a:t> points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 MT"/>
                <a:cs typeface="Arial MT"/>
              </a:rPr>
              <a:t>R</a:t>
            </a:r>
            <a:r>
              <a:rPr sz="1200" spc="-37" baseline="27777" dirty="0">
                <a:latin typeface="Tahoma"/>
                <a:cs typeface="Tahoma"/>
              </a:rPr>
              <a:t>2</a:t>
            </a:r>
            <a:r>
              <a:rPr sz="1100" spc="-25" dirty="0">
                <a:latin typeface="Tahoma"/>
                <a:cs typeface="Tahoma"/>
              </a:rPr>
              <a:t>. </a:t>
            </a:r>
            <a:r>
              <a:rPr sz="1100" dirty="0">
                <a:latin typeface="Tahoma"/>
                <a:cs typeface="Tahoma"/>
              </a:rPr>
              <a:t>Plot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variable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-</a:t>
            </a:r>
            <a:r>
              <a:rPr sz="1100" spc="-25" dirty="0">
                <a:latin typeface="Tahoma"/>
                <a:cs typeface="Tahoma"/>
              </a:rPr>
              <a:t>axis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-</a:t>
            </a:r>
            <a:r>
              <a:rPr sz="1100" spc="-20" dirty="0">
                <a:latin typeface="Tahoma"/>
                <a:cs typeface="Tahoma"/>
              </a:rPr>
              <a:t>axis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2049" y="1456221"/>
            <a:ext cx="1624229" cy="167702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59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25" dirty="0"/>
              <a:t>Scatter</a:t>
            </a:r>
            <a:r>
              <a:rPr spc="-60" dirty="0"/>
              <a:t> </a:t>
            </a:r>
            <a:r>
              <a:rPr spc="-20" dirty="0"/>
              <a:t>Plot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129282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75860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217867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259873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205" y="368818"/>
            <a:ext cx="4397375" cy="233235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85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Scatter</a:t>
            </a:r>
            <a:r>
              <a:rPr sz="11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Plot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visualize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 dimensional</a:t>
            </a:r>
            <a:r>
              <a:rPr sz="1100" spc="-35" dirty="0">
                <a:latin typeface="Tahoma"/>
                <a:cs typeface="Tahoma"/>
              </a:rPr>
              <a:t> numeric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50800" marR="130175">
              <a:lnSpc>
                <a:spcPct val="102600"/>
              </a:lnSpc>
              <a:spcBef>
                <a:spcPts val="720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directly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represent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observations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0" dirty="0">
                <a:latin typeface="Tahoma"/>
                <a:cs typeface="Tahoma"/>
              </a:rPr>
              <a:t> points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 MT"/>
                <a:cs typeface="Arial MT"/>
              </a:rPr>
              <a:t>R</a:t>
            </a:r>
            <a:r>
              <a:rPr sz="1200" spc="-37" baseline="27777" dirty="0">
                <a:latin typeface="Tahoma"/>
                <a:cs typeface="Tahoma"/>
              </a:rPr>
              <a:t>2</a:t>
            </a:r>
            <a:r>
              <a:rPr sz="1100" spc="-25" dirty="0">
                <a:latin typeface="Tahoma"/>
                <a:cs typeface="Tahoma"/>
              </a:rPr>
              <a:t>. </a:t>
            </a:r>
            <a:r>
              <a:rPr sz="1100" dirty="0">
                <a:latin typeface="Tahoma"/>
                <a:cs typeface="Tahoma"/>
              </a:rPr>
              <a:t>Plot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variable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-</a:t>
            </a:r>
            <a:r>
              <a:rPr sz="1100" spc="-25" dirty="0">
                <a:latin typeface="Tahoma"/>
                <a:cs typeface="Tahoma"/>
              </a:rPr>
              <a:t>axis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-</a:t>
            </a:r>
            <a:r>
              <a:rPr sz="1100" spc="-20" dirty="0">
                <a:latin typeface="Tahoma"/>
                <a:cs typeface="Tahoma"/>
              </a:rPr>
              <a:t>axis</a:t>
            </a:r>
            <a:endParaRPr sz="110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  <a:spcBef>
                <a:spcPts val="1055"/>
              </a:spcBef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70" dirty="0">
                <a:latin typeface="Tahoma"/>
                <a:cs typeface="Tahoma"/>
              </a:rPr>
              <a:t> shows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other</a:t>
            </a:r>
            <a:endParaRPr sz="1100">
              <a:latin typeface="Tahoma"/>
              <a:cs typeface="Tahoma"/>
            </a:endParaRPr>
          </a:p>
          <a:p>
            <a:pPr marL="1878330">
              <a:lnSpc>
                <a:spcPct val="100000"/>
              </a:lnSpc>
              <a:spcBef>
                <a:spcPts val="395"/>
              </a:spcBef>
            </a:pPr>
            <a:r>
              <a:rPr sz="1100" spc="-335" dirty="0">
                <a:latin typeface="Lucida Sans Unicode"/>
                <a:cs typeface="Lucida Sans Unicode"/>
              </a:rPr>
              <a:t>▷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reveals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correlations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variables</a:t>
            </a:r>
            <a:endParaRPr sz="1100">
              <a:latin typeface="Tahoma"/>
              <a:cs typeface="Tahoma"/>
            </a:endParaRPr>
          </a:p>
          <a:p>
            <a:pPr marL="327660" marR="17780">
              <a:lnSpc>
                <a:spcPct val="102600"/>
              </a:lnSpc>
              <a:spcBef>
                <a:spcPts val="600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40" dirty="0">
                <a:latin typeface="Tahoma"/>
                <a:cs typeface="Tahoma"/>
              </a:rPr>
              <a:t> variables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highly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skewed,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scatter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plots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hard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examine,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bulk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concentrated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small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part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plot</a:t>
            </a:r>
            <a:endParaRPr sz="1100">
              <a:latin typeface="Tahoma"/>
              <a:cs typeface="Tahoma"/>
            </a:endParaRPr>
          </a:p>
          <a:p>
            <a:pPr marL="327660" marR="168910">
              <a:lnSpc>
                <a:spcPct val="102600"/>
              </a:lnSpc>
              <a:spcBef>
                <a:spcPts val="595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should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kind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transformation,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explained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later on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variables</a:t>
            </a:r>
            <a:endParaRPr sz="110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  <a:spcBef>
                <a:spcPts val="635"/>
              </a:spcBef>
            </a:pPr>
            <a:r>
              <a:rPr sz="1100" spc="-50" dirty="0">
                <a:latin typeface="Tahoma"/>
                <a:cs typeface="Tahoma"/>
              </a:rPr>
              <a:t>log-</a:t>
            </a:r>
            <a:r>
              <a:rPr sz="1100" spc="-35" dirty="0">
                <a:latin typeface="Tahoma"/>
                <a:cs typeface="Tahoma"/>
              </a:rPr>
              <a:t>scaled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plots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such </a:t>
            </a:r>
            <a:r>
              <a:rPr sz="1100" spc="-10" dirty="0">
                <a:latin typeface="Tahoma"/>
                <a:cs typeface="Tahoma"/>
              </a:rPr>
              <a:t>cases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60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97838"/>
            <a:ext cx="43484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5145" algn="l"/>
              </a:tabLst>
            </a:pP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Scatter</a:t>
            </a:r>
            <a:r>
              <a:rPr sz="1200" u="sng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Plot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	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7" y="521467"/>
            <a:ext cx="1181257" cy="12196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330" y="527867"/>
            <a:ext cx="1181257" cy="12178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327" y="1977766"/>
            <a:ext cx="1181257" cy="121965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330" y="1979586"/>
            <a:ext cx="1181257" cy="121783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61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25" dirty="0"/>
              <a:t>Scatter</a:t>
            </a:r>
            <a:r>
              <a:rPr spc="-15" dirty="0"/>
              <a:t> </a:t>
            </a:r>
            <a:r>
              <a:rPr dirty="0"/>
              <a:t>Plot</a:t>
            </a:r>
            <a:r>
              <a:rPr spc="-10" dirty="0"/>
              <a:t> Matrix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0227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12596"/>
            <a:ext cx="4032250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latin typeface="Tahoma"/>
                <a:cs typeface="Tahoma"/>
              </a:rPr>
              <a:t>Pairwise scatter</a:t>
            </a:r>
            <a:r>
              <a:rPr sz="1100" spc="-20" dirty="0">
                <a:latin typeface="Tahoma"/>
                <a:cs typeface="Tahoma"/>
              </a:rPr>
              <a:t> plots,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pairwise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correlations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individual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histograms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density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plots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45" dirty="0">
                <a:latin typeface="Tahoma"/>
                <a:cs typeface="Tahoma"/>
              </a:rPr>
              <a:t>Summarize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relationships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pairs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numerical </a:t>
            </a:r>
            <a:r>
              <a:rPr sz="1100" spc="-10" dirty="0">
                <a:latin typeface="Tahoma"/>
                <a:cs typeface="Tahoma"/>
              </a:rPr>
              <a:t>attributes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8437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430" y="1137371"/>
            <a:ext cx="2137144" cy="201142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62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25" dirty="0"/>
              <a:t>Scatter</a:t>
            </a:r>
            <a:r>
              <a:rPr spc="-15" dirty="0"/>
              <a:t> </a:t>
            </a:r>
            <a:r>
              <a:rPr dirty="0"/>
              <a:t>Plot</a:t>
            </a:r>
            <a:r>
              <a:rPr spc="-10" dirty="0"/>
              <a:t> Matrix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47941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389736"/>
            <a:ext cx="402844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spc="-20" dirty="0">
                <a:latin typeface="Tahoma"/>
                <a:cs typeface="Tahoma"/>
              </a:rPr>
              <a:t>Scatter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plot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(matrix)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combined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information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nominal </a:t>
            </a:r>
            <a:r>
              <a:rPr sz="1100" spc="-20" dirty="0">
                <a:latin typeface="Tahoma"/>
                <a:cs typeface="Tahoma"/>
              </a:rPr>
              <a:t>attribute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encoded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through </a:t>
            </a:r>
            <a:r>
              <a:rPr sz="1100" spc="-25" dirty="0">
                <a:latin typeface="Tahoma"/>
                <a:cs typeface="Tahoma"/>
              </a:rPr>
              <a:t>color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marker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shape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432" y="852014"/>
            <a:ext cx="2647453" cy="236302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63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97838"/>
            <a:ext cx="43484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5145" algn="l"/>
              </a:tabLst>
            </a:pP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Heat</a:t>
            </a:r>
            <a:r>
              <a:rPr sz="1200" u="sng" spc="-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Map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	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305" y="420343"/>
            <a:ext cx="4032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none" spc="-30" dirty="0">
                <a:solidFill>
                  <a:srgbClr val="000000"/>
                </a:solidFill>
              </a:rPr>
              <a:t>Presents</a:t>
            </a:r>
            <a:r>
              <a:rPr sz="1100" u="none" spc="-20" dirty="0">
                <a:solidFill>
                  <a:srgbClr val="000000"/>
                </a:solidFill>
              </a:rPr>
              <a:t> </a:t>
            </a:r>
            <a:r>
              <a:rPr sz="1100" u="none" spc="-40" dirty="0">
                <a:solidFill>
                  <a:srgbClr val="000000"/>
                </a:solidFill>
              </a:rPr>
              <a:t>pairwise</a:t>
            </a:r>
            <a:r>
              <a:rPr sz="1100" u="none" spc="-15" dirty="0">
                <a:solidFill>
                  <a:srgbClr val="000000"/>
                </a:solidFill>
              </a:rPr>
              <a:t> </a:t>
            </a:r>
            <a:r>
              <a:rPr sz="1100" u="none" spc="-30" dirty="0">
                <a:solidFill>
                  <a:srgbClr val="000000"/>
                </a:solidFill>
              </a:rPr>
              <a:t>relationship</a:t>
            </a:r>
            <a:r>
              <a:rPr sz="1100" u="none" spc="-15" dirty="0">
                <a:solidFill>
                  <a:srgbClr val="000000"/>
                </a:solidFill>
              </a:rPr>
              <a:t> </a:t>
            </a:r>
            <a:r>
              <a:rPr sz="1100" u="none" spc="-70" dirty="0">
                <a:solidFill>
                  <a:srgbClr val="000000"/>
                </a:solidFill>
              </a:rPr>
              <a:t>between</a:t>
            </a:r>
            <a:r>
              <a:rPr sz="1100" u="none" spc="-15" dirty="0">
                <a:solidFill>
                  <a:srgbClr val="000000"/>
                </a:solidFill>
              </a:rPr>
              <a:t> </a:t>
            </a:r>
            <a:r>
              <a:rPr sz="1100" u="none" spc="-25" dirty="0">
                <a:solidFill>
                  <a:srgbClr val="000000"/>
                </a:solidFill>
              </a:rPr>
              <a:t>attributes</a:t>
            </a:r>
            <a:r>
              <a:rPr sz="1100" u="none" spc="-20" dirty="0">
                <a:solidFill>
                  <a:srgbClr val="000000"/>
                </a:solidFill>
              </a:rPr>
              <a:t> </a:t>
            </a:r>
            <a:r>
              <a:rPr sz="1100" u="none" dirty="0">
                <a:solidFill>
                  <a:srgbClr val="000000"/>
                </a:solidFill>
              </a:rPr>
              <a:t>of</a:t>
            </a:r>
            <a:r>
              <a:rPr sz="1100" u="none" spc="-10" dirty="0">
                <a:solidFill>
                  <a:srgbClr val="000000"/>
                </a:solidFill>
              </a:rPr>
              <a:t> </a:t>
            </a:r>
            <a:r>
              <a:rPr sz="1100" u="none" spc="-25" dirty="0">
                <a:solidFill>
                  <a:srgbClr val="000000"/>
                </a:solidFill>
              </a:rPr>
              <a:t>multivariate</a:t>
            </a:r>
            <a:r>
              <a:rPr sz="1100" u="none" spc="-15" dirty="0">
                <a:solidFill>
                  <a:srgbClr val="000000"/>
                </a:solidFill>
              </a:rPr>
              <a:t> </a:t>
            </a:r>
            <a:r>
              <a:rPr sz="1100" u="none" spc="-20" dirty="0">
                <a:solidFill>
                  <a:srgbClr val="000000"/>
                </a:solidFill>
              </a:rPr>
              <a:t>data</a:t>
            </a:r>
            <a:endParaRPr sz="11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887" y="727286"/>
            <a:ext cx="2446361" cy="252638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64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20" dirty="0"/>
              <a:t>Heat</a:t>
            </a:r>
            <a:r>
              <a:rPr spc="-75" dirty="0"/>
              <a:t> </a:t>
            </a:r>
            <a:r>
              <a:rPr spc="-25" dirty="0"/>
              <a:t>Map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93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22285"/>
            <a:ext cx="4032250" cy="17011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900"/>
              </a:lnSpc>
              <a:spcBef>
                <a:spcPts val="100"/>
              </a:spcBef>
            </a:pPr>
            <a:r>
              <a:rPr sz="1100" spc="-30" dirty="0">
                <a:latin typeface="Tahoma"/>
                <a:cs typeface="Tahoma"/>
              </a:rPr>
              <a:t>Presents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pairwise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relationship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attributes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multivariate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30" dirty="0">
                <a:latin typeface="Tahoma"/>
                <a:cs typeface="Tahoma"/>
              </a:rPr>
              <a:t>Provides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numerical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correlation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</a:t>
            </a:r>
            <a:endParaRPr sz="1100">
              <a:latin typeface="Tahoma"/>
              <a:cs typeface="Tahoma"/>
            </a:endParaRPr>
          </a:p>
          <a:p>
            <a:pPr marL="12700" marR="189865">
              <a:lnSpc>
                <a:spcPct val="102600"/>
              </a:lnSpc>
              <a:spcBef>
                <a:spcPts val="600"/>
              </a:spcBef>
            </a:pPr>
            <a:r>
              <a:rPr sz="1100" dirty="0">
                <a:latin typeface="Tahoma"/>
                <a:cs typeface="Tahoma"/>
              </a:rPr>
              <a:t>Also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provides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easy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understand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visual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representation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those </a:t>
            </a:r>
            <a:r>
              <a:rPr sz="1100" spc="-55" dirty="0">
                <a:latin typeface="Tahoma"/>
                <a:cs typeface="Tahoma"/>
              </a:rPr>
              <a:t>numbers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(colors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shades)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spc="-35" dirty="0">
                <a:latin typeface="Tahoma"/>
                <a:cs typeface="Tahoma"/>
              </a:rPr>
              <a:t>Darker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red </a:t>
            </a:r>
            <a:r>
              <a:rPr sz="1100" spc="-50" dirty="0">
                <a:latin typeface="Tahoma"/>
                <a:cs typeface="Tahoma"/>
              </a:rPr>
              <a:t>showing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high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correlation</a:t>
            </a:r>
            <a:endParaRPr sz="1100">
              <a:latin typeface="Tahoma"/>
              <a:cs typeface="Tahoma"/>
            </a:endParaRPr>
          </a:p>
          <a:p>
            <a:pPr marL="12700" marR="1288415">
              <a:lnSpc>
                <a:spcPts val="2070"/>
              </a:lnSpc>
            </a:pPr>
            <a:r>
              <a:rPr sz="1100" dirty="0">
                <a:latin typeface="Tahoma"/>
                <a:cs typeface="Tahoma"/>
              </a:rPr>
              <a:t>Dark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blue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showing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negative</a:t>
            </a:r>
            <a:r>
              <a:rPr sz="1100" spc="-35" dirty="0">
                <a:latin typeface="Tahoma"/>
                <a:cs typeface="Tahoma"/>
              </a:rPr>
              <a:t> correlation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Can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be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used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visualize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any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matrix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4169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0896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50975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7577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02125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65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20" dirty="0"/>
              <a:t>Line</a:t>
            </a:r>
            <a:r>
              <a:rPr spc="-75" dirty="0"/>
              <a:t> </a:t>
            </a:r>
            <a:r>
              <a:rPr spc="-10" dirty="0"/>
              <a:t>graphs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0227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12596"/>
            <a:ext cx="3712210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Line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e.g.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player’s </a:t>
            </a:r>
            <a:r>
              <a:rPr sz="1100" spc="-55" dirty="0">
                <a:latin typeface="Tahoma"/>
                <a:cs typeface="Tahoma"/>
              </a:rPr>
              <a:t>yearly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average, </a:t>
            </a:r>
            <a:r>
              <a:rPr sz="1100" spc="-25" dirty="0">
                <a:latin typeface="Tahoma"/>
                <a:cs typeface="Tahoma"/>
              </a:rPr>
              <a:t>student’s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semester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gpa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0" dirty="0">
                <a:latin typeface="Tahoma"/>
                <a:cs typeface="Tahoma"/>
              </a:rPr>
              <a:t> hourly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energy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consumption</a:t>
            </a:r>
            <a:endParaRPr sz="1100">
              <a:latin typeface="Tahoma"/>
              <a:cs typeface="Tahoma"/>
            </a:endParaRPr>
          </a:p>
          <a:p>
            <a:pPr marL="12700" marR="5080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Two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compared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different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colors </a:t>
            </a:r>
            <a:r>
              <a:rPr sz="1100" spc="-25" dirty="0">
                <a:latin typeface="Tahoma"/>
                <a:cs typeface="Tahoma"/>
              </a:rPr>
              <a:t>or </a:t>
            </a:r>
            <a:r>
              <a:rPr sz="1100" spc="-60" dirty="0">
                <a:latin typeface="Tahoma"/>
                <a:cs typeface="Tahoma"/>
              </a:rPr>
              <a:t>markers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(legend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should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provided)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8437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540" y="1203266"/>
            <a:ext cx="3240054" cy="194672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66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97838"/>
            <a:ext cx="43484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5145" algn="l"/>
              </a:tabLst>
            </a:pPr>
            <a:r>
              <a:rPr sz="12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Parallel</a:t>
            </a:r>
            <a:r>
              <a:rPr sz="12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Axis</a:t>
            </a:r>
            <a:r>
              <a:rPr sz="12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Plot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	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961" y="828280"/>
            <a:ext cx="3401272" cy="189269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67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336415" algn="l"/>
              </a:tabLst>
            </a:pPr>
            <a:r>
              <a:rPr spc="-60" dirty="0"/>
              <a:t>Word-</a:t>
            </a:r>
            <a:r>
              <a:rPr spc="-10" dirty="0"/>
              <a:t>Cloud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305" y="341386"/>
            <a:ext cx="4345940" cy="7245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spc="-20" dirty="0">
                <a:latin typeface="Tahoma"/>
                <a:cs typeface="Tahoma"/>
              </a:rPr>
              <a:t>Very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useful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te</a:t>
            </a:r>
            <a:r>
              <a:rPr sz="1100" b="1" cap="small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100" b="1" spc="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analytics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72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55" dirty="0">
                <a:solidFill>
                  <a:srgbClr val="0000FF"/>
                </a:solidFill>
                <a:latin typeface="Arial"/>
                <a:cs typeface="Arial"/>
              </a:rPr>
              <a:t>word</a:t>
            </a:r>
            <a:r>
              <a:rPr sz="1100" b="1" spc="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0000FF"/>
                </a:solidFill>
                <a:latin typeface="Arial"/>
                <a:cs typeface="Arial"/>
              </a:rPr>
              <a:t>cloud</a:t>
            </a:r>
            <a:r>
              <a:rPr sz="11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75" dirty="0">
                <a:latin typeface="Tahoma"/>
                <a:cs typeface="Tahoma"/>
              </a:rPr>
              <a:t>shows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words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used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text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corpus</a:t>
            </a:r>
            <a:r>
              <a:rPr sz="1100" spc="-25" dirty="0">
                <a:latin typeface="Tahoma"/>
                <a:cs typeface="Tahoma"/>
              </a:rPr>
              <a:t> (collection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documents)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size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words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proportional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importance </a:t>
            </a:r>
            <a:r>
              <a:rPr sz="1100" spc="-25" dirty="0">
                <a:latin typeface="Tahoma"/>
                <a:cs typeface="Tahoma"/>
              </a:rPr>
              <a:t>(e.g.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cap="small" spc="145" dirty="0">
                <a:latin typeface="Calibri"/>
                <a:cs typeface="Calibri"/>
              </a:rPr>
              <a:t>tf</a:t>
            </a:r>
            <a:r>
              <a:rPr sz="1100" spc="145" dirty="0">
                <a:latin typeface="Calibri"/>
                <a:cs typeface="Calibri"/>
              </a:rPr>
              <a:t>-</a:t>
            </a:r>
            <a:r>
              <a:rPr sz="1100" cap="small" spc="75" dirty="0">
                <a:latin typeface="Calibri"/>
                <a:cs typeface="Calibri"/>
              </a:rPr>
              <a:t>idf</a:t>
            </a:r>
            <a:r>
              <a:rPr sz="1100" spc="7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291" y="1250663"/>
            <a:ext cx="3991410" cy="14053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1305" y="2779919"/>
            <a:ext cx="4227830" cy="36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499"/>
              </a:lnSpc>
              <a:spcBef>
                <a:spcPts val="100"/>
              </a:spcBef>
            </a:pPr>
            <a:r>
              <a:rPr sz="900" dirty="0">
                <a:latin typeface="Tahoma"/>
                <a:cs typeface="Tahoma"/>
              </a:rPr>
              <a:t>Quite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clear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that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word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cloud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on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left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for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collection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articles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about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US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politics, </a:t>
            </a:r>
            <a:r>
              <a:rPr sz="900" dirty="0">
                <a:latin typeface="Tahoma"/>
                <a:cs typeface="Tahoma"/>
              </a:rPr>
              <a:t>political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news,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while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that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on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right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seems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corpus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astronomy/astrophysics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Tahoma"/>
                <a:cs typeface="Tahoma"/>
              </a:rPr>
              <a:t>(LUMS)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85556" y="3351784"/>
            <a:ext cx="10369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Getting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to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know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Data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8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68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64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</TotalTime>
  <Words>4590</Words>
  <Application>Microsoft Office PowerPoint</Application>
  <PresentationFormat>Custom</PresentationFormat>
  <Paragraphs>761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Arial</vt:lpstr>
      <vt:lpstr>Arial MT</vt:lpstr>
      <vt:lpstr>Calibri</vt:lpstr>
      <vt:lpstr>Cambria</vt:lpstr>
      <vt:lpstr>Georgia</vt:lpstr>
      <vt:lpstr>Lucida Sans Unicode</vt:lpstr>
      <vt:lpstr>Tahoma</vt:lpstr>
      <vt:lpstr>Times New Roman</vt:lpstr>
      <vt:lpstr>Office Theme</vt:lpstr>
      <vt:lpstr>PowerPoint Presentation</vt:lpstr>
      <vt:lpstr>Exploratory Data Analysis (EDA): Purpose and Benefits </vt:lpstr>
      <vt:lpstr>EDA: Purpose and Benefits </vt:lpstr>
      <vt:lpstr>Data object and Attribute </vt:lpstr>
      <vt:lpstr>Size and dimensions of data </vt:lpstr>
      <vt:lpstr>Resolution of Data </vt:lpstr>
      <vt:lpstr>Types of Data </vt:lpstr>
      <vt:lpstr>Types of Data </vt:lpstr>
      <vt:lpstr>Types of Data </vt:lpstr>
      <vt:lpstr>Types of Data </vt:lpstr>
      <vt:lpstr>Types of Attributes</vt:lpstr>
      <vt:lpstr>PowerPoint Presentation</vt:lpstr>
      <vt:lpstr>Types of Attributes: Nominal/Categorical </vt:lpstr>
      <vt:lpstr>Types of Attributes: Ordinal Attributes </vt:lpstr>
      <vt:lpstr>Types of Attributes: Numeric Attributes </vt:lpstr>
      <vt:lpstr>Statistical EDA</vt:lpstr>
      <vt:lpstr>Statistical Description of Data </vt:lpstr>
      <vt:lpstr>Measures of Central Tendencies </vt:lpstr>
      <vt:lpstr>Frequency </vt:lpstr>
      <vt:lpstr>Measures of Central Tendencies: Mode </vt:lpstr>
      <vt:lpstr>Measures of Central Tendencies: Mean </vt:lpstr>
      <vt:lpstr>Other Types of Mean </vt:lpstr>
      <vt:lpstr>Measures of Central Tendencies: Median </vt:lpstr>
      <vt:lpstr> Measures of Spread </vt:lpstr>
      <vt:lpstr>Quantile </vt:lpstr>
      <vt:lpstr>PowerPoint Presentation</vt:lpstr>
      <vt:lpstr>Five-Number Summary </vt:lpstr>
      <vt:lpstr>EDA: Measures of Spread </vt:lpstr>
      <vt:lpstr>Measures of Spread </vt:lpstr>
      <vt:lpstr>Normal Distribution (Bell-Curve) </vt:lpstr>
      <vt:lpstr>EDA: Three-Sigma Rule - The Empirical Rule </vt:lpstr>
      <vt:lpstr>Bivariate Measures </vt:lpstr>
      <vt:lpstr>Contingency Table </vt:lpstr>
      <vt:lpstr>χ2-test for two attributes A and B</vt:lpstr>
      <vt:lpstr>PowerPoint Presentation</vt:lpstr>
      <vt:lpstr>PowerPoint Presentation</vt:lpstr>
      <vt:lpstr>PowerPoint Presentation</vt:lpstr>
      <vt:lpstr>PowerPoint Presentation</vt:lpstr>
      <vt:lpstr>Covariance and Correlation </vt:lpstr>
      <vt:lpstr>Covariance and Correlation </vt:lpstr>
      <vt:lpstr>Covariance and Correlation </vt:lpstr>
      <vt:lpstr>Correlation </vt:lpstr>
      <vt:lpstr>Correlation matrix </vt:lpstr>
      <vt:lpstr>Graphical EDA</vt:lpstr>
      <vt:lpstr>Diagrammatic Representations of Data </vt:lpstr>
      <vt:lpstr>Visualizing Data for Insight </vt:lpstr>
      <vt:lpstr>Types of Diagrams </vt:lpstr>
      <vt:lpstr>Bar charts </vt:lpstr>
      <vt:lpstr>Histograms </vt:lpstr>
      <vt:lpstr>Histograms </vt:lpstr>
      <vt:lpstr>Histograms </vt:lpstr>
      <vt:lpstr>PowerPoint Presentation</vt:lpstr>
      <vt:lpstr>Overlapping Histograms </vt:lpstr>
      <vt:lpstr>Box Plots </vt:lpstr>
      <vt:lpstr>Box Plots </vt:lpstr>
      <vt:lpstr>Box Plots </vt:lpstr>
      <vt:lpstr>Side-by-side Box Plots </vt:lpstr>
      <vt:lpstr>Side-by-side Box Plots </vt:lpstr>
      <vt:lpstr>PowerPoint Presentation</vt:lpstr>
      <vt:lpstr>Scatter Plot </vt:lpstr>
      <vt:lpstr>PowerPoint Presentation</vt:lpstr>
      <vt:lpstr>Scatter Plot Matrix </vt:lpstr>
      <vt:lpstr>Scatter Plot Matrix </vt:lpstr>
      <vt:lpstr>Presents pairwise relationship between attributes of multivariate data</vt:lpstr>
      <vt:lpstr>Heat Map </vt:lpstr>
      <vt:lpstr>Line graphs </vt:lpstr>
      <vt:lpstr>PowerPoint Presentation</vt:lpstr>
      <vt:lpstr>Word-Cloud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Data &amp; EDA</dc:title>
  <dc:creator>Imdad ullah Khan</dc:creator>
  <cp:lastModifiedBy>Dr.Sahib</cp:lastModifiedBy>
  <cp:revision>3</cp:revision>
  <dcterms:created xsi:type="dcterms:W3CDTF">2026-01-20T16:04:02Z</dcterms:created>
  <dcterms:modified xsi:type="dcterms:W3CDTF">2026-01-28T11:35:40Z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2026-01-20T00:00:00Z</vt:filetime>
  </property>
  <property fmtid="{D5CDD505-2E9C-101B-9397-08002B2CF9AE}" pid="5" name="PTEX.Fullbanner">
    <vt:lpwstr>This is MiKTeX-pdfTeX 4.16.0 (1.40.25)</vt:lpwstr>
  </property>
  <property fmtid="{D5CDD505-2E9C-101B-9397-08002B2CF9AE}" pid="6" name="Producer">
    <vt:lpwstr>MiKTeX pdfTeX-1.40.25</vt:lpwstr>
  </property>
</Properties>
</file>